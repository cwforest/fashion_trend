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71" r:id="rId5"/>
    <p:sldId id="300" r:id="rId6"/>
    <p:sldId id="270" r:id="rId7"/>
    <p:sldId id="291" r:id="rId8"/>
    <p:sldId id="320" r:id="rId9"/>
    <p:sldId id="322" r:id="rId10"/>
    <p:sldId id="323" r:id="rId18"/>
    <p:sldId id="324" r:id="rId19"/>
    <p:sldId id="325" r:id="rId20"/>
    <p:sldId id="326" r:id="rId21"/>
    <p:sldId id="292" r:id="rId11"/>
  </p:sldIdLst>
  <p:sldSz cx="24384000" cy="13716000"/>
  <p:notesSz cx="13716000" cy="2438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2C5F"/>
    <a:srgbClr val="F3F5F8"/>
    <a:srgbClr val="F0F7FF"/>
    <a:srgbClr val="00275C"/>
    <a:srgbClr val="4472C4"/>
    <a:srgbClr val="FB923C"/>
    <a:srgbClr val="EBEEF2"/>
    <a:srgbClr val="F7FAFC"/>
    <a:srgbClr val="F7F7F7"/>
    <a:srgbClr val="F9FAF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526" autoAdjust="0"/>
    <p:restoredTop sz="94610"/>
  </p:normalViewPr>
  <p:slideViewPr>
    <p:cSldViewPr snapToGrid="0" snapToObjects="1">
      <p:cViewPr>
        <p:scale>
          <a:sx n="33" d="100"/>
          <a:sy n="33" d="100"/>
        </p:scale>
        <p:origin x="644" y="-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4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microsoft.com/office/2016/11/relationships/changesInfo" Target="changesInfos/changesInfo1.xml"/><Relationship Id="rId18" Type="http://schemas.openxmlformats.org/officeDocument/2006/relationships/slide" Target="slides/slide10.xml"/><Relationship Id="rId19" Type="http://schemas.openxmlformats.org/officeDocument/2006/relationships/slide" Target="slides/slide11.xml"/><Relationship Id="rId20" Type="http://schemas.openxmlformats.org/officeDocument/2006/relationships/slide" Target="slides/slide12.xml"/><Relationship Id="rId21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ae Won Lim" userId="89f6e2620f23377c" providerId="LiveId" clId="{5B46573F-99BD-41E9-9634-EE41F3E33BE1}"/>
    <pc:docChg chg="custSel delSld modSld">
      <pc:chgData name="Chae Won Lim" userId="89f6e2620f23377c" providerId="LiveId" clId="{5B46573F-99BD-41E9-9634-EE41F3E33BE1}" dt="2026-08-26T03:23:20.506" v="26" actId="20577"/>
      <pc:docMkLst>
        <pc:docMk/>
      </pc:docMkLst>
      <pc:sldChg chg="modSp mod">
        <pc:chgData name="Chae Won Lim" userId="89f6e2620f23377c" providerId="LiveId" clId="{5B46573F-99BD-41E9-9634-EE41F3E33BE1}" dt="2026-08-26T03:23:20.506" v="26" actId="20577"/>
        <pc:sldMkLst>
          <pc:docMk/>
          <pc:sldMk cId="0" sldId="258"/>
        </pc:sldMkLst>
        <pc:spChg chg="mod">
          <ac:chgData name="Chae Won Lim" userId="89f6e2620f23377c" providerId="LiveId" clId="{5B46573F-99BD-41E9-9634-EE41F3E33BE1}" dt="2026-08-26T03:23:20.506" v="26" actId="20577"/>
          <ac:spMkLst>
            <pc:docMk/>
            <pc:sldMk cId="0" sldId="258"/>
            <ac:spMk id="15" creationId="{00000000-0000-0000-0000-000000000000}"/>
          </ac:spMkLst>
        </pc:sp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254566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11D034-EFE1-154D-DAEF-118D51C066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430A599-350D-94D1-50B1-601086DB08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FF628A-8E9B-C15C-3892-768E570B83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BF6403-CEFB-42EA-5E83-73C688A0361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016074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125503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792728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B44424-7623-1D45-2534-BECF92691D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CD0712D-378D-7A8C-3138-EBB61401A3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202C7F1-4AE3-463E-2BA3-D7AFBE284D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E37DC1-CDFD-D253-C89F-B9E3186C7B1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738744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FD4E3E-38DA-F113-6DC1-B306BBEC0E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18B2CDC-8BE2-874C-376B-0767061FD7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D82487E-1746-F69B-F4E6-147F5040E6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2AF271-F2D9-03A6-5CAD-61D4A2DE572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071817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CB73F8-B1E1-2674-6923-EE2E3AAABB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5537FCF-80BD-BDC1-E9DF-469A795984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668D73A-8046-F5F0-CD31-05B75C62CC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BA6094-34CC-8DDD-5741-37DE0C016FB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71057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hyperlink" Target="https://www.linkedin.com/in/cwforest" TargetMode="External"/><Relationship Id="rId9" Type="http://schemas.openxmlformats.org/officeDocument/2006/relationships/image" Target="../media/image8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Relationship Id="rId7" Type="http://schemas.openxmlformats.org/officeDocument/2006/relationships/image" Target="../media/image1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8.png"/><Relationship Id="rId4" Type="http://schemas.openxmlformats.org/officeDocument/2006/relationships/image" Target="../media/image20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9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4383390" cy="13716000"/>
          </a:xfrm>
          <a:prstGeom prst="rect">
            <a:avLst/>
          </a:prstGeom>
          <a:solidFill>
            <a:srgbClr val="33333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4383390" cy="13716000"/>
          </a:xfrm>
          <a:prstGeom prst="rect">
            <a:avLst/>
          </a:prstGeom>
          <a:solidFill>
            <a:srgbClr val="002C5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17716500" y="-952805"/>
            <a:ext cx="7619695" cy="7619695"/>
          </a:xfrm>
          <a:prstGeom prst="ellipse">
            <a:avLst/>
          </a:prstGeom>
          <a:solidFill>
            <a:srgbClr val="90D4FF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-1904695" y="6096305"/>
            <a:ext cx="9525305" cy="9525305"/>
          </a:xfrm>
          <a:prstGeom prst="ellipse">
            <a:avLst/>
          </a:prstGeom>
          <a:solidFill>
            <a:srgbClr val="000000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 t="-8" b="-8"/>
          <a:stretch/>
        </p:blipFill>
        <p:spPr>
          <a:xfrm>
            <a:off x="1333195" y="3640226"/>
            <a:ext cx="1904695" cy="1143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333195" y="4326026"/>
            <a:ext cx="22022410" cy="1467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0" b="1" kern="0" spc="-210">
                <a:solidFill>
                  <a:srgbClr val="90D4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임</a:t>
            </a:r>
            <a:r>
              <a:rPr lang="ko-KR" altLang="en-US" sz="6600" b="1" kern="0" spc="-210" dirty="0">
                <a:solidFill>
                  <a:srgbClr val="90D4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채</a:t>
            </a:r>
            <a:r>
              <a:rPr lang="en-US" sz="6600" b="1" kern="0" spc="-210" dirty="0">
                <a:solidFill>
                  <a:srgbClr val="90D4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원</a:t>
            </a:r>
            <a:endParaRPr lang="en-US" sz="6600" dirty="0"/>
          </a:p>
        </p:txBody>
      </p:sp>
      <p:sp>
        <p:nvSpPr>
          <p:cNvPr id="8" name="Text 5"/>
          <p:cNvSpPr txBox="1"/>
          <p:nvPr/>
        </p:nvSpPr>
        <p:spPr>
          <a:xfrm>
            <a:off x="1333195" y="7827264"/>
            <a:ext cx="53437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300" b="1" kern="0" spc="120" dirty="0">
                <a:solidFill>
                  <a:srgbClr val="AACA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Focus Area</a:t>
            </a:r>
            <a:endParaRPr lang="en-US" sz="2300" dirty="0"/>
          </a:p>
        </p:txBody>
      </p:sp>
      <p:sp>
        <p:nvSpPr>
          <p:cNvPr id="9" name="Text 6"/>
          <p:cNvSpPr txBox="1"/>
          <p:nvPr/>
        </p:nvSpPr>
        <p:spPr>
          <a:xfrm>
            <a:off x="1333194" y="8379562"/>
            <a:ext cx="6845605" cy="6620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2300" kern="0" spc="12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</a:rPr>
              <a:t>Business Analytics &amp; Data-driven Strategy</a:t>
            </a:r>
            <a:endParaRPr lang="en-US" sz="2300" kern="0" spc="120" dirty="0">
              <a:solidFill>
                <a:srgbClr val="FFFFFF"/>
              </a:solidFill>
              <a:latin typeface="Noto Sans KR" pitchFamily="34" charset="0"/>
              <a:ea typeface="Noto Sans KR" pitchFamily="34" charset="-122"/>
            </a:endParaRPr>
          </a:p>
        </p:txBody>
      </p:sp>
      <p:sp>
        <p:nvSpPr>
          <p:cNvPr id="13" name="Text 10"/>
          <p:cNvSpPr txBox="1"/>
          <p:nvPr/>
        </p:nvSpPr>
        <p:spPr>
          <a:xfrm>
            <a:off x="1333195" y="6174029"/>
            <a:ext cx="2202241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5300" dirty="0" err="1">
                <a:solidFill>
                  <a:srgbClr val="FFFFFF">
                    <a:alpha val="9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</a:t>
            </a:r>
            <a:r>
              <a:rPr lang="en-US" altLang="ko-KR" sz="5300" dirty="0" err="1">
                <a:solidFill>
                  <a:srgbClr val="FFFFFF">
                    <a:alpha val="9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·연구</a:t>
            </a:r>
            <a:r>
              <a:rPr lang="en-US" sz="5300" dirty="0">
                <a:solidFill>
                  <a:srgbClr val="FFFFFF">
                    <a:alpha val="9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5300" dirty="0" err="1">
                <a:solidFill>
                  <a:srgbClr val="FFFFFF">
                    <a:alpha val="9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포트폴리오</a:t>
            </a:r>
            <a:endParaRPr lang="en-US" sz="5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4383390" cy="13716000"/>
          </a:xfrm>
          <a:prstGeom prst="rect">
            <a:avLst/>
          </a:prstGeom>
          <a:solidFill>
            <a:srgbClr val="33333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-12090" y="13005"/>
            <a:ext cx="24383390" cy="13716000"/>
          </a:xfrm>
          <a:prstGeom prst="rect">
            <a:avLst/>
          </a:prstGeom>
          <a:solidFill>
            <a:srgbClr val="002C5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r>
              <a:rPr lang="en-US" altLang="ko-KR" dirty="0"/>
              <a:t>^</a:t>
            </a:r>
            <a:endParaRPr lang="ko-KR" altLang="en-US" dirty="0"/>
          </a:p>
        </p:txBody>
      </p:sp>
      <p:sp>
        <p:nvSpPr>
          <p:cNvPr id="4" name="Shape 2"/>
          <p:cNvSpPr/>
          <p:nvPr/>
        </p:nvSpPr>
        <p:spPr>
          <a:xfrm>
            <a:off x="-2857500" y="-952805"/>
            <a:ext cx="8572500" cy="8572500"/>
          </a:xfrm>
          <a:prstGeom prst="ellipse">
            <a:avLst/>
          </a:prstGeom>
          <a:solidFill>
            <a:srgbClr val="90D4FF">
              <a:alpha val="3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14859000" y="4190695"/>
            <a:ext cx="11430000" cy="11430000"/>
          </a:xfrm>
          <a:prstGeom prst="ellipse">
            <a:avLst/>
          </a:prstGeom>
          <a:solidFill>
            <a:srgbClr val="000000">
              <a:alpha val="1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8524951" y="0"/>
            <a:ext cx="9144" cy="13716000"/>
          </a:xfrm>
          <a:prstGeom prst="rect">
            <a:avLst/>
          </a:prstGeom>
          <a:solidFill>
            <a:srgbClr val="90D4FF">
              <a:alpha val="10000"/>
            </a:srgbClr>
          </a:solidFill>
          <a:ln w="12700">
            <a:solidFill>
              <a:srgbClr val="90D4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 txBox="1"/>
          <p:nvPr/>
        </p:nvSpPr>
        <p:spPr>
          <a:xfrm>
            <a:off x="1333195" y="5657393"/>
            <a:ext cx="7381951" cy="9528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400" b="1" kern="0" spc="-1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CONTENTS</a:t>
            </a:r>
            <a:endParaRPr lang="en-US" sz="7400" dirty="0"/>
          </a:p>
        </p:txBody>
      </p:sp>
      <p:sp>
        <p:nvSpPr>
          <p:cNvPr id="8" name="Text 6"/>
          <p:cNvSpPr txBox="1"/>
          <p:nvPr/>
        </p:nvSpPr>
        <p:spPr>
          <a:xfrm>
            <a:off x="1333195" y="6896405"/>
            <a:ext cx="7381951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dirty="0">
                <a:solidFill>
                  <a:srgbClr val="90D4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Portfolio Overview</a:t>
            </a:r>
            <a:endParaRPr lang="en-US" sz="26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rcRect l="-201" r="-201"/>
          <a:stretch/>
        </p:blipFill>
        <p:spPr>
          <a:xfrm>
            <a:off x="1333195" y="7981798"/>
            <a:ext cx="1143000" cy="75895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9678720" y="2107590"/>
            <a:ext cx="1234440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700" b="1" dirty="0">
                <a:solidFill>
                  <a:srgbClr val="90D4FF"/>
                </a:solidFill>
                <a:latin typeface="Inter" pitchFamily="34" charset="0"/>
                <a:ea typeface="Inter" pitchFamily="34" charset="-122"/>
              </a:rPr>
              <a:t>I.</a:t>
            </a:r>
            <a:endParaRPr lang="en-US" sz="4700" dirty="0"/>
          </a:p>
        </p:txBody>
      </p:sp>
      <p:sp>
        <p:nvSpPr>
          <p:cNvPr id="11" name="Text 8"/>
          <p:cNvSpPr txBox="1"/>
          <p:nvPr/>
        </p:nvSpPr>
        <p:spPr>
          <a:xfrm>
            <a:off x="10807395" y="2093977"/>
            <a:ext cx="4163263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소개 및 이력</a:t>
            </a:r>
            <a:endParaRPr lang="en-US" sz="3500" dirty="0"/>
          </a:p>
        </p:txBody>
      </p:sp>
      <p:sp>
        <p:nvSpPr>
          <p:cNvPr id="12" name="Text 9"/>
          <p:cNvSpPr txBox="1"/>
          <p:nvPr/>
        </p:nvSpPr>
        <p:spPr>
          <a:xfrm>
            <a:off x="10807395" y="2756917"/>
            <a:ext cx="4543654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300" dirty="0">
                <a:solidFill>
                  <a:srgbClr val="AACA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Profile, Education &amp; Career</a:t>
            </a:r>
            <a:endParaRPr lang="en-US" sz="2300" dirty="0"/>
          </a:p>
        </p:txBody>
      </p:sp>
      <p:sp>
        <p:nvSpPr>
          <p:cNvPr id="13" name="Text 10"/>
          <p:cNvSpPr txBox="1"/>
          <p:nvPr/>
        </p:nvSpPr>
        <p:spPr>
          <a:xfrm>
            <a:off x="9677095" y="5151179"/>
            <a:ext cx="1234440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700" b="1" dirty="0">
                <a:solidFill>
                  <a:srgbClr val="90D4FF"/>
                </a:solidFill>
                <a:latin typeface="Inter" pitchFamily="34" charset="0"/>
                <a:ea typeface="Inter" pitchFamily="34" charset="-122"/>
              </a:rPr>
              <a:t>III.</a:t>
            </a:r>
            <a:endParaRPr lang="en-US" sz="4700" dirty="0"/>
          </a:p>
        </p:txBody>
      </p:sp>
      <p:sp>
        <p:nvSpPr>
          <p:cNvPr id="14" name="Text 11"/>
          <p:cNvSpPr txBox="1"/>
          <p:nvPr/>
        </p:nvSpPr>
        <p:spPr>
          <a:xfrm>
            <a:off x="10866905" y="6150563"/>
            <a:ext cx="7801661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Project 1</a:t>
            </a:r>
            <a:endParaRPr lang="en-US" sz="3500" dirty="0"/>
          </a:p>
        </p:txBody>
      </p:sp>
      <p:sp>
        <p:nvSpPr>
          <p:cNvPr id="15" name="Text 12"/>
          <p:cNvSpPr txBox="1"/>
          <p:nvPr/>
        </p:nvSpPr>
        <p:spPr>
          <a:xfrm>
            <a:off x="10866904" y="6813503"/>
            <a:ext cx="11430000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2300" dirty="0">
                <a:solidFill>
                  <a:srgbClr val="AACA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현대자동차 </a:t>
            </a:r>
            <a:r>
              <a:rPr lang="en-US" altLang="ko-KR" sz="2300" dirty="0" err="1">
                <a:solidFill>
                  <a:srgbClr val="AACA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블루멤버스</a:t>
            </a:r>
            <a:r>
              <a:rPr lang="en-US" altLang="ko-KR" sz="2300" dirty="0">
                <a:solidFill>
                  <a:srgbClr val="AACA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altLang="ko-KR" sz="2300" dirty="0" err="1">
                <a:solidFill>
                  <a:srgbClr val="AACA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리텐션</a:t>
            </a:r>
            <a:r>
              <a:rPr lang="en-US" altLang="ko-KR" sz="2300" dirty="0">
                <a:solidFill>
                  <a:srgbClr val="AACA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altLang="ko-KR" sz="2300" dirty="0" err="1">
                <a:solidFill>
                  <a:srgbClr val="AACA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강화를</a:t>
            </a:r>
            <a:r>
              <a:rPr lang="en-US" altLang="ko-KR" sz="2300" dirty="0">
                <a:solidFill>
                  <a:srgbClr val="AACA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altLang="ko-KR" sz="2300" dirty="0" err="1">
                <a:solidFill>
                  <a:srgbClr val="AACA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위한</a:t>
            </a:r>
            <a:r>
              <a:rPr lang="en-US" altLang="ko-KR" sz="2300" dirty="0">
                <a:solidFill>
                  <a:srgbClr val="AACA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ko-KR" altLang="en-US" sz="2300" dirty="0" err="1">
                <a:solidFill>
                  <a:srgbClr val="AACA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프로모션</a:t>
            </a:r>
            <a:r>
              <a:rPr lang="ko-KR" altLang="en-US" sz="2300" dirty="0" err="1">
                <a:solidFill>
                  <a:srgbClr val="AACAE6"/>
                </a:solidFill>
                <a:latin typeface="Pretendard"/>
                <a:ea typeface="Noto Sans KR" pitchFamily="34" charset="-122"/>
                <a:cs typeface="Noto Sans KR" pitchFamily="34" charset="-120"/>
              </a:rPr>
              <a:t>∙</a:t>
            </a:r>
            <a:r>
              <a:rPr lang="ko-KR" altLang="en-US" sz="2300" dirty="0" err="1">
                <a:solidFill>
                  <a:srgbClr val="AACA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제휴처</a:t>
            </a:r>
            <a:r>
              <a:rPr lang="ko-KR" altLang="en-US" sz="2300" dirty="0">
                <a:solidFill>
                  <a:srgbClr val="AACA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기반 </a:t>
            </a:r>
            <a:r>
              <a:rPr lang="en-US" altLang="ko-KR" sz="2300" dirty="0" err="1">
                <a:solidFill>
                  <a:srgbClr val="AACA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맞춤형</a:t>
            </a:r>
            <a:r>
              <a:rPr lang="en-US" altLang="ko-KR" sz="2300" dirty="0">
                <a:solidFill>
                  <a:srgbClr val="AACA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altLang="ko-KR" sz="2300" dirty="0" err="1">
                <a:solidFill>
                  <a:srgbClr val="AACA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의사결정</a:t>
            </a:r>
            <a:r>
              <a:rPr lang="en-US" altLang="ko-KR" sz="2300" dirty="0">
                <a:solidFill>
                  <a:srgbClr val="AACA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altLang="ko-KR" sz="2300" dirty="0" err="1">
                <a:solidFill>
                  <a:srgbClr val="AACA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툴킷</a:t>
            </a:r>
            <a:endParaRPr lang="en-US" altLang="ko-KR" sz="2300" dirty="0">
              <a:solidFill>
                <a:srgbClr val="AACAE6"/>
              </a:solidFill>
              <a:latin typeface="Noto Sans KR" pitchFamily="34" charset="0"/>
              <a:ea typeface="Noto Sans KR" pitchFamily="34" charset="-122"/>
              <a:cs typeface="Noto Sans KR" pitchFamily="34" charset="-120"/>
            </a:endParaRPr>
          </a:p>
          <a:p>
            <a:pPr marL="0" indent="0" algn="l">
              <a:buNone/>
            </a:pPr>
            <a:endParaRPr lang="en-US" sz="2300" dirty="0"/>
          </a:p>
        </p:txBody>
      </p:sp>
      <p:sp>
        <p:nvSpPr>
          <p:cNvPr id="17" name="Text 14"/>
          <p:cNvSpPr txBox="1"/>
          <p:nvPr/>
        </p:nvSpPr>
        <p:spPr>
          <a:xfrm>
            <a:off x="10866905" y="8772844"/>
            <a:ext cx="5306263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Project 3</a:t>
            </a:r>
            <a:endParaRPr lang="en-US" sz="3500" dirty="0"/>
          </a:p>
        </p:txBody>
      </p:sp>
      <p:sp>
        <p:nvSpPr>
          <p:cNvPr id="18" name="Text 15"/>
          <p:cNvSpPr txBox="1"/>
          <p:nvPr/>
        </p:nvSpPr>
        <p:spPr>
          <a:xfrm>
            <a:off x="10866905" y="9435784"/>
            <a:ext cx="979584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2300" dirty="0" err="1">
                <a:solidFill>
                  <a:srgbClr val="AACA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이중차분을</a:t>
            </a:r>
            <a:r>
              <a:rPr lang="en-US" altLang="ko-KR" sz="2300" dirty="0">
                <a:solidFill>
                  <a:srgbClr val="AACA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altLang="ko-KR" sz="2300" dirty="0" err="1">
                <a:solidFill>
                  <a:srgbClr val="AACA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사용한</a:t>
            </a:r>
            <a:r>
              <a:rPr lang="en-US" altLang="ko-KR" sz="2300" dirty="0">
                <a:solidFill>
                  <a:srgbClr val="AACA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altLang="ko-KR" sz="2300" dirty="0" err="1">
                <a:solidFill>
                  <a:srgbClr val="AACA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경북</a:t>
            </a:r>
            <a:r>
              <a:rPr lang="en-US" altLang="ko-KR" sz="2300" dirty="0">
                <a:solidFill>
                  <a:srgbClr val="AACA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altLang="ko-KR" sz="2300" dirty="0" err="1">
                <a:solidFill>
                  <a:srgbClr val="AACA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의성군</a:t>
            </a:r>
            <a:r>
              <a:rPr lang="en-US" altLang="ko-KR" sz="2300" dirty="0">
                <a:solidFill>
                  <a:srgbClr val="AACA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altLang="ko-KR" sz="2300" dirty="0" err="1">
                <a:solidFill>
                  <a:srgbClr val="AACA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인구유입</a:t>
            </a:r>
            <a:r>
              <a:rPr lang="en-US" altLang="ko-KR" sz="2300" dirty="0">
                <a:solidFill>
                  <a:srgbClr val="AACA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altLang="ko-KR" sz="2300" dirty="0" err="1">
                <a:solidFill>
                  <a:srgbClr val="AACA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사업의</a:t>
            </a:r>
            <a:r>
              <a:rPr lang="en-US" altLang="ko-KR" sz="2300" dirty="0">
                <a:solidFill>
                  <a:srgbClr val="AACA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altLang="ko-KR" sz="2300" dirty="0" err="1">
                <a:solidFill>
                  <a:srgbClr val="AACA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실효성</a:t>
            </a:r>
            <a:r>
              <a:rPr lang="en-US" altLang="ko-KR" sz="2300" dirty="0">
                <a:solidFill>
                  <a:srgbClr val="AACA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altLang="ko-KR" sz="2300" dirty="0" err="1">
                <a:solidFill>
                  <a:srgbClr val="AACA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측정</a:t>
            </a:r>
            <a:endParaRPr lang="en-US" sz="2300" dirty="0"/>
          </a:p>
        </p:txBody>
      </p:sp>
      <p:sp>
        <p:nvSpPr>
          <p:cNvPr id="20" name="Text 17"/>
          <p:cNvSpPr txBox="1"/>
          <p:nvPr/>
        </p:nvSpPr>
        <p:spPr>
          <a:xfrm>
            <a:off x="10866905" y="7447231"/>
            <a:ext cx="8449056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Project 2</a:t>
            </a:r>
            <a:endParaRPr lang="en-US" sz="3500" dirty="0"/>
          </a:p>
        </p:txBody>
      </p:sp>
      <p:sp>
        <p:nvSpPr>
          <p:cNvPr id="21" name="Text 18"/>
          <p:cNvSpPr txBox="1"/>
          <p:nvPr/>
        </p:nvSpPr>
        <p:spPr>
          <a:xfrm>
            <a:off x="10866905" y="8110171"/>
            <a:ext cx="9554566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2300" dirty="0">
                <a:solidFill>
                  <a:srgbClr val="AACA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안산시 </a:t>
            </a:r>
            <a:r>
              <a:rPr lang="en-US" altLang="ko-KR" sz="2300" dirty="0" err="1">
                <a:solidFill>
                  <a:srgbClr val="AACA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상권활성화재단</a:t>
            </a:r>
            <a:r>
              <a:rPr lang="en-US" altLang="ko-KR" sz="2300" dirty="0">
                <a:solidFill>
                  <a:srgbClr val="AACA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altLang="ko-KR" sz="2300" dirty="0" err="1">
                <a:solidFill>
                  <a:srgbClr val="AACA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설립</a:t>
            </a:r>
            <a:r>
              <a:rPr lang="en-US" altLang="ko-KR" sz="2300" dirty="0">
                <a:solidFill>
                  <a:srgbClr val="AACA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altLang="ko-KR" sz="2300" dirty="0" err="1">
                <a:solidFill>
                  <a:srgbClr val="AACA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타당성</a:t>
            </a:r>
            <a:r>
              <a:rPr lang="en-US" altLang="ko-KR" sz="2300" dirty="0">
                <a:solidFill>
                  <a:srgbClr val="AACA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altLang="ko-KR" sz="2300" dirty="0" err="1">
                <a:solidFill>
                  <a:srgbClr val="AACA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연구</a:t>
            </a:r>
            <a:endParaRPr lang="en-US" altLang="ko-KR" sz="2300" dirty="0"/>
          </a:p>
          <a:p>
            <a:endParaRPr lang="en-US" sz="2300" dirty="0"/>
          </a:p>
        </p:txBody>
      </p:sp>
      <p:sp>
        <p:nvSpPr>
          <p:cNvPr id="23" name="Text 7">
            <a:extLst>
              <a:ext uri="{FF2B5EF4-FFF2-40B4-BE49-F238E27FC236}">
                <a16:creationId xmlns:a16="http://schemas.microsoft.com/office/drawing/2014/main" id="{9F9CA7A8-D260-A628-7BDA-82AC9BE07F7F}"/>
              </a:ext>
            </a:extLst>
          </p:cNvPr>
          <p:cNvSpPr txBox="1"/>
          <p:nvPr/>
        </p:nvSpPr>
        <p:spPr>
          <a:xfrm>
            <a:off x="9678720" y="3703011"/>
            <a:ext cx="1234440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700" b="1" dirty="0">
                <a:solidFill>
                  <a:srgbClr val="90D4FF"/>
                </a:solidFill>
                <a:latin typeface="Inter" pitchFamily="34" charset="0"/>
                <a:ea typeface="Inter" pitchFamily="34" charset="-122"/>
              </a:rPr>
              <a:t>II.</a:t>
            </a:r>
            <a:endParaRPr lang="en-US" sz="4700" dirty="0"/>
          </a:p>
        </p:txBody>
      </p:sp>
      <p:sp>
        <p:nvSpPr>
          <p:cNvPr id="24" name="Text 8">
            <a:extLst>
              <a:ext uri="{FF2B5EF4-FFF2-40B4-BE49-F238E27FC236}">
                <a16:creationId xmlns:a16="http://schemas.microsoft.com/office/drawing/2014/main" id="{64BA7FCE-891A-FCEE-D95F-1064CBBED5F6}"/>
              </a:ext>
            </a:extLst>
          </p:cNvPr>
          <p:cNvSpPr txBox="1"/>
          <p:nvPr/>
        </p:nvSpPr>
        <p:spPr>
          <a:xfrm>
            <a:off x="10821720" y="3760618"/>
            <a:ext cx="4163263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3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</a:rPr>
              <a:t>수행 프로젝트</a:t>
            </a:r>
            <a:endParaRPr lang="en-US" sz="3500" dirty="0"/>
          </a:p>
        </p:txBody>
      </p:sp>
      <p:sp>
        <p:nvSpPr>
          <p:cNvPr id="25" name="Text 8">
            <a:extLst>
              <a:ext uri="{FF2B5EF4-FFF2-40B4-BE49-F238E27FC236}">
                <a16:creationId xmlns:a16="http://schemas.microsoft.com/office/drawing/2014/main" id="{621141B3-6FA8-14EE-0062-AFDC6B528010}"/>
              </a:ext>
            </a:extLst>
          </p:cNvPr>
          <p:cNvSpPr txBox="1"/>
          <p:nvPr/>
        </p:nvSpPr>
        <p:spPr>
          <a:xfrm>
            <a:off x="10821720" y="5187298"/>
            <a:ext cx="4543654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3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</a:rPr>
              <a:t>주요 </a:t>
            </a:r>
            <a:r>
              <a:rPr lang="ko-KR" altLang="en-US" sz="3500" b="1" dirty="0" err="1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</a:rPr>
              <a:t>프로젝트</a:t>
            </a:r>
            <a:r>
              <a:rPr lang="ko-KR" altLang="en-US" sz="3500" b="1" dirty="0" err="1">
                <a:solidFill>
                  <a:srgbClr val="FFFFFF"/>
                </a:solidFill>
                <a:latin typeface="Pretendard"/>
                <a:ea typeface="Noto Sans KR" pitchFamily="34" charset="-122"/>
              </a:rPr>
              <a:t>∙연구</a:t>
            </a:r>
            <a:r>
              <a:rPr lang="ko-KR" altLang="en-US" sz="3500" b="1" dirty="0">
                <a:solidFill>
                  <a:srgbClr val="FFFFFF"/>
                </a:solidFill>
                <a:latin typeface="Pretendard"/>
                <a:ea typeface="Noto Sans KR" pitchFamily="34" charset="-122"/>
              </a:rPr>
              <a:t> 소개</a:t>
            </a:r>
            <a:endParaRPr lang="en-US" sz="3500" dirty="0"/>
          </a:p>
        </p:txBody>
      </p:sp>
      <p:sp>
        <p:nvSpPr>
          <p:cNvPr id="16" name="Text 41">
            <a:extLst>
              <a:ext uri="{FF2B5EF4-FFF2-40B4-BE49-F238E27FC236}">
                <a16:creationId xmlns:a16="http://schemas.microsoft.com/office/drawing/2014/main" id="{D4BE7437-5085-A577-00AD-029077E97ACC}"/>
              </a:ext>
            </a:extLst>
          </p:cNvPr>
          <p:cNvSpPr txBox="1"/>
          <p:nvPr/>
        </p:nvSpPr>
        <p:spPr>
          <a:xfrm>
            <a:off x="22047199" y="13181234"/>
            <a:ext cx="2620569" cy="322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9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Lim Chaewon Portfolio</a:t>
            </a:r>
            <a:endParaRPr lang="en-US" sz="1700" dirty="0"/>
          </a:p>
        </p:txBody>
      </p:sp>
      <p:sp>
        <p:nvSpPr>
          <p:cNvPr id="26" name="Text 14">
            <a:extLst>
              <a:ext uri="{FF2B5EF4-FFF2-40B4-BE49-F238E27FC236}">
                <a16:creationId xmlns:a16="http://schemas.microsoft.com/office/drawing/2014/main" id="{7EF5A559-7D52-723C-2409-0091A79273E4}"/>
              </a:ext>
            </a:extLst>
          </p:cNvPr>
          <p:cNvSpPr txBox="1"/>
          <p:nvPr/>
        </p:nvSpPr>
        <p:spPr>
          <a:xfrm>
            <a:off x="10902045" y="10292857"/>
            <a:ext cx="5306263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Project 4</a:t>
            </a:r>
            <a:endParaRPr lang="en-US" sz="3500" dirty="0"/>
          </a:p>
        </p:txBody>
      </p:sp>
      <p:sp>
        <p:nvSpPr>
          <p:cNvPr id="27" name="Text 15">
            <a:extLst>
              <a:ext uri="{FF2B5EF4-FFF2-40B4-BE49-F238E27FC236}">
                <a16:creationId xmlns:a16="http://schemas.microsoft.com/office/drawing/2014/main" id="{B0F532A8-63BD-CC5B-6D6F-070994C103FA}"/>
              </a:ext>
            </a:extLst>
          </p:cNvPr>
          <p:cNvSpPr txBox="1"/>
          <p:nvPr/>
        </p:nvSpPr>
        <p:spPr>
          <a:xfrm>
            <a:off x="10902045" y="10955797"/>
            <a:ext cx="979584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2300" dirty="0">
                <a:solidFill>
                  <a:srgbClr val="AACA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안산시 </a:t>
            </a:r>
            <a:r>
              <a:rPr lang="en-US" altLang="ko-KR" sz="2300" dirty="0" err="1">
                <a:solidFill>
                  <a:srgbClr val="AACA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상권활성화재단</a:t>
            </a:r>
            <a:r>
              <a:rPr lang="en-US" altLang="ko-KR" sz="2300" dirty="0">
                <a:solidFill>
                  <a:srgbClr val="AACA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altLang="ko-KR" sz="2300" dirty="0" err="1">
                <a:solidFill>
                  <a:srgbClr val="AACA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설립</a:t>
            </a:r>
            <a:r>
              <a:rPr lang="en-US" altLang="ko-KR" sz="2300" dirty="0">
                <a:solidFill>
                  <a:srgbClr val="AACA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altLang="ko-KR" sz="2300" dirty="0" err="1">
                <a:solidFill>
                  <a:srgbClr val="AACA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타당성</a:t>
            </a:r>
            <a:r>
              <a:rPr lang="en-US" altLang="ko-KR" sz="2300" dirty="0">
                <a:solidFill>
                  <a:srgbClr val="AACA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altLang="ko-KR" sz="2300" dirty="0" err="1">
                <a:solidFill>
                  <a:srgbClr val="AACA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연구</a:t>
            </a:r>
            <a:endParaRPr lang="en-US" altLang="ko-KR" sz="2300" dirty="0"/>
          </a:p>
        </p:txBody>
      </p:sp>
      <p:sp>
        <p:nvSpPr>
          <p:cNvPr id="19" name="Text 8">
            <a:extLst>
              <a:ext uri="{FF2B5EF4-FFF2-40B4-BE49-F238E27FC236}">
                <a16:creationId xmlns:a16="http://schemas.microsoft.com/office/drawing/2014/main" id="{6CC869B8-7CB0-FDBC-9524-4E88C62EE094}"/>
              </a:ext>
            </a:extLst>
          </p:cNvPr>
          <p:cNvSpPr txBox="1"/>
          <p:nvPr/>
        </p:nvSpPr>
        <p:spPr>
          <a:xfrm>
            <a:off x="10821720" y="11986880"/>
            <a:ext cx="4543654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</a:rPr>
              <a:t>Appendix</a:t>
            </a:r>
          </a:p>
        </p:txBody>
      </p:sp>
      <p:sp>
        <p:nvSpPr>
          <p:cNvPr id="22" name="Text 10">
            <a:extLst>
              <a:ext uri="{FF2B5EF4-FFF2-40B4-BE49-F238E27FC236}">
                <a16:creationId xmlns:a16="http://schemas.microsoft.com/office/drawing/2014/main" id="{E6BAB1FC-02AF-3895-6A46-76571093B802}"/>
              </a:ext>
            </a:extLst>
          </p:cNvPr>
          <p:cNvSpPr txBox="1"/>
          <p:nvPr/>
        </p:nvSpPr>
        <p:spPr>
          <a:xfrm>
            <a:off x="9687199" y="11950291"/>
            <a:ext cx="1234440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700" b="1" dirty="0">
                <a:solidFill>
                  <a:srgbClr val="90D4FF"/>
                </a:solidFill>
                <a:latin typeface="Inter" pitchFamily="34" charset="0"/>
                <a:ea typeface="Inter" pitchFamily="34" charset="-122"/>
              </a:rPr>
              <a:t>IV.</a:t>
            </a:r>
            <a:endParaRPr lang="en-US" sz="4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직사각형 72">
            <a:extLst>
              <a:ext uri="{FF2B5EF4-FFF2-40B4-BE49-F238E27FC236}">
                <a16:creationId xmlns:a16="http://schemas.microsoft.com/office/drawing/2014/main" id="{AEAD3E16-1AD7-782A-0E16-B9170C29E6A9}"/>
              </a:ext>
            </a:extLst>
          </p:cNvPr>
          <p:cNvSpPr/>
          <p:nvPr/>
        </p:nvSpPr>
        <p:spPr>
          <a:xfrm>
            <a:off x="16751215" y="7618345"/>
            <a:ext cx="6773637" cy="5116233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2" name="직사각형 71">
            <a:extLst>
              <a:ext uri="{FF2B5EF4-FFF2-40B4-BE49-F238E27FC236}">
                <a16:creationId xmlns:a16="http://schemas.microsoft.com/office/drawing/2014/main" id="{7245A850-F764-2050-CB0D-457A9BF7E8A2}"/>
              </a:ext>
            </a:extLst>
          </p:cNvPr>
          <p:cNvSpPr/>
          <p:nvPr/>
        </p:nvSpPr>
        <p:spPr>
          <a:xfrm>
            <a:off x="8410193" y="7596115"/>
            <a:ext cx="7449348" cy="5116233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1" name="직사각형 70">
            <a:extLst>
              <a:ext uri="{FF2B5EF4-FFF2-40B4-BE49-F238E27FC236}">
                <a16:creationId xmlns:a16="http://schemas.microsoft.com/office/drawing/2014/main" id="{47F6EEFC-378F-8AEF-165C-547A6C9A60D9}"/>
              </a:ext>
            </a:extLst>
          </p:cNvPr>
          <p:cNvSpPr/>
          <p:nvPr/>
        </p:nvSpPr>
        <p:spPr>
          <a:xfrm>
            <a:off x="899531" y="7662115"/>
            <a:ext cx="6773637" cy="5116233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610" y="12269"/>
            <a:ext cx="24383390" cy="2286000"/>
          </a:xfrm>
          <a:prstGeom prst="rect">
            <a:avLst/>
          </a:prstGeom>
          <a:solidFill>
            <a:srgbClr val="002C5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1333195" y="2210105"/>
            <a:ext cx="1904695" cy="75895"/>
          </a:xfrm>
          <a:prstGeom prst="rect">
            <a:avLst/>
          </a:prstGeom>
          <a:solidFill>
            <a:srgbClr val="90D4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 txBox="1"/>
          <p:nvPr/>
        </p:nvSpPr>
        <p:spPr>
          <a:xfrm>
            <a:off x="1333195" y="571500"/>
            <a:ext cx="56464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900" b="1" kern="0" spc="-12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소개 및 이력</a:t>
            </a:r>
            <a:endParaRPr lang="en-US" sz="5900" dirty="0"/>
          </a:p>
        </p:txBody>
      </p:sp>
      <p:grpSp>
        <p:nvGrpSpPr>
          <p:cNvPr id="52" name="그룹 51">
            <a:extLst>
              <a:ext uri="{FF2B5EF4-FFF2-40B4-BE49-F238E27FC236}">
                <a16:creationId xmlns:a16="http://schemas.microsoft.com/office/drawing/2014/main" id="{C04FC74F-4903-7531-28F2-46683DD76662}"/>
              </a:ext>
            </a:extLst>
          </p:cNvPr>
          <p:cNvGrpSpPr/>
          <p:nvPr/>
        </p:nvGrpSpPr>
        <p:grpSpPr>
          <a:xfrm>
            <a:off x="856792" y="6215632"/>
            <a:ext cx="952805" cy="952805"/>
            <a:chOff x="1904695" y="3905402"/>
            <a:chExt cx="952805" cy="952805"/>
          </a:xfrm>
        </p:grpSpPr>
        <p:sp>
          <p:nvSpPr>
            <p:cNvPr id="10" name="Shape 6"/>
            <p:cNvSpPr/>
            <p:nvPr/>
          </p:nvSpPr>
          <p:spPr>
            <a:xfrm>
              <a:off x="1904695" y="3905402"/>
              <a:ext cx="952805" cy="952805"/>
            </a:xfrm>
            <a:prstGeom prst="roundRect">
              <a:avLst>
                <a:gd name="adj" fmla="val 38388"/>
              </a:avLst>
            </a:prstGeom>
            <a:solidFill>
              <a:srgbClr val="F0F7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pic>
          <p:nvPicPr>
            <p:cNvPr id="11" name="Image 2" descr="preencoded.png"/>
            <p:cNvPicPr>
              <a:picLocks noChangeAspect="1"/>
            </p:cNvPicPr>
            <p:nvPr/>
          </p:nvPicPr>
          <p:blipFill>
            <a:blip r:embed="rId3"/>
            <a:srcRect/>
            <a:stretch/>
          </p:blipFill>
          <p:spPr>
            <a:xfrm>
              <a:off x="2095805" y="4153205"/>
              <a:ext cx="571500" cy="457200"/>
            </a:xfrm>
            <a:prstGeom prst="rect">
              <a:avLst/>
            </a:prstGeom>
          </p:spPr>
        </p:pic>
      </p:grpSp>
      <p:grpSp>
        <p:nvGrpSpPr>
          <p:cNvPr id="66" name="그룹 65">
            <a:extLst>
              <a:ext uri="{FF2B5EF4-FFF2-40B4-BE49-F238E27FC236}">
                <a16:creationId xmlns:a16="http://schemas.microsoft.com/office/drawing/2014/main" id="{5EA7837C-ADE9-252F-7B34-F103B1021D7D}"/>
              </a:ext>
            </a:extLst>
          </p:cNvPr>
          <p:cNvGrpSpPr/>
          <p:nvPr/>
        </p:nvGrpSpPr>
        <p:grpSpPr>
          <a:xfrm>
            <a:off x="899530" y="7367956"/>
            <a:ext cx="6730899" cy="170534"/>
            <a:chOff x="856791" y="7324267"/>
            <a:chExt cx="6730899" cy="170534"/>
          </a:xfrm>
        </p:grpSpPr>
        <p:pic>
          <p:nvPicPr>
            <p:cNvPr id="9" name="Image 1" descr="preencoded.png"/>
            <p:cNvPicPr>
              <a:picLocks noChangeAspect="1"/>
            </p:cNvPicPr>
            <p:nvPr/>
          </p:nvPicPr>
          <p:blipFill>
            <a:blip r:embed="rId4"/>
            <a:srcRect t="-1" b="98897"/>
            <a:stretch>
              <a:fillRect/>
            </a:stretch>
          </p:blipFill>
          <p:spPr>
            <a:xfrm>
              <a:off x="856792" y="7324267"/>
              <a:ext cx="6730898" cy="94640"/>
            </a:xfrm>
            <a:prstGeom prst="rect">
              <a:avLst/>
            </a:prstGeom>
          </p:spPr>
        </p:pic>
        <p:sp>
          <p:nvSpPr>
            <p:cNvPr id="12" name="Shape 7"/>
            <p:cNvSpPr/>
            <p:nvPr/>
          </p:nvSpPr>
          <p:spPr>
            <a:xfrm flipV="1">
              <a:off x="856791" y="7447764"/>
              <a:ext cx="6730899" cy="47037"/>
            </a:xfrm>
            <a:prstGeom prst="rect">
              <a:avLst/>
            </a:prstGeom>
            <a:solidFill>
              <a:srgbClr val="EEEEEE"/>
            </a:solidFill>
            <a:ln w="12700">
              <a:solidFill>
                <a:srgbClr val="EEEEEE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13" name="Text 8"/>
          <p:cNvSpPr txBox="1"/>
          <p:nvPr/>
        </p:nvSpPr>
        <p:spPr>
          <a:xfrm>
            <a:off x="2285542" y="6383226"/>
            <a:ext cx="5896051" cy="68671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500" b="1" dirty="0">
                <a:solidFill>
                  <a:srgbClr val="002C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학력</a:t>
            </a:r>
            <a:endParaRPr lang="en-US" sz="3500" dirty="0"/>
          </a:p>
        </p:txBody>
      </p:sp>
      <p:sp>
        <p:nvSpPr>
          <p:cNvPr id="14" name="Text 9"/>
          <p:cNvSpPr txBox="1"/>
          <p:nvPr/>
        </p:nvSpPr>
        <p:spPr>
          <a:xfrm>
            <a:off x="999744" y="7886242"/>
            <a:ext cx="578175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23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고려</a:t>
            </a:r>
            <a:r>
              <a:rPr lang="en-US" sz="2300" b="1" dirty="0" err="1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대학교</a:t>
            </a:r>
            <a:r>
              <a:rPr lang="en-US" sz="23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ko-KR" altLang="en-US" sz="23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일반대학원</a:t>
            </a:r>
            <a:endParaRPr lang="en-US" sz="2300" dirty="0"/>
          </a:p>
        </p:txBody>
      </p:sp>
      <p:sp>
        <p:nvSpPr>
          <p:cNvPr id="15" name="Text 10"/>
          <p:cNvSpPr txBox="1"/>
          <p:nvPr/>
        </p:nvSpPr>
        <p:spPr>
          <a:xfrm>
            <a:off x="999744" y="8396886"/>
            <a:ext cx="5691226" cy="549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20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경영대학 </a:t>
            </a:r>
            <a:r>
              <a:rPr lang="en-US" altLang="ko-KR" sz="20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Business Analytics</a:t>
            </a:r>
            <a:r>
              <a:rPr lang="en-US" sz="20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2000" dirty="0" err="1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석사</a:t>
            </a:r>
            <a:endParaRPr lang="en-US" sz="2000" dirty="0"/>
          </a:p>
          <a:p>
            <a:pPr marL="0" indent="0" algn="l">
              <a:buNone/>
            </a:pPr>
            <a:r>
              <a:rPr lang="en-US" sz="1700" dirty="0">
                <a:solidFill>
                  <a:srgbClr val="99999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2025.03 - 2026.02</a:t>
            </a:r>
            <a:endParaRPr lang="en-US" sz="2000" dirty="0"/>
          </a:p>
        </p:txBody>
      </p:sp>
      <p:grpSp>
        <p:nvGrpSpPr>
          <p:cNvPr id="56" name="그룹 55">
            <a:extLst>
              <a:ext uri="{FF2B5EF4-FFF2-40B4-BE49-F238E27FC236}">
                <a16:creationId xmlns:a16="http://schemas.microsoft.com/office/drawing/2014/main" id="{C8967E1B-BB0A-CA96-FABA-B2CE8AB12D19}"/>
              </a:ext>
            </a:extLst>
          </p:cNvPr>
          <p:cNvGrpSpPr/>
          <p:nvPr/>
        </p:nvGrpSpPr>
        <p:grpSpPr>
          <a:xfrm>
            <a:off x="8276690" y="6250180"/>
            <a:ext cx="952805" cy="952805"/>
            <a:chOff x="11299240" y="10967923"/>
            <a:chExt cx="952805" cy="952805"/>
          </a:xfrm>
        </p:grpSpPr>
        <p:sp>
          <p:nvSpPr>
            <p:cNvPr id="19" name="Shape 13"/>
            <p:cNvSpPr/>
            <p:nvPr/>
          </p:nvSpPr>
          <p:spPr>
            <a:xfrm>
              <a:off x="11299240" y="10967923"/>
              <a:ext cx="952805" cy="952805"/>
            </a:xfrm>
            <a:prstGeom prst="roundRect">
              <a:avLst>
                <a:gd name="adj" fmla="val 38388"/>
              </a:avLst>
            </a:prstGeom>
            <a:solidFill>
              <a:srgbClr val="F0F7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pic>
          <p:nvPicPr>
            <p:cNvPr id="20" name="Image 4" descr="preencoded.png"/>
            <p:cNvPicPr>
              <a:picLocks noChangeAspect="1"/>
            </p:cNvPicPr>
            <p:nvPr/>
          </p:nvPicPr>
          <p:blipFill>
            <a:blip r:embed="rId5"/>
            <a:srcRect/>
            <a:stretch/>
          </p:blipFill>
          <p:spPr>
            <a:xfrm>
              <a:off x="11547043" y="11215726"/>
              <a:ext cx="457200" cy="457200"/>
            </a:xfrm>
            <a:prstGeom prst="rect">
              <a:avLst/>
            </a:prstGeom>
          </p:spPr>
        </p:pic>
      </p:grpSp>
      <p:sp>
        <p:nvSpPr>
          <p:cNvPr id="22" name="Text 15"/>
          <p:cNvSpPr txBox="1"/>
          <p:nvPr/>
        </p:nvSpPr>
        <p:spPr>
          <a:xfrm>
            <a:off x="9800537" y="6348677"/>
            <a:ext cx="4505707" cy="68671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500" b="1" dirty="0">
                <a:solidFill>
                  <a:srgbClr val="002C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경력</a:t>
            </a:r>
            <a:endParaRPr lang="en-US" sz="3500" dirty="0"/>
          </a:p>
        </p:txBody>
      </p:sp>
      <p:sp>
        <p:nvSpPr>
          <p:cNvPr id="23" name="Text 16"/>
          <p:cNvSpPr txBox="1"/>
          <p:nvPr/>
        </p:nvSpPr>
        <p:spPr>
          <a:xfrm>
            <a:off x="8524493" y="7891666"/>
            <a:ext cx="578175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23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㈜</a:t>
            </a:r>
            <a:r>
              <a:rPr lang="ko-KR" altLang="en-US" sz="2300" b="1" dirty="0" err="1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에브리리서치</a:t>
            </a:r>
            <a:endParaRPr lang="en-US" sz="2300" dirty="0"/>
          </a:p>
        </p:txBody>
      </p:sp>
      <p:sp>
        <p:nvSpPr>
          <p:cNvPr id="24" name="Text 17"/>
          <p:cNvSpPr txBox="1"/>
          <p:nvPr/>
        </p:nvSpPr>
        <p:spPr>
          <a:xfrm>
            <a:off x="8524493" y="8396886"/>
            <a:ext cx="7817513" cy="8270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20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팀장</a:t>
            </a:r>
            <a:r>
              <a:rPr lang="en-US" altLang="ko-KR" sz="20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/</a:t>
            </a:r>
            <a:r>
              <a:rPr lang="ko-KR" altLang="en-US" sz="20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선임연구원</a:t>
            </a:r>
            <a:endParaRPr lang="en-US" sz="2000" dirty="0"/>
          </a:p>
          <a:p>
            <a:pPr marL="0" indent="0" algn="l">
              <a:buNone/>
            </a:pPr>
            <a:r>
              <a:rPr lang="ko-KR" altLang="en-US" sz="20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여론조사 업무 총괄</a:t>
            </a:r>
            <a:r>
              <a:rPr lang="en-US" altLang="ko-KR" sz="20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</a:t>
            </a:r>
            <a:r>
              <a:rPr lang="ko-KR" altLang="en-US" sz="20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설문 설계</a:t>
            </a:r>
            <a:r>
              <a:rPr lang="en-US" altLang="ko-KR" sz="20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 </a:t>
            </a:r>
            <a:r>
              <a:rPr lang="ko-KR" altLang="en-US" sz="20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조사 실사</a:t>
            </a:r>
            <a:r>
              <a:rPr lang="en-US" altLang="ko-KR" sz="20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 </a:t>
            </a:r>
            <a:r>
              <a:rPr lang="ko-KR" altLang="en-US" sz="20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통계 분석</a:t>
            </a:r>
            <a:r>
              <a:rPr lang="en-US" altLang="ko-KR" sz="20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 </a:t>
            </a:r>
            <a:r>
              <a:rPr lang="ko-KR" altLang="en-US" sz="20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보고서 작성</a:t>
            </a:r>
            <a:r>
              <a:rPr lang="en-US" altLang="ko-KR" sz="20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)</a:t>
            </a:r>
            <a:endParaRPr lang="en-US" sz="2000" dirty="0"/>
          </a:p>
          <a:p>
            <a:pPr marL="0" indent="0" algn="l">
              <a:buNone/>
            </a:pPr>
            <a:r>
              <a:rPr lang="en-US" sz="1700" dirty="0">
                <a:solidFill>
                  <a:srgbClr val="99999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2023.08 – 2024.07</a:t>
            </a:r>
            <a:endParaRPr lang="en-US" sz="2000" dirty="0"/>
          </a:p>
        </p:txBody>
      </p:sp>
      <p:sp>
        <p:nvSpPr>
          <p:cNvPr id="25" name="Text 18"/>
          <p:cNvSpPr txBox="1"/>
          <p:nvPr/>
        </p:nvSpPr>
        <p:spPr>
          <a:xfrm>
            <a:off x="8524493" y="9662002"/>
            <a:ext cx="578175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</a:t>
            </a:r>
            <a:r>
              <a:rPr lang="ko-KR" altLang="en-US" sz="23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재</a:t>
            </a:r>
            <a:r>
              <a:rPr lang="en-US" altLang="ko-KR" sz="23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)</a:t>
            </a:r>
            <a:r>
              <a:rPr lang="ko-KR" altLang="en-US" sz="23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한국종합경제연구원</a:t>
            </a:r>
            <a:endParaRPr lang="en-US" sz="2300" dirty="0"/>
          </a:p>
        </p:txBody>
      </p:sp>
      <p:sp>
        <p:nvSpPr>
          <p:cNvPr id="26" name="Text 19"/>
          <p:cNvSpPr txBox="1"/>
          <p:nvPr/>
        </p:nvSpPr>
        <p:spPr>
          <a:xfrm>
            <a:off x="8524493" y="10333751"/>
            <a:ext cx="5691226" cy="1940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20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대리</a:t>
            </a:r>
            <a:r>
              <a:rPr lang="en-US" sz="20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/</a:t>
            </a:r>
            <a:r>
              <a:rPr lang="ko-KR" altLang="en-US" sz="20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연구원</a:t>
            </a:r>
            <a:endParaRPr lang="en-US" sz="2000" dirty="0"/>
          </a:p>
          <a:p>
            <a:r>
              <a:rPr lang="ko-KR" altLang="en-US" sz="20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</a:rPr>
              <a:t>지방자치단체</a:t>
            </a:r>
            <a:r>
              <a:rPr lang="en-US" altLang="ko-KR" sz="20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</a:rPr>
              <a:t>, </a:t>
            </a:r>
            <a:r>
              <a:rPr lang="ko-KR" altLang="en-US" sz="20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</a:rPr>
              <a:t>공공기관 학술연구용역 수행</a:t>
            </a:r>
            <a:endParaRPr lang="en-US" altLang="ko-KR" sz="2000" dirty="0">
              <a:solidFill>
                <a:srgbClr val="666666"/>
              </a:solidFill>
              <a:latin typeface="Noto Sans KR" pitchFamily="34" charset="0"/>
              <a:ea typeface="Noto Sans KR" pitchFamily="34" charset="-122"/>
            </a:endParaRPr>
          </a:p>
          <a:p>
            <a:r>
              <a:rPr lang="en-US" sz="1700" dirty="0">
                <a:solidFill>
                  <a:srgbClr val="99999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2021.03 - 2023.02</a:t>
            </a:r>
          </a:p>
          <a:p>
            <a:pPr marL="0" indent="0" algn="l">
              <a:buNone/>
            </a:pPr>
            <a:endParaRPr lang="en-US" sz="1700" dirty="0">
              <a:solidFill>
                <a:srgbClr val="999999"/>
              </a:solidFill>
              <a:latin typeface="Noto Sans KR" pitchFamily="34" charset="0"/>
              <a:ea typeface="Noto Sans KR" pitchFamily="34" charset="-122"/>
            </a:endParaRPr>
          </a:p>
          <a:p>
            <a:r>
              <a:rPr lang="ko-KR" altLang="en-US" sz="20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인턴</a:t>
            </a:r>
            <a:r>
              <a:rPr lang="en-US" altLang="ko-KR" sz="20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/</a:t>
            </a:r>
            <a:r>
              <a:rPr lang="ko-KR" altLang="en-US" sz="20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보조연구원</a:t>
            </a:r>
            <a:endParaRPr lang="en-US" altLang="ko-KR" sz="2000" dirty="0"/>
          </a:p>
          <a:p>
            <a:r>
              <a:rPr lang="ko-KR" altLang="en-US" sz="20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</a:rPr>
              <a:t>지방자치단체</a:t>
            </a:r>
            <a:r>
              <a:rPr lang="en-US" altLang="ko-KR" sz="20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</a:rPr>
              <a:t>, </a:t>
            </a:r>
            <a:r>
              <a:rPr lang="ko-KR" altLang="en-US" sz="20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</a:rPr>
              <a:t>공공기관 학술연구용역 수행 보조</a:t>
            </a:r>
            <a:endParaRPr lang="en-US" altLang="ko-KR" sz="2000" dirty="0">
              <a:solidFill>
                <a:srgbClr val="666666"/>
              </a:solidFill>
              <a:latin typeface="Noto Sans KR" pitchFamily="34" charset="0"/>
              <a:ea typeface="Noto Sans KR" pitchFamily="34" charset="-122"/>
            </a:endParaRPr>
          </a:p>
          <a:p>
            <a:r>
              <a:rPr lang="en-US" altLang="ko-KR" sz="1700" dirty="0">
                <a:solidFill>
                  <a:srgbClr val="99999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2019.02 - 2021.02</a:t>
            </a:r>
            <a:endParaRPr lang="en-US" altLang="ko-KR" sz="2000" dirty="0"/>
          </a:p>
          <a:p>
            <a:pPr marL="0" indent="0" algn="l">
              <a:buNone/>
            </a:pPr>
            <a:endParaRPr lang="en-US" sz="2000" dirty="0"/>
          </a:p>
        </p:txBody>
      </p:sp>
      <p:grpSp>
        <p:nvGrpSpPr>
          <p:cNvPr id="57" name="그룹 56">
            <a:extLst>
              <a:ext uri="{FF2B5EF4-FFF2-40B4-BE49-F238E27FC236}">
                <a16:creationId xmlns:a16="http://schemas.microsoft.com/office/drawing/2014/main" id="{22E6CDBA-BEFE-9419-4115-B4CB93F8542A}"/>
              </a:ext>
            </a:extLst>
          </p:cNvPr>
          <p:cNvGrpSpPr/>
          <p:nvPr/>
        </p:nvGrpSpPr>
        <p:grpSpPr>
          <a:xfrm>
            <a:off x="16772585" y="6215631"/>
            <a:ext cx="952805" cy="952805"/>
            <a:chOff x="18791834" y="10967923"/>
            <a:chExt cx="952805" cy="952805"/>
          </a:xfrm>
        </p:grpSpPr>
        <p:sp>
          <p:nvSpPr>
            <p:cNvPr id="28" name="Shape 20"/>
            <p:cNvSpPr/>
            <p:nvPr/>
          </p:nvSpPr>
          <p:spPr>
            <a:xfrm>
              <a:off x="18791834" y="10967923"/>
              <a:ext cx="952805" cy="952805"/>
            </a:xfrm>
            <a:prstGeom prst="roundRect">
              <a:avLst>
                <a:gd name="adj" fmla="val 38388"/>
              </a:avLst>
            </a:prstGeom>
            <a:solidFill>
              <a:srgbClr val="F0F7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pic>
          <p:nvPicPr>
            <p:cNvPr id="29" name="Image 6" descr="preencoded.png"/>
            <p:cNvPicPr>
              <a:picLocks noChangeAspect="1"/>
            </p:cNvPicPr>
            <p:nvPr/>
          </p:nvPicPr>
          <p:blipFill>
            <a:blip r:embed="rId6"/>
            <a:srcRect t="-44" b="-44"/>
            <a:stretch/>
          </p:blipFill>
          <p:spPr>
            <a:xfrm>
              <a:off x="19011290" y="11215726"/>
              <a:ext cx="513893" cy="457200"/>
            </a:xfrm>
            <a:prstGeom prst="rect">
              <a:avLst/>
            </a:prstGeom>
          </p:spPr>
        </p:pic>
      </p:grpSp>
      <p:sp>
        <p:nvSpPr>
          <p:cNvPr id="31" name="Text 22"/>
          <p:cNvSpPr txBox="1"/>
          <p:nvPr/>
        </p:nvSpPr>
        <p:spPr>
          <a:xfrm>
            <a:off x="18045685" y="6332524"/>
            <a:ext cx="1296415" cy="73741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500" b="1" dirty="0">
                <a:solidFill>
                  <a:srgbClr val="002C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Skill</a:t>
            </a:r>
            <a:endParaRPr lang="en-US" sz="3500" dirty="0"/>
          </a:p>
        </p:txBody>
      </p:sp>
      <p:sp>
        <p:nvSpPr>
          <p:cNvPr id="46" name="Text 37"/>
          <p:cNvSpPr txBox="1"/>
          <p:nvPr/>
        </p:nvSpPr>
        <p:spPr>
          <a:xfrm>
            <a:off x="17077131" y="8016408"/>
            <a:ext cx="5781751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2000" dirty="0">
                <a:solidFill>
                  <a:srgbClr val="002C5F"/>
                </a:solidFill>
                <a:latin typeface="Noto Sans KR" pitchFamily="34" charset="0"/>
                <a:ea typeface="Noto Sans KR" pitchFamily="34" charset="-122"/>
              </a:rPr>
              <a:t>정량</a:t>
            </a:r>
            <a:r>
              <a:rPr lang="en-US" altLang="ko-KR" sz="2000" dirty="0">
                <a:solidFill>
                  <a:srgbClr val="002C5F"/>
                </a:solidFill>
                <a:latin typeface="Noto Sans KR" pitchFamily="34" charset="0"/>
                <a:ea typeface="Noto Sans KR" pitchFamily="34" charset="-122"/>
              </a:rPr>
              <a:t> </a:t>
            </a:r>
            <a:r>
              <a:rPr lang="ko-KR" altLang="en-US" sz="2000" dirty="0">
                <a:solidFill>
                  <a:srgbClr val="002C5F"/>
                </a:solidFill>
                <a:latin typeface="Noto Sans KR" pitchFamily="34" charset="0"/>
                <a:ea typeface="Noto Sans KR" pitchFamily="34" charset="-122"/>
              </a:rPr>
              <a:t>데이터 기반 </a:t>
            </a:r>
            <a:r>
              <a:rPr lang="ko-KR" altLang="en-US" sz="2000" dirty="0" err="1">
                <a:solidFill>
                  <a:srgbClr val="002C5F"/>
                </a:solidFill>
                <a:latin typeface="Noto Sans KR" pitchFamily="34" charset="0"/>
                <a:ea typeface="Noto Sans KR" pitchFamily="34" charset="-122"/>
              </a:rPr>
              <a:t>정책</a:t>
            </a:r>
            <a:r>
              <a:rPr lang="ko-KR" altLang="en-US" sz="2000" dirty="0" err="1">
                <a:solidFill>
                  <a:srgbClr val="002C5F"/>
                </a:solidFill>
                <a:latin typeface="Pridi" panose="00000500000000000000" pitchFamily="2" charset="-34"/>
                <a:ea typeface="Noto Sans KR" pitchFamily="34" charset="-122"/>
                <a:cs typeface="Pridi" panose="00000500000000000000" pitchFamily="2" charset="-34"/>
              </a:rPr>
              <a:t>∙</a:t>
            </a:r>
            <a:r>
              <a:rPr lang="ko-KR" altLang="en-US" sz="2000" dirty="0" err="1">
                <a:solidFill>
                  <a:srgbClr val="002C5F"/>
                </a:solidFill>
                <a:latin typeface="Noto Sans KR" pitchFamily="34" charset="0"/>
                <a:ea typeface="Noto Sans KR" pitchFamily="34" charset="-122"/>
              </a:rPr>
              <a:t>사업</a:t>
            </a:r>
            <a:r>
              <a:rPr lang="ko-KR" altLang="en-US" sz="2000" dirty="0">
                <a:solidFill>
                  <a:srgbClr val="002C5F"/>
                </a:solidFill>
                <a:latin typeface="Noto Sans KR" pitchFamily="34" charset="0"/>
                <a:ea typeface="Noto Sans KR" pitchFamily="34" charset="-122"/>
              </a:rPr>
              <a:t> 타당성 분석</a:t>
            </a:r>
            <a:endParaRPr lang="en-US" sz="2000" dirty="0"/>
          </a:p>
        </p:txBody>
      </p:sp>
      <p:sp>
        <p:nvSpPr>
          <p:cNvPr id="50" name="Text 41"/>
          <p:cNvSpPr txBox="1"/>
          <p:nvPr/>
        </p:nvSpPr>
        <p:spPr>
          <a:xfrm>
            <a:off x="22047199" y="13181234"/>
            <a:ext cx="2620569" cy="322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9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Lim Chaewon Portfolio</a:t>
            </a:r>
            <a:endParaRPr lang="en-US" sz="1700" dirty="0"/>
          </a:p>
        </p:txBody>
      </p:sp>
      <p:sp>
        <p:nvSpPr>
          <p:cNvPr id="53" name="Text 11">
            <a:extLst>
              <a:ext uri="{FF2B5EF4-FFF2-40B4-BE49-F238E27FC236}">
                <a16:creationId xmlns:a16="http://schemas.microsoft.com/office/drawing/2014/main" id="{30C7A2F0-7FAA-0795-431D-338950FE5433}"/>
              </a:ext>
            </a:extLst>
          </p:cNvPr>
          <p:cNvSpPr txBox="1"/>
          <p:nvPr/>
        </p:nvSpPr>
        <p:spPr>
          <a:xfrm>
            <a:off x="999743" y="9264852"/>
            <a:ext cx="578175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23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고려대학교 세종캠퍼스</a:t>
            </a:r>
            <a:endParaRPr lang="en-US" sz="2300" dirty="0"/>
          </a:p>
        </p:txBody>
      </p:sp>
      <p:sp>
        <p:nvSpPr>
          <p:cNvPr id="54" name="Text 12">
            <a:extLst>
              <a:ext uri="{FF2B5EF4-FFF2-40B4-BE49-F238E27FC236}">
                <a16:creationId xmlns:a16="http://schemas.microsoft.com/office/drawing/2014/main" id="{FED7A20D-5B6D-EB72-9F09-F01F7F986716}"/>
              </a:ext>
            </a:extLst>
          </p:cNvPr>
          <p:cNvSpPr txBox="1"/>
          <p:nvPr/>
        </p:nvSpPr>
        <p:spPr>
          <a:xfrm>
            <a:off x="1000691" y="9773471"/>
            <a:ext cx="569122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20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사회학과</a:t>
            </a:r>
            <a:r>
              <a:rPr lang="en-US" sz="20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ko-KR" altLang="en-US" sz="20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학사</a:t>
            </a:r>
            <a:endParaRPr lang="en-US" sz="2000" dirty="0"/>
          </a:p>
          <a:p>
            <a:pPr marL="0" indent="0" algn="l">
              <a:buNone/>
            </a:pPr>
            <a:r>
              <a:rPr lang="en-US" sz="1700" dirty="0">
                <a:solidFill>
                  <a:srgbClr val="99999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2006.03- 2014.09</a:t>
            </a:r>
            <a:endParaRPr lang="en-US" sz="2000" dirty="0"/>
          </a:p>
        </p:txBody>
      </p:sp>
      <p:pic>
        <p:nvPicPr>
          <p:cNvPr id="55" name="Image 1" descr="preencoded.png">
            <a:extLst>
              <a:ext uri="{FF2B5EF4-FFF2-40B4-BE49-F238E27FC236}">
                <a16:creationId xmlns:a16="http://schemas.microsoft.com/office/drawing/2014/main" id="{1F8D3A2D-946A-129A-9C7E-A25DAE428F5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-1" b="98897"/>
          <a:stretch>
            <a:fillRect/>
          </a:stretch>
        </p:blipFill>
        <p:spPr>
          <a:xfrm>
            <a:off x="8410193" y="7352271"/>
            <a:ext cx="7449348" cy="94640"/>
          </a:xfrm>
          <a:prstGeom prst="rect">
            <a:avLst/>
          </a:prstGeom>
        </p:spPr>
      </p:pic>
      <p:pic>
        <p:nvPicPr>
          <p:cNvPr id="58" name="Image 1" descr="preencoded.png">
            <a:extLst>
              <a:ext uri="{FF2B5EF4-FFF2-40B4-BE49-F238E27FC236}">
                <a16:creationId xmlns:a16="http://schemas.microsoft.com/office/drawing/2014/main" id="{7AC67DDF-E65B-1620-A13D-CDE71FB0B20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-1" b="98897"/>
          <a:stretch>
            <a:fillRect/>
          </a:stretch>
        </p:blipFill>
        <p:spPr>
          <a:xfrm>
            <a:off x="16772586" y="7371587"/>
            <a:ext cx="6730898" cy="94640"/>
          </a:xfrm>
          <a:prstGeom prst="rect">
            <a:avLst/>
          </a:prstGeom>
        </p:spPr>
      </p:pic>
      <p:sp>
        <p:nvSpPr>
          <p:cNvPr id="59" name="Shape 7">
            <a:extLst>
              <a:ext uri="{FF2B5EF4-FFF2-40B4-BE49-F238E27FC236}">
                <a16:creationId xmlns:a16="http://schemas.microsoft.com/office/drawing/2014/main" id="{A9D0659E-72C7-C7F1-AB7D-A73DF0CDB171}"/>
              </a:ext>
            </a:extLst>
          </p:cNvPr>
          <p:cNvSpPr/>
          <p:nvPr/>
        </p:nvSpPr>
        <p:spPr>
          <a:xfrm flipV="1">
            <a:off x="8410192" y="7461797"/>
            <a:ext cx="7449348" cy="47036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0" name="Shape 7">
            <a:extLst>
              <a:ext uri="{FF2B5EF4-FFF2-40B4-BE49-F238E27FC236}">
                <a16:creationId xmlns:a16="http://schemas.microsoft.com/office/drawing/2014/main" id="{06571238-B128-54D8-B501-420868B42305}"/>
              </a:ext>
            </a:extLst>
          </p:cNvPr>
          <p:cNvSpPr/>
          <p:nvPr/>
        </p:nvSpPr>
        <p:spPr>
          <a:xfrm flipV="1">
            <a:off x="16772585" y="7495494"/>
            <a:ext cx="6730899" cy="47037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1" name="Text 37">
            <a:extLst>
              <a:ext uri="{FF2B5EF4-FFF2-40B4-BE49-F238E27FC236}">
                <a16:creationId xmlns:a16="http://schemas.microsoft.com/office/drawing/2014/main" id="{A38A0FD1-D84F-5FCC-2383-610887FF3184}"/>
              </a:ext>
            </a:extLst>
          </p:cNvPr>
          <p:cNvSpPr txBox="1"/>
          <p:nvPr/>
        </p:nvSpPr>
        <p:spPr>
          <a:xfrm>
            <a:off x="17077131" y="8580259"/>
            <a:ext cx="5781751" cy="400507"/>
          </a:xfrm>
          <a:prstGeom prst="rect">
            <a:avLst/>
          </a:prstGeom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2000" dirty="0">
                <a:solidFill>
                  <a:srgbClr val="002C5F"/>
                </a:solidFill>
                <a:latin typeface="Noto Sans KR" pitchFamily="34" charset="0"/>
                <a:ea typeface="Noto Sans KR" pitchFamily="34" charset="-122"/>
              </a:rPr>
              <a:t>데이터분석</a:t>
            </a:r>
            <a:r>
              <a:rPr lang="en-US" altLang="ko-KR" sz="2000" dirty="0">
                <a:solidFill>
                  <a:srgbClr val="002C5F"/>
                </a:solidFill>
                <a:latin typeface="Noto Sans KR" pitchFamily="34" charset="0"/>
                <a:ea typeface="Noto Sans KR" pitchFamily="34" charset="-122"/>
              </a:rPr>
              <a:t>, </a:t>
            </a:r>
            <a:r>
              <a:rPr lang="ko-KR" altLang="en-US" sz="2000" dirty="0">
                <a:solidFill>
                  <a:srgbClr val="002C5F"/>
                </a:solidFill>
                <a:latin typeface="Noto Sans KR" pitchFamily="34" charset="0"/>
                <a:ea typeface="Noto Sans KR" pitchFamily="34" charset="-122"/>
              </a:rPr>
              <a:t>통계</a:t>
            </a:r>
            <a:r>
              <a:rPr lang="en-US" altLang="ko-KR" sz="2000" dirty="0">
                <a:solidFill>
                  <a:srgbClr val="002C5F"/>
                </a:solidFill>
                <a:latin typeface="Noto Sans KR" pitchFamily="34" charset="0"/>
                <a:ea typeface="Noto Sans KR" pitchFamily="34" charset="-122"/>
              </a:rPr>
              <a:t>,</a:t>
            </a:r>
            <a:r>
              <a:rPr lang="ko-KR" altLang="en-US" sz="2000" dirty="0">
                <a:solidFill>
                  <a:srgbClr val="002C5F"/>
                </a:solidFill>
                <a:latin typeface="Noto Sans KR" pitchFamily="34" charset="0"/>
                <a:ea typeface="Noto Sans KR" pitchFamily="34" charset="-122"/>
              </a:rPr>
              <a:t> </a:t>
            </a:r>
            <a:r>
              <a:rPr lang="ko-KR" altLang="en-US" sz="2000" dirty="0" err="1">
                <a:solidFill>
                  <a:srgbClr val="002C5F"/>
                </a:solidFill>
                <a:latin typeface="Noto Sans KR" pitchFamily="34" charset="0"/>
                <a:ea typeface="Noto Sans KR" pitchFamily="34" charset="-122"/>
              </a:rPr>
              <a:t>머신러닝</a:t>
            </a:r>
            <a:r>
              <a:rPr lang="ko-KR" altLang="en-US" sz="2000" dirty="0">
                <a:solidFill>
                  <a:srgbClr val="002C5F"/>
                </a:solidFill>
                <a:latin typeface="Noto Sans KR" pitchFamily="34" charset="0"/>
                <a:ea typeface="Noto Sans KR" pitchFamily="34" charset="-122"/>
              </a:rPr>
              <a:t> 활용</a:t>
            </a:r>
            <a:endParaRPr lang="en-US" sz="2000" dirty="0"/>
          </a:p>
        </p:txBody>
      </p:sp>
      <p:sp>
        <p:nvSpPr>
          <p:cNvPr id="63" name="Text 37">
            <a:extLst>
              <a:ext uri="{FF2B5EF4-FFF2-40B4-BE49-F238E27FC236}">
                <a16:creationId xmlns:a16="http://schemas.microsoft.com/office/drawing/2014/main" id="{2708B9AE-7D0C-4601-32ED-D3A6649AB453}"/>
              </a:ext>
            </a:extLst>
          </p:cNvPr>
          <p:cNvSpPr txBox="1"/>
          <p:nvPr/>
        </p:nvSpPr>
        <p:spPr>
          <a:xfrm>
            <a:off x="17077126" y="11535900"/>
            <a:ext cx="5781751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2000" dirty="0">
                <a:solidFill>
                  <a:srgbClr val="002C5F"/>
                </a:solidFill>
                <a:latin typeface="Noto Sans KR" pitchFamily="34" charset="0"/>
                <a:ea typeface="Noto Sans KR" pitchFamily="34" charset="-122"/>
              </a:rPr>
              <a:t>새로운 지식에 대한 빠른 </a:t>
            </a:r>
            <a:r>
              <a:rPr lang="ko-KR" altLang="en-US" sz="2000" dirty="0" err="1">
                <a:solidFill>
                  <a:srgbClr val="002C5F"/>
                </a:solidFill>
                <a:latin typeface="Noto Sans KR" pitchFamily="34" charset="0"/>
                <a:ea typeface="Noto Sans KR" pitchFamily="34" charset="-122"/>
              </a:rPr>
              <a:t>학습력과</a:t>
            </a:r>
            <a:r>
              <a:rPr lang="ko-KR" altLang="en-US" sz="2000" dirty="0">
                <a:solidFill>
                  <a:srgbClr val="002C5F"/>
                </a:solidFill>
                <a:latin typeface="Noto Sans KR" pitchFamily="34" charset="0"/>
                <a:ea typeface="Noto Sans KR" pitchFamily="34" charset="-122"/>
              </a:rPr>
              <a:t> 실무 적용능력</a:t>
            </a:r>
            <a:endParaRPr lang="en-US" sz="2000" dirty="0"/>
          </a:p>
        </p:txBody>
      </p:sp>
      <p:sp>
        <p:nvSpPr>
          <p:cNvPr id="64" name="Text 37">
            <a:extLst>
              <a:ext uri="{FF2B5EF4-FFF2-40B4-BE49-F238E27FC236}">
                <a16:creationId xmlns:a16="http://schemas.microsoft.com/office/drawing/2014/main" id="{EAAE578A-A359-DCC6-1BE7-85AD2E96847D}"/>
              </a:ext>
            </a:extLst>
          </p:cNvPr>
          <p:cNvSpPr txBox="1"/>
          <p:nvPr/>
        </p:nvSpPr>
        <p:spPr>
          <a:xfrm>
            <a:off x="17077125" y="10305006"/>
            <a:ext cx="5781751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2000" dirty="0">
                <a:solidFill>
                  <a:srgbClr val="002C5F"/>
                </a:solidFill>
                <a:latin typeface="Noto Sans KR" pitchFamily="34" charset="0"/>
                <a:ea typeface="Noto Sans KR" pitchFamily="34" charset="-122"/>
              </a:rPr>
              <a:t>인과추론 적용 연구경험</a:t>
            </a:r>
            <a:endParaRPr lang="en-US" sz="2000" dirty="0"/>
          </a:p>
        </p:txBody>
      </p:sp>
      <p:sp>
        <p:nvSpPr>
          <p:cNvPr id="65" name="Text 9">
            <a:extLst>
              <a:ext uri="{FF2B5EF4-FFF2-40B4-BE49-F238E27FC236}">
                <a16:creationId xmlns:a16="http://schemas.microsoft.com/office/drawing/2014/main" id="{ACA6BC30-392D-7A53-D9DC-F514984375E1}"/>
              </a:ext>
            </a:extLst>
          </p:cNvPr>
          <p:cNvSpPr txBox="1"/>
          <p:nvPr/>
        </p:nvSpPr>
        <p:spPr>
          <a:xfrm>
            <a:off x="3752179" y="3442787"/>
            <a:ext cx="18887687" cy="17971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28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</a:rPr>
              <a:t>“</a:t>
            </a:r>
            <a:r>
              <a:rPr lang="ko-KR" altLang="en-US" sz="28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</a:rPr>
              <a:t>공공기관</a:t>
            </a:r>
            <a:r>
              <a:rPr lang="en-US" altLang="ko-KR" sz="28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</a:rPr>
              <a:t>·</a:t>
            </a:r>
            <a:r>
              <a:rPr lang="ko-KR" altLang="en-US" sz="28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</a:rPr>
              <a:t>지방자치단체 연구용역 수행 경험과 </a:t>
            </a:r>
            <a:r>
              <a:rPr lang="en-US" altLang="ko-KR" sz="28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</a:rPr>
              <a:t>Business Analytics </a:t>
            </a:r>
            <a:r>
              <a:rPr lang="ko-KR" altLang="en-US" sz="28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</a:rPr>
              <a:t>석사과정에서 축적한 데이터 분석 역량을 바탕으로</a:t>
            </a:r>
            <a:r>
              <a:rPr lang="en-US" altLang="ko-KR" sz="28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</a:rPr>
              <a:t>, </a:t>
            </a:r>
            <a:br>
              <a:rPr lang="en-US" altLang="ko-KR" sz="28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</a:rPr>
            </a:br>
            <a:r>
              <a:rPr lang="ko-KR" altLang="en-US" sz="28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</a:rPr>
              <a:t>조직의 의사결정을 정량적 근거로 지원하는 실무형 인재입니다</a:t>
            </a:r>
            <a:r>
              <a:rPr lang="en-US" altLang="ko-KR" sz="28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</a:rPr>
              <a:t>.”</a:t>
            </a:r>
            <a:endParaRPr lang="en-US" sz="2800" dirty="0"/>
          </a:p>
        </p:txBody>
      </p:sp>
      <p:sp>
        <p:nvSpPr>
          <p:cNvPr id="67" name="Text 9">
            <a:extLst>
              <a:ext uri="{FF2B5EF4-FFF2-40B4-BE49-F238E27FC236}">
                <a16:creationId xmlns:a16="http://schemas.microsoft.com/office/drawing/2014/main" id="{6EB8BA6C-74CA-78DA-1EE6-D6968997DF71}"/>
              </a:ext>
            </a:extLst>
          </p:cNvPr>
          <p:cNvSpPr txBox="1"/>
          <p:nvPr/>
        </p:nvSpPr>
        <p:spPr>
          <a:xfrm>
            <a:off x="3752180" y="2930349"/>
            <a:ext cx="578175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32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지원자 </a:t>
            </a:r>
            <a:r>
              <a:rPr lang="ko-KR" altLang="en-US" sz="3200" b="1" dirty="0" err="1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임채원</a:t>
            </a:r>
            <a:endParaRPr lang="en-US" sz="3200" dirty="0"/>
          </a:p>
        </p:txBody>
      </p:sp>
      <p:sp>
        <p:nvSpPr>
          <p:cNvPr id="3" name="Text 23">
            <a:extLst>
              <a:ext uri="{FF2B5EF4-FFF2-40B4-BE49-F238E27FC236}">
                <a16:creationId xmlns:a16="http://schemas.microsoft.com/office/drawing/2014/main" id="{BEFC1D6C-B310-596A-E746-5AA4BA4D0EAF}"/>
              </a:ext>
            </a:extLst>
          </p:cNvPr>
          <p:cNvSpPr txBox="1"/>
          <p:nvPr/>
        </p:nvSpPr>
        <p:spPr>
          <a:xfrm>
            <a:off x="17077131" y="9010476"/>
            <a:ext cx="5781751" cy="6989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002C5F"/>
                </a:solidFill>
                <a:latin typeface="Noto Sans KR" pitchFamily="34" charset="0"/>
                <a:ea typeface="Noto Sans KR" pitchFamily="34" charset="-122"/>
              </a:rPr>
              <a:t>Python </a:t>
            </a:r>
            <a:r>
              <a:rPr lang="ko-KR" altLang="en-US" sz="2000" dirty="0">
                <a:solidFill>
                  <a:srgbClr val="002C5F"/>
                </a:solidFill>
                <a:latin typeface="Noto Sans KR" pitchFamily="34" charset="0"/>
                <a:ea typeface="Noto Sans KR" pitchFamily="34" charset="-122"/>
              </a:rPr>
              <a:t>기반 데이터 </a:t>
            </a:r>
            <a:r>
              <a:rPr lang="ko-KR" altLang="en-US" sz="2000" dirty="0" err="1">
                <a:solidFill>
                  <a:srgbClr val="002C5F"/>
                </a:solidFill>
                <a:latin typeface="Noto Sans KR" pitchFamily="34" charset="0"/>
                <a:ea typeface="Noto Sans KR" pitchFamily="34" charset="-122"/>
              </a:rPr>
              <a:t>전처리</a:t>
            </a:r>
            <a:r>
              <a:rPr lang="ko-KR" altLang="en-US" sz="2000" dirty="0">
                <a:solidFill>
                  <a:srgbClr val="002C5F"/>
                </a:solidFill>
                <a:latin typeface="Noto Sans KR" pitchFamily="34" charset="0"/>
                <a:ea typeface="Noto Sans KR" pitchFamily="34" charset="-122"/>
              </a:rPr>
              <a:t> 및 분석</a:t>
            </a:r>
            <a:endParaRPr lang="en-US" altLang="ko-KR" sz="2000" dirty="0">
              <a:solidFill>
                <a:srgbClr val="002C5F"/>
              </a:solidFill>
              <a:latin typeface="Noto Sans KR" pitchFamily="34" charset="0"/>
              <a:ea typeface="Noto Sans KR" pitchFamily="34" charset="-122"/>
            </a:endParaRPr>
          </a:p>
        </p:txBody>
      </p:sp>
      <p:sp>
        <p:nvSpPr>
          <p:cNvPr id="7" name="Text 37">
            <a:extLst>
              <a:ext uri="{FF2B5EF4-FFF2-40B4-BE49-F238E27FC236}">
                <a16:creationId xmlns:a16="http://schemas.microsoft.com/office/drawing/2014/main" id="{0C5FFFDA-7FAC-E263-D3BF-7B592AB092C7}"/>
              </a:ext>
            </a:extLst>
          </p:cNvPr>
          <p:cNvSpPr txBox="1"/>
          <p:nvPr/>
        </p:nvSpPr>
        <p:spPr>
          <a:xfrm>
            <a:off x="17077124" y="10902587"/>
            <a:ext cx="5781751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2000" dirty="0">
                <a:solidFill>
                  <a:srgbClr val="002C5F"/>
                </a:solidFill>
                <a:latin typeface="Noto Sans KR" pitchFamily="34" charset="0"/>
                <a:ea typeface="Noto Sans KR" pitchFamily="34" charset="-122"/>
              </a:rPr>
              <a:t>대규모언어모델</a:t>
            </a:r>
            <a:r>
              <a:rPr lang="en-US" altLang="ko-KR" sz="2000" dirty="0">
                <a:solidFill>
                  <a:srgbClr val="002C5F"/>
                </a:solidFill>
                <a:latin typeface="Noto Sans KR" pitchFamily="34" charset="0"/>
                <a:ea typeface="Noto Sans KR" pitchFamily="34" charset="-122"/>
              </a:rPr>
              <a:t>(LLM)</a:t>
            </a:r>
            <a:r>
              <a:rPr lang="ko-KR" altLang="en-US" sz="2000" dirty="0">
                <a:solidFill>
                  <a:srgbClr val="002C5F"/>
                </a:solidFill>
                <a:latin typeface="Noto Sans KR" pitchFamily="34" charset="0"/>
                <a:ea typeface="Noto Sans KR" pitchFamily="34" charset="-122"/>
              </a:rPr>
              <a:t> 활용</a:t>
            </a:r>
            <a:endParaRPr lang="en-US" sz="2000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54CD4733-5589-E83B-0C16-5D8BBD71B592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b="8085"/>
          <a:stretch>
            <a:fillRect/>
          </a:stretch>
        </p:blipFill>
        <p:spPr>
          <a:xfrm>
            <a:off x="1000691" y="2882532"/>
            <a:ext cx="2381098" cy="3139675"/>
          </a:xfrm>
          <a:prstGeom prst="rect">
            <a:avLst/>
          </a:prstGeom>
        </p:spPr>
      </p:pic>
      <p:pic>
        <p:nvPicPr>
          <p:cNvPr id="17" name="그림 16">
            <a:hlinkClick r:id="rId8"/>
            <a:extLst>
              <a:ext uri="{FF2B5EF4-FFF2-40B4-BE49-F238E27FC236}">
                <a16:creationId xmlns:a16="http://schemas.microsoft.com/office/drawing/2014/main" id="{07FFD5E5-0E23-B1BD-5F6F-76FA556C828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0800770" y="2705370"/>
            <a:ext cx="3119137" cy="737417"/>
          </a:xfrm>
          <a:prstGeom prst="rect">
            <a:avLst/>
          </a:prstGeom>
        </p:spPr>
      </p:pic>
      <p:sp>
        <p:nvSpPr>
          <p:cNvPr id="2" name="Text 23">
            <a:extLst>
              <a:ext uri="{FF2B5EF4-FFF2-40B4-BE49-F238E27FC236}">
                <a16:creationId xmlns:a16="http://schemas.microsoft.com/office/drawing/2014/main" id="{EFEB9E77-024E-5BD6-2E17-6B3585592896}"/>
              </a:ext>
            </a:extLst>
          </p:cNvPr>
          <p:cNvSpPr txBox="1"/>
          <p:nvPr/>
        </p:nvSpPr>
        <p:spPr>
          <a:xfrm>
            <a:off x="17077131" y="9568544"/>
            <a:ext cx="5781751" cy="6989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2000" dirty="0">
                <a:solidFill>
                  <a:srgbClr val="002C5F"/>
                </a:solidFill>
                <a:latin typeface="Noto Sans KR" pitchFamily="34" charset="0"/>
                <a:ea typeface="Noto Sans KR" pitchFamily="34" charset="-122"/>
              </a:rPr>
              <a:t>국가공인 </a:t>
            </a:r>
            <a:r>
              <a:rPr lang="en-US" altLang="ko-KR" sz="2000" dirty="0">
                <a:solidFill>
                  <a:srgbClr val="002C5F"/>
                </a:solidFill>
                <a:latin typeface="Noto Sans KR" pitchFamily="34" charset="0"/>
                <a:ea typeface="Noto Sans KR" pitchFamily="34" charset="-122"/>
              </a:rPr>
              <a:t>SQL </a:t>
            </a:r>
            <a:r>
              <a:rPr lang="ko-KR" altLang="en-US" sz="2000" dirty="0">
                <a:solidFill>
                  <a:srgbClr val="002C5F"/>
                </a:solidFill>
                <a:latin typeface="Noto Sans KR" pitchFamily="34" charset="0"/>
                <a:ea typeface="Noto Sans KR" pitchFamily="34" charset="-122"/>
              </a:rPr>
              <a:t>개발자 자격 보유</a:t>
            </a:r>
            <a:endParaRPr lang="en-US" altLang="ko-KR" sz="2000" dirty="0">
              <a:solidFill>
                <a:srgbClr val="002C5F"/>
              </a:solidFill>
              <a:latin typeface="Noto Sans KR" pitchFamily="34" charset="0"/>
              <a:ea typeface="Noto Sans KR" pitchFamily="3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62E0A2-0F82-B502-7A58-D8D3FA1CBD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>
            <a:extLst>
              <a:ext uri="{FF2B5EF4-FFF2-40B4-BE49-F238E27FC236}">
                <a16:creationId xmlns:a16="http://schemas.microsoft.com/office/drawing/2014/main" id="{0B564826-E500-33BC-E30F-9E83BB5197CB}"/>
              </a:ext>
            </a:extLst>
          </p:cNvPr>
          <p:cNvSpPr/>
          <p:nvPr/>
        </p:nvSpPr>
        <p:spPr>
          <a:xfrm>
            <a:off x="610" y="12269"/>
            <a:ext cx="24383390" cy="2286000"/>
          </a:xfrm>
          <a:prstGeom prst="rect">
            <a:avLst/>
          </a:prstGeom>
          <a:solidFill>
            <a:srgbClr val="002C5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5EF0B501-058B-C965-9B53-B34AD3B38A77}"/>
              </a:ext>
            </a:extLst>
          </p:cNvPr>
          <p:cNvSpPr/>
          <p:nvPr/>
        </p:nvSpPr>
        <p:spPr>
          <a:xfrm>
            <a:off x="1333195" y="2210105"/>
            <a:ext cx="1904695" cy="75895"/>
          </a:xfrm>
          <a:prstGeom prst="rect">
            <a:avLst/>
          </a:prstGeom>
          <a:solidFill>
            <a:srgbClr val="90D4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C67F55A2-99F5-FAD1-8E42-9BFB01E6EA59}"/>
              </a:ext>
            </a:extLst>
          </p:cNvPr>
          <p:cNvSpPr txBox="1"/>
          <p:nvPr/>
        </p:nvSpPr>
        <p:spPr>
          <a:xfrm>
            <a:off x="1333195" y="571500"/>
            <a:ext cx="56464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5900" b="1" kern="0" spc="-12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수행 프로젝트</a:t>
            </a:r>
            <a:endParaRPr lang="en-US" sz="5900" dirty="0"/>
          </a:p>
        </p:txBody>
      </p:sp>
      <p:grpSp>
        <p:nvGrpSpPr>
          <p:cNvPr id="66" name="그룹 65">
            <a:extLst>
              <a:ext uri="{FF2B5EF4-FFF2-40B4-BE49-F238E27FC236}">
                <a16:creationId xmlns:a16="http://schemas.microsoft.com/office/drawing/2014/main" id="{F122557F-CA4A-004F-AEF4-356E524C101D}"/>
              </a:ext>
            </a:extLst>
          </p:cNvPr>
          <p:cNvGrpSpPr/>
          <p:nvPr/>
        </p:nvGrpSpPr>
        <p:grpSpPr>
          <a:xfrm>
            <a:off x="607862" y="2697838"/>
            <a:ext cx="6630685" cy="179907"/>
            <a:chOff x="856791" y="7324267"/>
            <a:chExt cx="6730899" cy="170534"/>
          </a:xfrm>
        </p:grpSpPr>
        <p:pic>
          <p:nvPicPr>
            <p:cNvPr id="9" name="Image 1" descr="preencoded.png">
              <a:extLst>
                <a:ext uri="{FF2B5EF4-FFF2-40B4-BE49-F238E27FC236}">
                  <a16:creationId xmlns:a16="http://schemas.microsoft.com/office/drawing/2014/main" id="{7435456E-F357-E168-AB80-4EFDC499B0E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-1" b="98897"/>
            <a:stretch>
              <a:fillRect/>
            </a:stretch>
          </p:blipFill>
          <p:spPr>
            <a:xfrm>
              <a:off x="856792" y="7324267"/>
              <a:ext cx="6730898" cy="94640"/>
            </a:xfrm>
            <a:prstGeom prst="rect">
              <a:avLst/>
            </a:prstGeom>
          </p:spPr>
        </p:pic>
        <p:sp>
          <p:nvSpPr>
            <p:cNvPr id="12" name="Shape 7">
              <a:extLst>
                <a:ext uri="{FF2B5EF4-FFF2-40B4-BE49-F238E27FC236}">
                  <a16:creationId xmlns:a16="http://schemas.microsoft.com/office/drawing/2014/main" id="{0DFB49EF-AD18-1A23-86CF-5CB11D41BA78}"/>
                </a:ext>
              </a:extLst>
            </p:cNvPr>
            <p:cNvSpPr/>
            <p:nvPr/>
          </p:nvSpPr>
          <p:spPr>
            <a:xfrm flipV="1">
              <a:off x="856791" y="7447764"/>
              <a:ext cx="6730899" cy="47037"/>
            </a:xfrm>
            <a:prstGeom prst="rect">
              <a:avLst/>
            </a:prstGeom>
            <a:solidFill>
              <a:srgbClr val="EEEEEE"/>
            </a:solidFill>
            <a:ln w="12700">
              <a:solidFill>
                <a:srgbClr val="EEEEEE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14" name="Text 9">
            <a:extLst>
              <a:ext uri="{FF2B5EF4-FFF2-40B4-BE49-F238E27FC236}">
                <a16:creationId xmlns:a16="http://schemas.microsoft.com/office/drawing/2014/main" id="{5229AFA0-2702-F568-8D21-E3DAFB8E218D}"/>
              </a:ext>
            </a:extLst>
          </p:cNvPr>
          <p:cNvSpPr txBox="1"/>
          <p:nvPr/>
        </p:nvSpPr>
        <p:spPr>
          <a:xfrm>
            <a:off x="607862" y="3216125"/>
            <a:ext cx="6730898" cy="2590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</a:t>
            </a:r>
            <a:r>
              <a:rPr lang="ko-KR" altLang="en-US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현대자동차 </a:t>
            </a:r>
            <a:r>
              <a:rPr lang="ko-KR" altLang="en-US" b="1" dirty="0" err="1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블루멤버스</a:t>
            </a:r>
            <a:r>
              <a:rPr lang="ko-KR" altLang="en-US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고객 </a:t>
            </a:r>
            <a:r>
              <a:rPr lang="ko-KR" altLang="en-US" b="1" dirty="0" err="1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리텐션</a:t>
            </a:r>
            <a:r>
              <a:rPr lang="ko-KR" altLang="en-US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강화를 위한 프로모션</a:t>
            </a:r>
            <a:r>
              <a:rPr lang="en-US" altLang="ko-KR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</a:t>
            </a:r>
            <a:r>
              <a:rPr lang="ko-KR" altLang="en-US" b="1" dirty="0" err="1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제휴처</a:t>
            </a:r>
            <a:r>
              <a:rPr lang="ko-KR" altLang="en-US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기반 맞춤형 의사결정 </a:t>
            </a:r>
            <a:r>
              <a:rPr lang="ko-KR" altLang="en-US" b="1" dirty="0" err="1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툴킷</a:t>
            </a:r>
            <a:r>
              <a:rPr lang="en-US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]</a:t>
            </a:r>
            <a:endParaRPr lang="en-US" dirty="0"/>
          </a:p>
        </p:txBody>
      </p:sp>
      <p:sp>
        <p:nvSpPr>
          <p:cNvPr id="15" name="Text 10">
            <a:extLst>
              <a:ext uri="{FF2B5EF4-FFF2-40B4-BE49-F238E27FC236}">
                <a16:creationId xmlns:a16="http://schemas.microsoft.com/office/drawing/2014/main" id="{30D185FE-5093-4AF8-2050-9C321F684AD4}"/>
              </a:ext>
            </a:extLst>
          </p:cNvPr>
          <p:cNvSpPr txBox="1"/>
          <p:nvPr/>
        </p:nvSpPr>
        <p:spPr>
          <a:xfrm>
            <a:off x="607863" y="4153480"/>
            <a:ext cx="6730898" cy="38529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ko-KR" altLang="en-US" sz="16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</a:rPr>
              <a:t>발주처 </a:t>
            </a:r>
            <a:r>
              <a:rPr lang="en-US" altLang="ko-KR" sz="16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</a:rPr>
              <a:t>: </a:t>
            </a:r>
            <a:r>
              <a:rPr lang="ko-KR" altLang="en-US" sz="16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</a:rPr>
              <a:t>현대자동차</a:t>
            </a:r>
            <a:br>
              <a:rPr lang="ko-KR" altLang="en-US" sz="16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</a:rPr>
            </a:br>
            <a:r>
              <a:rPr lang="ko-KR" altLang="en-US" sz="16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</a:rPr>
              <a:t>소속회사 </a:t>
            </a:r>
            <a:r>
              <a:rPr lang="en-US" altLang="ko-KR" sz="16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</a:rPr>
              <a:t>: </a:t>
            </a:r>
            <a:r>
              <a:rPr lang="ko-KR" altLang="en-US" sz="16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</a:rPr>
              <a:t>고려대학교 일반대학원 경영학과</a:t>
            </a:r>
            <a:r>
              <a:rPr lang="en-US" altLang="ko-KR" sz="16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</a:rPr>
              <a:t>(Business Analytics)</a:t>
            </a:r>
            <a:br>
              <a:rPr lang="ko-KR" altLang="en-US" sz="16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</a:rPr>
            </a:br>
            <a:r>
              <a:rPr lang="ko-KR" altLang="en-US" sz="16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</a:rPr>
              <a:t>수행기간 </a:t>
            </a:r>
            <a:r>
              <a:rPr lang="en-US" altLang="ko-KR" sz="16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</a:rPr>
              <a:t>: 2025.07~2026.02</a:t>
            </a:r>
            <a:br>
              <a:rPr lang="ko-KR" altLang="en-US" sz="16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</a:rPr>
            </a:br>
            <a:r>
              <a:rPr lang="ko-KR" altLang="en-US" sz="16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</a:rPr>
              <a:t>주요역할 </a:t>
            </a:r>
            <a:r>
              <a:rPr lang="en-US" altLang="ko-KR" sz="16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</a:rPr>
              <a:t>:</a:t>
            </a:r>
            <a:br>
              <a:rPr lang="ko-KR" altLang="en-US" sz="16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</a:rPr>
            </a:br>
            <a:r>
              <a:rPr lang="ko-KR" altLang="en-US" sz="16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</a:rPr>
              <a:t>① 팀장으로서 기획</a:t>
            </a:r>
            <a:r>
              <a:rPr lang="en-US" altLang="ko-KR" sz="16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</a:rPr>
              <a:t>, </a:t>
            </a:r>
            <a:r>
              <a:rPr lang="ko-KR" altLang="en-US" sz="16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</a:rPr>
              <a:t>역할 분담</a:t>
            </a:r>
            <a:r>
              <a:rPr lang="en-US" altLang="ko-KR" sz="16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</a:rPr>
              <a:t>, </a:t>
            </a:r>
            <a:r>
              <a:rPr lang="ko-KR" altLang="en-US" sz="16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</a:rPr>
              <a:t>일정 관리</a:t>
            </a:r>
            <a:r>
              <a:rPr lang="en-US" altLang="ko-KR" sz="16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</a:rPr>
              <a:t>, </a:t>
            </a:r>
            <a:r>
              <a:rPr lang="ko-KR" altLang="en-US" sz="16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</a:rPr>
              <a:t>최종 산출물 통합을 총괄</a:t>
            </a:r>
            <a:br>
              <a:rPr lang="ko-KR" altLang="en-US" sz="16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</a:rPr>
            </a:br>
            <a:r>
              <a:rPr lang="ko-KR" altLang="en-US" sz="16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</a:rPr>
              <a:t>② 의사결정 </a:t>
            </a:r>
            <a:r>
              <a:rPr lang="ko-KR" altLang="en-US" sz="1600" dirty="0" err="1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</a:rPr>
              <a:t>툴킷의</a:t>
            </a:r>
            <a:r>
              <a:rPr lang="ko-KR" altLang="en-US" sz="16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</a:rPr>
              <a:t> 아키텍처 설계</a:t>
            </a:r>
            <a:br>
              <a:rPr lang="ko-KR" altLang="en-US" sz="16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</a:rPr>
            </a:br>
            <a:r>
              <a:rPr lang="ko-KR" altLang="en-US" sz="16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</a:rPr>
              <a:t>③ 고객 이탈지수</a:t>
            </a:r>
            <a:r>
              <a:rPr lang="en-US" altLang="ko-KR" sz="16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</a:rPr>
              <a:t>, ROI </a:t>
            </a:r>
            <a:r>
              <a:rPr lang="ko-KR" altLang="en-US" sz="16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</a:rPr>
              <a:t>등 주요지표 설계</a:t>
            </a:r>
            <a:br>
              <a:rPr lang="ko-KR" altLang="en-US" sz="16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</a:rPr>
            </a:br>
            <a:r>
              <a:rPr lang="ko-KR" altLang="en-US" sz="16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</a:rPr>
              <a:t>④ 고객군별 적합한 프로모션 </a:t>
            </a:r>
            <a:r>
              <a:rPr lang="ko-KR" altLang="en-US" sz="1600" dirty="0" err="1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</a:rPr>
              <a:t>제휴처</a:t>
            </a:r>
            <a:r>
              <a:rPr lang="ko-KR" altLang="en-US" sz="16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</a:rPr>
              <a:t> 선정을 위한 추천시스템 모델링</a:t>
            </a:r>
            <a:br>
              <a:rPr lang="ko-KR" altLang="en-US" sz="16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</a:rPr>
            </a:br>
            <a:r>
              <a:rPr lang="ko-KR" altLang="en-US" sz="16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</a:rPr>
              <a:t>⑤ 프로모션 반응 가능성을 추정하기 위한 고객 반응 예측 모델링</a:t>
            </a:r>
            <a:br>
              <a:rPr lang="ko-KR" altLang="en-US" sz="16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</a:rPr>
            </a:br>
            <a:r>
              <a:rPr lang="ko-KR" altLang="en-US" sz="16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</a:rPr>
              <a:t>⑥ 고객군별 차별화된 프로모션 전략 수립을 위한 클러스터링</a:t>
            </a:r>
            <a:br>
              <a:rPr lang="ko-KR" altLang="en-US" sz="16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</a:rPr>
            </a:br>
            <a:r>
              <a:rPr lang="ko-KR" altLang="en-US" sz="16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</a:rPr>
              <a:t>⑦ 프로모션 비용과 캠페인에 활용할 제휴처가 정해진 상황 하에</a:t>
            </a:r>
            <a:r>
              <a:rPr lang="en-US" altLang="ko-KR" sz="16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</a:rPr>
              <a:t>, </a:t>
            </a:r>
            <a:br>
              <a:rPr lang="en-US" altLang="ko-KR" sz="16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</a:rPr>
            </a:br>
            <a:r>
              <a:rPr lang="ko-KR" altLang="en-US" sz="16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</a:rPr>
              <a:t>프로모션 대상 고객을 선정하기 위한 선형계획법 기반 최적화 모형을 설계</a:t>
            </a:r>
            <a:r>
              <a:rPr lang="en-US" altLang="ko-KR" sz="16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</a:rPr>
              <a:t>·</a:t>
            </a:r>
            <a:r>
              <a:rPr lang="ko-KR" altLang="en-US" sz="16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</a:rPr>
              <a:t>구현</a:t>
            </a:r>
            <a:br>
              <a:rPr lang="ko-KR" altLang="en-US" sz="16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</a:rPr>
            </a:br>
            <a:r>
              <a:rPr lang="ko-KR" altLang="en-US" sz="16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</a:rPr>
              <a:t>⑧ 상기 모형</a:t>
            </a:r>
            <a:r>
              <a:rPr lang="en-US" altLang="ko-KR" sz="16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</a:rPr>
              <a:t>·</a:t>
            </a:r>
            <a:r>
              <a:rPr lang="ko-KR" altLang="en-US" sz="16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</a:rPr>
              <a:t>지표들을 통합한 의사결정 </a:t>
            </a:r>
            <a:r>
              <a:rPr lang="ko-KR" altLang="en-US" sz="1600" dirty="0" err="1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</a:rPr>
              <a:t>툴킷</a:t>
            </a:r>
            <a:r>
              <a:rPr lang="ko-KR" altLang="en-US" sz="16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</a:rPr>
              <a:t> 구현</a:t>
            </a:r>
            <a:r>
              <a:rPr lang="en-US" altLang="ko-KR" sz="16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</a:rPr>
              <a:t>(Python</a:t>
            </a:r>
            <a:r>
              <a:rPr lang="ko-KR" altLang="en-US" sz="16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</a:rPr>
              <a:t>활용</a:t>
            </a:r>
            <a:r>
              <a:rPr lang="en-US" altLang="ko-KR" sz="16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</a:rPr>
              <a:t>)</a:t>
            </a:r>
            <a:endParaRPr lang="en-US" sz="1600" dirty="0">
              <a:solidFill>
                <a:srgbClr val="666666"/>
              </a:solidFill>
              <a:latin typeface="Noto Sans KR" pitchFamily="34" charset="0"/>
              <a:ea typeface="Noto Sans KR" pitchFamily="34" charset="-122"/>
            </a:endParaRPr>
          </a:p>
        </p:txBody>
      </p:sp>
      <p:sp>
        <p:nvSpPr>
          <p:cNvPr id="33" name="Shape 24">
            <a:extLst>
              <a:ext uri="{FF2B5EF4-FFF2-40B4-BE49-F238E27FC236}">
                <a16:creationId xmlns:a16="http://schemas.microsoft.com/office/drawing/2014/main" id="{A5D9AE9E-BE0E-FC5E-3DC4-403D4C7A87DC}"/>
              </a:ext>
            </a:extLst>
          </p:cNvPr>
          <p:cNvSpPr/>
          <p:nvPr/>
        </p:nvSpPr>
        <p:spPr>
          <a:xfrm>
            <a:off x="18791834" y="14120775"/>
            <a:ext cx="1266444" cy="590702"/>
          </a:xfrm>
          <a:prstGeom prst="roundRect">
            <a:avLst>
              <a:gd name="adj" fmla="val 154799"/>
            </a:avLst>
          </a:prstGeom>
          <a:solidFill>
            <a:srgbClr val="F0F7FF"/>
          </a:solidFill>
          <a:ln w="12700">
            <a:solidFill>
              <a:srgbClr val="002C5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Text 25">
            <a:extLst>
              <a:ext uri="{FF2B5EF4-FFF2-40B4-BE49-F238E27FC236}">
                <a16:creationId xmlns:a16="http://schemas.microsoft.com/office/drawing/2014/main" id="{E1D24782-60DB-1A40-BCB2-75DA158476EE}"/>
              </a:ext>
            </a:extLst>
          </p:cNvPr>
          <p:cNvSpPr/>
          <p:nvPr/>
        </p:nvSpPr>
        <p:spPr>
          <a:xfrm>
            <a:off x="18763487" y="14120775"/>
            <a:ext cx="1324051" cy="5907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228600" tIns="114300" rIns="228600" bIns="11430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002C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Python</a:t>
            </a:r>
            <a:endParaRPr lang="en-US" sz="1700" dirty="0"/>
          </a:p>
        </p:txBody>
      </p:sp>
      <p:sp>
        <p:nvSpPr>
          <p:cNvPr id="35" name="Shape 26">
            <a:extLst>
              <a:ext uri="{FF2B5EF4-FFF2-40B4-BE49-F238E27FC236}">
                <a16:creationId xmlns:a16="http://schemas.microsoft.com/office/drawing/2014/main" id="{09557D08-055E-10DF-C8D4-EED5DEA263A1}"/>
              </a:ext>
            </a:extLst>
          </p:cNvPr>
          <p:cNvSpPr/>
          <p:nvPr/>
        </p:nvSpPr>
        <p:spPr>
          <a:xfrm>
            <a:off x="20199095" y="14120775"/>
            <a:ext cx="628193" cy="590702"/>
          </a:xfrm>
          <a:prstGeom prst="roundRect">
            <a:avLst>
              <a:gd name="adj" fmla="val 154799"/>
            </a:avLst>
          </a:prstGeom>
          <a:solidFill>
            <a:srgbClr val="F0F7FF"/>
          </a:solidFill>
          <a:ln w="12700">
            <a:solidFill>
              <a:srgbClr val="002C5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Text 27">
            <a:extLst>
              <a:ext uri="{FF2B5EF4-FFF2-40B4-BE49-F238E27FC236}">
                <a16:creationId xmlns:a16="http://schemas.microsoft.com/office/drawing/2014/main" id="{EEB661F5-E0DF-39D1-4E66-80F7365BC791}"/>
              </a:ext>
            </a:extLst>
          </p:cNvPr>
          <p:cNvSpPr/>
          <p:nvPr/>
        </p:nvSpPr>
        <p:spPr>
          <a:xfrm>
            <a:off x="20170749" y="14120775"/>
            <a:ext cx="685800" cy="5907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228600" tIns="114300" rIns="228600" bIns="11430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002C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</a:t>
            </a:r>
            <a:endParaRPr lang="en-US" sz="1700" dirty="0"/>
          </a:p>
        </p:txBody>
      </p:sp>
      <p:sp>
        <p:nvSpPr>
          <p:cNvPr id="37" name="Shape 28">
            <a:extLst>
              <a:ext uri="{FF2B5EF4-FFF2-40B4-BE49-F238E27FC236}">
                <a16:creationId xmlns:a16="http://schemas.microsoft.com/office/drawing/2014/main" id="{D67FC0F1-D18C-0A5D-47EB-7B3C801BF82F}"/>
              </a:ext>
            </a:extLst>
          </p:cNvPr>
          <p:cNvSpPr/>
          <p:nvPr/>
        </p:nvSpPr>
        <p:spPr>
          <a:xfrm>
            <a:off x="20968106" y="14120775"/>
            <a:ext cx="1324051" cy="590702"/>
          </a:xfrm>
          <a:prstGeom prst="roundRect">
            <a:avLst>
              <a:gd name="adj" fmla="val 154799"/>
            </a:avLst>
          </a:prstGeom>
          <a:solidFill>
            <a:srgbClr val="F0F7FF"/>
          </a:solidFill>
          <a:ln w="12700">
            <a:solidFill>
              <a:srgbClr val="002C5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Text 29">
            <a:extLst>
              <a:ext uri="{FF2B5EF4-FFF2-40B4-BE49-F238E27FC236}">
                <a16:creationId xmlns:a16="http://schemas.microsoft.com/office/drawing/2014/main" id="{D3425BB9-93FA-7B8A-EE40-801E2BCED4B7}"/>
              </a:ext>
            </a:extLst>
          </p:cNvPr>
          <p:cNvSpPr/>
          <p:nvPr/>
        </p:nvSpPr>
        <p:spPr>
          <a:xfrm>
            <a:off x="20939759" y="14120775"/>
            <a:ext cx="1381658" cy="5907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228600" tIns="114300" rIns="228600" bIns="11430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002C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통계모형</a:t>
            </a:r>
            <a:endParaRPr lang="en-US" sz="1700" dirty="0"/>
          </a:p>
        </p:txBody>
      </p:sp>
      <p:sp>
        <p:nvSpPr>
          <p:cNvPr id="39" name="Shape 30">
            <a:extLst>
              <a:ext uri="{FF2B5EF4-FFF2-40B4-BE49-F238E27FC236}">
                <a16:creationId xmlns:a16="http://schemas.microsoft.com/office/drawing/2014/main" id="{54C12298-B0EA-171B-B378-BCF746C71C0D}"/>
              </a:ext>
            </a:extLst>
          </p:cNvPr>
          <p:cNvSpPr/>
          <p:nvPr/>
        </p:nvSpPr>
        <p:spPr>
          <a:xfrm>
            <a:off x="22429317" y="14120775"/>
            <a:ext cx="1324051" cy="590702"/>
          </a:xfrm>
          <a:prstGeom prst="roundRect">
            <a:avLst>
              <a:gd name="adj" fmla="val 154799"/>
            </a:avLst>
          </a:prstGeom>
          <a:solidFill>
            <a:srgbClr val="F0F7FF"/>
          </a:solidFill>
          <a:ln w="12700">
            <a:solidFill>
              <a:srgbClr val="002C5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Text 31">
            <a:extLst>
              <a:ext uri="{FF2B5EF4-FFF2-40B4-BE49-F238E27FC236}">
                <a16:creationId xmlns:a16="http://schemas.microsoft.com/office/drawing/2014/main" id="{68205FD8-22EC-C8DA-F986-24D36D454303}"/>
              </a:ext>
            </a:extLst>
          </p:cNvPr>
          <p:cNvSpPr/>
          <p:nvPr/>
        </p:nvSpPr>
        <p:spPr>
          <a:xfrm>
            <a:off x="22400056" y="14120775"/>
            <a:ext cx="1381658" cy="5907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228600" tIns="114300" rIns="228600" bIns="11430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002C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정책평가</a:t>
            </a:r>
            <a:endParaRPr lang="en-US" sz="1700" dirty="0"/>
          </a:p>
        </p:txBody>
      </p:sp>
      <p:sp>
        <p:nvSpPr>
          <p:cNvPr id="42" name="Shape 33">
            <a:extLst>
              <a:ext uri="{FF2B5EF4-FFF2-40B4-BE49-F238E27FC236}">
                <a16:creationId xmlns:a16="http://schemas.microsoft.com/office/drawing/2014/main" id="{FA7C30A0-765A-EC26-5644-4131D47C40FD}"/>
              </a:ext>
            </a:extLst>
          </p:cNvPr>
          <p:cNvSpPr/>
          <p:nvPr/>
        </p:nvSpPr>
        <p:spPr>
          <a:xfrm>
            <a:off x="18791834" y="15539923"/>
            <a:ext cx="1600200" cy="590702"/>
          </a:xfrm>
          <a:prstGeom prst="roundRect">
            <a:avLst>
              <a:gd name="adj" fmla="val 154799"/>
            </a:avLst>
          </a:prstGeom>
          <a:solidFill>
            <a:srgbClr val="F0F7FF"/>
          </a:solidFill>
          <a:ln w="12700">
            <a:solidFill>
              <a:srgbClr val="002C5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Text 34">
            <a:extLst>
              <a:ext uri="{FF2B5EF4-FFF2-40B4-BE49-F238E27FC236}">
                <a16:creationId xmlns:a16="http://schemas.microsoft.com/office/drawing/2014/main" id="{B5D56E78-F9D0-112E-C3BD-58DCE6E8B418}"/>
              </a:ext>
            </a:extLst>
          </p:cNvPr>
          <p:cNvSpPr/>
          <p:nvPr/>
        </p:nvSpPr>
        <p:spPr>
          <a:xfrm>
            <a:off x="18759830" y="15539923"/>
            <a:ext cx="1664208" cy="5907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228600" tIns="114300" rIns="228600" bIns="11430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002C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보고서 작성</a:t>
            </a:r>
            <a:endParaRPr lang="en-US" sz="1700" dirty="0"/>
          </a:p>
        </p:txBody>
      </p:sp>
      <p:sp>
        <p:nvSpPr>
          <p:cNvPr id="44" name="Shape 35">
            <a:extLst>
              <a:ext uri="{FF2B5EF4-FFF2-40B4-BE49-F238E27FC236}">
                <a16:creationId xmlns:a16="http://schemas.microsoft.com/office/drawing/2014/main" id="{38C0CD48-66F9-A1DC-7D5B-3532653E199E}"/>
              </a:ext>
            </a:extLst>
          </p:cNvPr>
          <p:cNvSpPr/>
          <p:nvPr/>
        </p:nvSpPr>
        <p:spPr>
          <a:xfrm>
            <a:off x="20526451" y="15539923"/>
            <a:ext cx="1809598" cy="590702"/>
          </a:xfrm>
          <a:prstGeom prst="roundRect">
            <a:avLst>
              <a:gd name="adj" fmla="val 154799"/>
            </a:avLst>
          </a:prstGeom>
          <a:solidFill>
            <a:srgbClr val="F0F7FF"/>
          </a:solidFill>
          <a:ln w="12700">
            <a:solidFill>
              <a:srgbClr val="002C5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Text 36">
            <a:extLst>
              <a:ext uri="{FF2B5EF4-FFF2-40B4-BE49-F238E27FC236}">
                <a16:creationId xmlns:a16="http://schemas.microsoft.com/office/drawing/2014/main" id="{4EFE6C2E-7548-1E42-3CE4-4CB1A5DBAFCC}"/>
              </a:ext>
            </a:extLst>
          </p:cNvPr>
          <p:cNvSpPr/>
          <p:nvPr/>
        </p:nvSpPr>
        <p:spPr>
          <a:xfrm>
            <a:off x="20490789" y="15539923"/>
            <a:ext cx="1882750" cy="5907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228600" tIns="114300" rIns="228600" bIns="11430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002C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발표자료 구성</a:t>
            </a:r>
            <a:endParaRPr lang="en-US" sz="1700" dirty="0"/>
          </a:p>
        </p:txBody>
      </p:sp>
      <p:sp>
        <p:nvSpPr>
          <p:cNvPr id="47" name="Shape 38">
            <a:extLst>
              <a:ext uri="{FF2B5EF4-FFF2-40B4-BE49-F238E27FC236}">
                <a16:creationId xmlns:a16="http://schemas.microsoft.com/office/drawing/2014/main" id="{41EDA6E9-D5A3-5C7B-1652-8A3A65955520}"/>
              </a:ext>
            </a:extLst>
          </p:cNvPr>
          <p:cNvSpPr/>
          <p:nvPr/>
        </p:nvSpPr>
        <p:spPr>
          <a:xfrm>
            <a:off x="18791834" y="16959072"/>
            <a:ext cx="2438705" cy="590702"/>
          </a:xfrm>
          <a:prstGeom prst="roundRect">
            <a:avLst>
              <a:gd name="adj" fmla="val 154799"/>
            </a:avLst>
          </a:prstGeom>
          <a:solidFill>
            <a:srgbClr val="F0F7FF"/>
          </a:solidFill>
          <a:ln w="12700">
            <a:solidFill>
              <a:srgbClr val="002C5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Text 39">
            <a:extLst>
              <a:ext uri="{FF2B5EF4-FFF2-40B4-BE49-F238E27FC236}">
                <a16:creationId xmlns:a16="http://schemas.microsoft.com/office/drawing/2014/main" id="{99ADB83E-EC73-851C-5067-B0855B91C37C}"/>
              </a:ext>
            </a:extLst>
          </p:cNvPr>
          <p:cNvSpPr/>
          <p:nvPr/>
        </p:nvSpPr>
        <p:spPr>
          <a:xfrm>
            <a:off x="18748857" y="16959072"/>
            <a:ext cx="2524658" cy="5907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228600" tIns="114300" rIns="228600" bIns="11430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002C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 매니지먼트</a:t>
            </a:r>
            <a:endParaRPr lang="en-US" sz="1700" dirty="0"/>
          </a:p>
        </p:txBody>
      </p:sp>
      <p:sp>
        <p:nvSpPr>
          <p:cNvPr id="2" name="Text 9">
            <a:extLst>
              <a:ext uri="{FF2B5EF4-FFF2-40B4-BE49-F238E27FC236}">
                <a16:creationId xmlns:a16="http://schemas.microsoft.com/office/drawing/2014/main" id="{434E9F68-5129-7748-EE6C-0CC851D9CD0E}"/>
              </a:ext>
            </a:extLst>
          </p:cNvPr>
          <p:cNvSpPr txBox="1"/>
          <p:nvPr/>
        </p:nvSpPr>
        <p:spPr>
          <a:xfrm>
            <a:off x="607863" y="8791549"/>
            <a:ext cx="6730898" cy="2590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</a:t>
            </a:r>
            <a:r>
              <a:rPr lang="ko-KR" altLang="en-US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충주시 노인건강복지관 건립 타당성 조사 및 기본계획 수립 용역</a:t>
            </a:r>
            <a:r>
              <a:rPr lang="en-US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]</a:t>
            </a:r>
            <a:endParaRPr lang="en-US" dirty="0"/>
          </a:p>
        </p:txBody>
      </p:sp>
      <p:sp>
        <p:nvSpPr>
          <p:cNvPr id="3" name="Text 10">
            <a:extLst>
              <a:ext uri="{FF2B5EF4-FFF2-40B4-BE49-F238E27FC236}">
                <a16:creationId xmlns:a16="http://schemas.microsoft.com/office/drawing/2014/main" id="{56516114-F8D8-8AC0-C4DD-5525D37EC345}"/>
              </a:ext>
            </a:extLst>
          </p:cNvPr>
          <p:cNvSpPr txBox="1"/>
          <p:nvPr/>
        </p:nvSpPr>
        <p:spPr>
          <a:xfrm>
            <a:off x="607863" y="9268362"/>
            <a:ext cx="6194993" cy="2731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ko-KR" altLang="en-US" sz="16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</a:rPr>
              <a:t>발주처 </a:t>
            </a:r>
            <a:r>
              <a:rPr lang="en-US" altLang="ko-KR" sz="16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</a:rPr>
              <a:t>: </a:t>
            </a:r>
            <a:r>
              <a:rPr lang="ko-KR" altLang="en-US" sz="16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</a:rPr>
              <a:t>충청북도 충주시</a:t>
            </a:r>
          </a:p>
          <a:p>
            <a:pPr>
              <a:lnSpc>
                <a:spcPct val="150000"/>
              </a:lnSpc>
            </a:pPr>
            <a:r>
              <a:rPr lang="ko-KR" altLang="en-US" sz="16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</a:rPr>
              <a:t>소속회사 </a:t>
            </a:r>
            <a:r>
              <a:rPr lang="en-US" altLang="ko-KR" sz="16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</a:rPr>
              <a:t>: (</a:t>
            </a:r>
            <a:r>
              <a:rPr lang="ko-KR" altLang="en-US" sz="16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</a:rPr>
              <a:t>재</a:t>
            </a:r>
            <a:r>
              <a:rPr lang="en-US" altLang="ko-KR" sz="16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</a:rPr>
              <a:t>)</a:t>
            </a:r>
            <a:r>
              <a:rPr lang="ko-KR" altLang="en-US" sz="16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</a:rPr>
              <a:t>한국종합경제연구원</a:t>
            </a:r>
          </a:p>
          <a:p>
            <a:pPr>
              <a:lnSpc>
                <a:spcPct val="150000"/>
              </a:lnSpc>
            </a:pPr>
            <a:r>
              <a:rPr lang="ko-KR" altLang="en-US" sz="16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</a:rPr>
              <a:t>수행기간 </a:t>
            </a:r>
            <a:r>
              <a:rPr lang="en-US" altLang="ko-KR" sz="16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</a:rPr>
              <a:t>: 2022.11.~2023.02.</a:t>
            </a:r>
          </a:p>
          <a:p>
            <a:pPr>
              <a:lnSpc>
                <a:spcPct val="150000"/>
              </a:lnSpc>
            </a:pPr>
            <a:r>
              <a:rPr lang="ko-KR" altLang="en-US" sz="16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</a:rPr>
              <a:t>주요 역할 </a:t>
            </a:r>
            <a:r>
              <a:rPr lang="en-US" altLang="ko-KR" sz="16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</a:rPr>
              <a:t>:</a:t>
            </a:r>
          </a:p>
          <a:p>
            <a:pPr>
              <a:lnSpc>
                <a:spcPct val="150000"/>
              </a:lnSpc>
            </a:pPr>
            <a:r>
              <a:rPr lang="en-US" altLang="ko-KR" sz="16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</a:rPr>
              <a:t>① </a:t>
            </a:r>
            <a:r>
              <a:rPr lang="ko-KR" altLang="en-US" sz="16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</a:rPr>
              <a:t>충주시 일반현황 조사</a:t>
            </a:r>
          </a:p>
          <a:p>
            <a:pPr>
              <a:lnSpc>
                <a:spcPct val="150000"/>
              </a:lnSpc>
            </a:pPr>
            <a:r>
              <a:rPr lang="ko-KR" altLang="en-US" sz="16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</a:rPr>
              <a:t>② 충주시 노인복지 현황 조사</a:t>
            </a:r>
          </a:p>
          <a:p>
            <a:pPr>
              <a:lnSpc>
                <a:spcPct val="150000"/>
              </a:lnSpc>
            </a:pPr>
            <a:r>
              <a:rPr lang="ko-KR" altLang="en-US" sz="16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</a:rPr>
              <a:t>③ 타지자체 사회복지시설 사례 조사</a:t>
            </a:r>
          </a:p>
          <a:p>
            <a:pPr>
              <a:lnSpc>
                <a:spcPct val="150000"/>
              </a:lnSpc>
            </a:pPr>
            <a:r>
              <a:rPr lang="ko-KR" altLang="en-US" sz="16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</a:rPr>
              <a:t>④ 주민 요구사항 반영 및 수요 파악을 위한 설문조사</a:t>
            </a:r>
          </a:p>
        </p:txBody>
      </p:sp>
      <p:sp>
        <p:nvSpPr>
          <p:cNvPr id="8" name="Text 9">
            <a:extLst>
              <a:ext uri="{FF2B5EF4-FFF2-40B4-BE49-F238E27FC236}">
                <a16:creationId xmlns:a16="http://schemas.microsoft.com/office/drawing/2014/main" id="{0F3C0865-7903-7D32-D8CF-F1CB2129C5A7}"/>
              </a:ext>
            </a:extLst>
          </p:cNvPr>
          <p:cNvSpPr txBox="1"/>
          <p:nvPr/>
        </p:nvSpPr>
        <p:spPr>
          <a:xfrm>
            <a:off x="7760802" y="3207034"/>
            <a:ext cx="6730898" cy="2590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</a:t>
            </a:r>
            <a:r>
              <a:rPr lang="ko-KR" altLang="en-US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광주전남</a:t>
            </a:r>
            <a:r>
              <a:rPr lang="en-US" altLang="ko-KR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21 </a:t>
            </a:r>
            <a:r>
              <a:rPr lang="ko-KR" altLang="en-US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공공지원</a:t>
            </a:r>
            <a:r>
              <a:rPr lang="en-US" altLang="ko-KR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 </a:t>
            </a:r>
            <a:r>
              <a:rPr lang="ko-KR" altLang="en-US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공공지원민간임대주택 공급촉진지구 사업타당성조사</a:t>
            </a:r>
            <a:r>
              <a:rPr lang="en-US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]</a:t>
            </a:r>
            <a:endParaRPr lang="en-US" dirty="0"/>
          </a:p>
        </p:txBody>
      </p:sp>
      <p:sp>
        <p:nvSpPr>
          <p:cNvPr id="18" name="Text 10">
            <a:extLst>
              <a:ext uri="{FF2B5EF4-FFF2-40B4-BE49-F238E27FC236}">
                <a16:creationId xmlns:a16="http://schemas.microsoft.com/office/drawing/2014/main" id="{4D933BC1-F06B-D787-CCB2-EB5C79A5BEF4}"/>
              </a:ext>
            </a:extLst>
          </p:cNvPr>
          <p:cNvSpPr txBox="1"/>
          <p:nvPr/>
        </p:nvSpPr>
        <p:spPr>
          <a:xfrm>
            <a:off x="7794170" y="3665539"/>
            <a:ext cx="698429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ko-KR" altLang="en-US" sz="16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</a:rPr>
              <a:t>발주처 </a:t>
            </a:r>
            <a:r>
              <a:rPr lang="en-US" altLang="ko-KR" sz="16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</a:rPr>
              <a:t>: </a:t>
            </a:r>
            <a:r>
              <a:rPr lang="ko-KR" altLang="en-US" sz="16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</a:rPr>
              <a:t>한국토지주택공사 </a:t>
            </a:r>
            <a:r>
              <a:rPr lang="ko-KR" altLang="en-US" sz="1600" dirty="0" err="1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</a:rPr>
              <a:t>광주전남지역본부</a:t>
            </a:r>
            <a:endParaRPr lang="ko-KR" altLang="en-US" sz="1600" dirty="0">
              <a:solidFill>
                <a:srgbClr val="666666"/>
              </a:solidFill>
              <a:latin typeface="Noto Sans KR" pitchFamily="34" charset="0"/>
              <a:ea typeface="Noto Sans KR" pitchFamily="34" charset="-122"/>
            </a:endParaRPr>
          </a:p>
          <a:p>
            <a:pPr>
              <a:lnSpc>
                <a:spcPct val="150000"/>
              </a:lnSpc>
            </a:pPr>
            <a:r>
              <a:rPr lang="ko-KR" altLang="en-US" sz="16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</a:rPr>
              <a:t>소속회사 </a:t>
            </a:r>
            <a:r>
              <a:rPr lang="en-US" altLang="ko-KR" sz="16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</a:rPr>
              <a:t>: (</a:t>
            </a:r>
            <a:r>
              <a:rPr lang="ko-KR" altLang="en-US" sz="16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</a:rPr>
              <a:t>재</a:t>
            </a:r>
            <a:r>
              <a:rPr lang="en-US" altLang="ko-KR" sz="16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</a:rPr>
              <a:t>)</a:t>
            </a:r>
            <a:r>
              <a:rPr lang="ko-KR" altLang="en-US" sz="16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</a:rPr>
              <a:t>한국종합경제연구원</a:t>
            </a:r>
          </a:p>
          <a:p>
            <a:pPr>
              <a:lnSpc>
                <a:spcPct val="150000"/>
              </a:lnSpc>
            </a:pPr>
            <a:r>
              <a:rPr lang="ko-KR" altLang="en-US" sz="16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</a:rPr>
              <a:t>수행기간 </a:t>
            </a:r>
            <a:r>
              <a:rPr lang="en-US" altLang="ko-KR" sz="16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</a:rPr>
              <a:t>: 2022.01~2023.02.</a:t>
            </a:r>
          </a:p>
          <a:p>
            <a:pPr>
              <a:lnSpc>
                <a:spcPct val="150000"/>
              </a:lnSpc>
            </a:pPr>
            <a:r>
              <a:rPr lang="ko-KR" altLang="en-US" sz="16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</a:rPr>
              <a:t>주요 역할 </a:t>
            </a:r>
            <a:r>
              <a:rPr lang="en-US" altLang="ko-KR" sz="16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</a:rPr>
              <a:t>:</a:t>
            </a:r>
          </a:p>
          <a:p>
            <a:pPr>
              <a:lnSpc>
                <a:spcPct val="150000"/>
              </a:lnSpc>
            </a:pPr>
            <a:r>
              <a:rPr lang="en-US" altLang="ko-KR" sz="16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</a:rPr>
              <a:t>① </a:t>
            </a:r>
            <a:r>
              <a:rPr lang="ko-KR" altLang="en-US" sz="16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</a:rPr>
              <a:t>사업대상지 현황 및 여건분석</a:t>
            </a:r>
          </a:p>
          <a:p>
            <a:pPr>
              <a:lnSpc>
                <a:spcPct val="150000"/>
              </a:lnSpc>
            </a:pPr>
            <a:r>
              <a:rPr lang="ko-KR" altLang="en-US" sz="16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</a:rPr>
              <a:t>② </a:t>
            </a:r>
            <a:r>
              <a:rPr lang="en-US" altLang="ko-KR" sz="16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</a:rPr>
              <a:t>LH</a:t>
            </a:r>
            <a:r>
              <a:rPr lang="ko-KR" altLang="en-US" sz="16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</a:rPr>
              <a:t>토지주택연구원 개발 모델</a:t>
            </a:r>
            <a:r>
              <a:rPr lang="en-US" altLang="ko-KR" sz="16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</a:rPr>
              <a:t>(Mankiw–Weil</a:t>
            </a:r>
            <a:r>
              <a:rPr lang="ko-KR" altLang="en-US" sz="16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</a:rPr>
              <a:t>모델 기반</a:t>
            </a:r>
            <a:r>
              <a:rPr lang="en-US" altLang="ko-KR" sz="16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</a:rPr>
              <a:t>)</a:t>
            </a:r>
            <a:r>
              <a:rPr lang="ko-KR" altLang="en-US" sz="16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</a:rPr>
              <a:t>을 활용한 주택수요추정</a:t>
            </a:r>
            <a:endParaRPr lang="en-US" sz="1600" dirty="0">
              <a:solidFill>
                <a:srgbClr val="666666"/>
              </a:solidFill>
              <a:latin typeface="Noto Sans KR" pitchFamily="34" charset="0"/>
              <a:ea typeface="Noto Sans KR" pitchFamily="34" charset="-122"/>
            </a:endParaRPr>
          </a:p>
        </p:txBody>
      </p:sp>
      <p:sp>
        <p:nvSpPr>
          <p:cNvPr id="21" name="Text 9">
            <a:extLst>
              <a:ext uri="{FF2B5EF4-FFF2-40B4-BE49-F238E27FC236}">
                <a16:creationId xmlns:a16="http://schemas.microsoft.com/office/drawing/2014/main" id="{417FA107-E83F-4401-BD3B-6BFAAFE43705}"/>
              </a:ext>
            </a:extLst>
          </p:cNvPr>
          <p:cNvSpPr txBox="1"/>
          <p:nvPr/>
        </p:nvSpPr>
        <p:spPr>
          <a:xfrm>
            <a:off x="7760802" y="6202561"/>
            <a:ext cx="7017658" cy="392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</a:t>
            </a:r>
            <a:r>
              <a:rPr lang="ko-KR" altLang="en-US" b="1" dirty="0" err="1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영흥면</a:t>
            </a:r>
            <a:r>
              <a:rPr lang="ko-KR" altLang="en-US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사회복지시설</a:t>
            </a:r>
            <a:r>
              <a:rPr lang="en-US" altLang="ko-KR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</a:t>
            </a:r>
            <a:r>
              <a:rPr lang="ko-KR" altLang="en-US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사회복지관 및 노인복지관</a:t>
            </a:r>
            <a:r>
              <a:rPr lang="en-US" altLang="ko-KR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) </a:t>
            </a:r>
            <a:r>
              <a:rPr lang="ko-KR" altLang="en-US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건립 타당성조사 용역</a:t>
            </a:r>
            <a:r>
              <a:rPr lang="en-US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]</a:t>
            </a:r>
            <a:endParaRPr lang="en-US" dirty="0"/>
          </a:p>
        </p:txBody>
      </p:sp>
      <p:sp>
        <p:nvSpPr>
          <p:cNvPr id="27" name="Text 10">
            <a:extLst>
              <a:ext uri="{FF2B5EF4-FFF2-40B4-BE49-F238E27FC236}">
                <a16:creationId xmlns:a16="http://schemas.microsoft.com/office/drawing/2014/main" id="{F8282C9C-D242-231B-7E09-A31E616AEAD8}"/>
              </a:ext>
            </a:extLst>
          </p:cNvPr>
          <p:cNvSpPr txBox="1"/>
          <p:nvPr/>
        </p:nvSpPr>
        <p:spPr>
          <a:xfrm>
            <a:off x="7760802" y="6787953"/>
            <a:ext cx="684701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ko-KR" altLang="en-US" sz="16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</a:rPr>
              <a:t>발주처 </a:t>
            </a:r>
            <a:r>
              <a:rPr lang="en-US" altLang="ko-KR" sz="16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</a:rPr>
              <a:t>: </a:t>
            </a:r>
            <a:r>
              <a:rPr lang="ko-KR" altLang="en-US" sz="16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</a:rPr>
              <a:t>인천광역시 옹진군</a:t>
            </a:r>
          </a:p>
          <a:p>
            <a:pPr>
              <a:lnSpc>
                <a:spcPct val="150000"/>
              </a:lnSpc>
            </a:pPr>
            <a:r>
              <a:rPr lang="ko-KR" altLang="en-US" sz="16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</a:rPr>
              <a:t>소속회사 </a:t>
            </a:r>
            <a:r>
              <a:rPr lang="en-US" altLang="ko-KR" sz="16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</a:rPr>
              <a:t>: (</a:t>
            </a:r>
            <a:r>
              <a:rPr lang="ko-KR" altLang="en-US" sz="16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</a:rPr>
              <a:t>재</a:t>
            </a:r>
            <a:r>
              <a:rPr lang="en-US" altLang="ko-KR" sz="16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</a:rPr>
              <a:t>)</a:t>
            </a:r>
            <a:r>
              <a:rPr lang="ko-KR" altLang="en-US" sz="16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</a:rPr>
              <a:t>한국종합경제연구원</a:t>
            </a:r>
          </a:p>
          <a:p>
            <a:pPr>
              <a:lnSpc>
                <a:spcPct val="150000"/>
              </a:lnSpc>
            </a:pPr>
            <a:r>
              <a:rPr lang="ko-KR" altLang="en-US" sz="16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</a:rPr>
              <a:t>수행기간 </a:t>
            </a:r>
            <a:r>
              <a:rPr lang="en-US" altLang="ko-KR" sz="16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</a:rPr>
              <a:t>: 2022.10~2023.02.</a:t>
            </a:r>
          </a:p>
          <a:p>
            <a:pPr>
              <a:lnSpc>
                <a:spcPct val="150000"/>
              </a:lnSpc>
            </a:pPr>
            <a:r>
              <a:rPr lang="ko-KR" altLang="en-US" sz="16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</a:rPr>
              <a:t>주요 역할 </a:t>
            </a:r>
            <a:r>
              <a:rPr lang="en-US" altLang="ko-KR" sz="16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</a:rPr>
              <a:t>:</a:t>
            </a:r>
          </a:p>
          <a:p>
            <a:pPr>
              <a:lnSpc>
                <a:spcPct val="150000"/>
              </a:lnSpc>
            </a:pPr>
            <a:r>
              <a:rPr lang="en-US" altLang="ko-KR" sz="16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</a:rPr>
              <a:t>① </a:t>
            </a:r>
            <a:r>
              <a:rPr lang="ko-KR" altLang="en-US" sz="16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</a:rPr>
              <a:t>옹진군 일반현황 조사</a:t>
            </a:r>
          </a:p>
          <a:p>
            <a:pPr>
              <a:lnSpc>
                <a:spcPct val="150000"/>
              </a:lnSpc>
            </a:pPr>
            <a:r>
              <a:rPr lang="ko-KR" altLang="en-US" sz="16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</a:rPr>
              <a:t>② 타지자체 사회복지시설 사례조사</a:t>
            </a:r>
          </a:p>
          <a:p>
            <a:pPr>
              <a:lnSpc>
                <a:spcPct val="150000"/>
              </a:lnSpc>
            </a:pPr>
            <a:r>
              <a:rPr lang="ko-KR" altLang="en-US" sz="16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</a:rPr>
              <a:t>③ 주민 요구사항 반영 및 수요 파악을 위한 설문조사</a:t>
            </a:r>
            <a:endParaRPr lang="en-US" sz="1600" dirty="0">
              <a:solidFill>
                <a:srgbClr val="666666"/>
              </a:solidFill>
              <a:latin typeface="Noto Sans KR" pitchFamily="34" charset="0"/>
              <a:ea typeface="Noto Sans KR" pitchFamily="34" charset="-122"/>
            </a:endParaRPr>
          </a:p>
        </p:txBody>
      </p:sp>
      <p:sp>
        <p:nvSpPr>
          <p:cNvPr id="30" name="Text 9">
            <a:extLst>
              <a:ext uri="{FF2B5EF4-FFF2-40B4-BE49-F238E27FC236}">
                <a16:creationId xmlns:a16="http://schemas.microsoft.com/office/drawing/2014/main" id="{12DE8967-2048-75B4-C4F2-1197373C5D20}"/>
              </a:ext>
            </a:extLst>
          </p:cNvPr>
          <p:cNvSpPr txBox="1"/>
          <p:nvPr/>
        </p:nvSpPr>
        <p:spPr>
          <a:xfrm>
            <a:off x="7794170" y="9499139"/>
            <a:ext cx="7017658" cy="392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</a:t>
            </a:r>
            <a:r>
              <a:rPr lang="ko-KR" altLang="en-US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인천광역시 건축위원회 심의대상지역 지정 및 심의기준 제정용역</a:t>
            </a:r>
            <a:r>
              <a:rPr lang="en-US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]</a:t>
            </a:r>
            <a:endParaRPr lang="en-US" dirty="0"/>
          </a:p>
        </p:txBody>
      </p:sp>
      <p:sp>
        <p:nvSpPr>
          <p:cNvPr id="41" name="Text 10">
            <a:extLst>
              <a:ext uri="{FF2B5EF4-FFF2-40B4-BE49-F238E27FC236}">
                <a16:creationId xmlns:a16="http://schemas.microsoft.com/office/drawing/2014/main" id="{AB70C7C4-38FA-41FF-5866-988F5B213686}"/>
              </a:ext>
            </a:extLst>
          </p:cNvPr>
          <p:cNvSpPr txBox="1"/>
          <p:nvPr/>
        </p:nvSpPr>
        <p:spPr>
          <a:xfrm>
            <a:off x="7794171" y="9929300"/>
            <a:ext cx="653143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ko-KR" altLang="en-US" sz="16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</a:rPr>
              <a:t>발주처 </a:t>
            </a:r>
            <a:r>
              <a:rPr lang="en-US" altLang="ko-KR" sz="16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</a:rPr>
              <a:t>: </a:t>
            </a:r>
            <a:r>
              <a:rPr lang="ko-KR" altLang="en-US" sz="16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</a:rPr>
              <a:t>인천광역시</a:t>
            </a:r>
          </a:p>
          <a:p>
            <a:pPr>
              <a:lnSpc>
                <a:spcPct val="150000"/>
              </a:lnSpc>
            </a:pPr>
            <a:r>
              <a:rPr lang="ko-KR" altLang="en-US" sz="16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</a:rPr>
              <a:t>소속회사 </a:t>
            </a:r>
            <a:r>
              <a:rPr lang="en-US" altLang="ko-KR" sz="16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</a:rPr>
              <a:t>: (</a:t>
            </a:r>
            <a:r>
              <a:rPr lang="ko-KR" altLang="en-US" sz="16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</a:rPr>
              <a:t>재</a:t>
            </a:r>
            <a:r>
              <a:rPr lang="en-US" altLang="ko-KR" sz="16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</a:rPr>
              <a:t>)</a:t>
            </a:r>
            <a:r>
              <a:rPr lang="ko-KR" altLang="en-US" sz="16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</a:rPr>
              <a:t>한국종합경제연구원</a:t>
            </a:r>
          </a:p>
          <a:p>
            <a:pPr>
              <a:lnSpc>
                <a:spcPct val="150000"/>
              </a:lnSpc>
            </a:pPr>
            <a:r>
              <a:rPr lang="ko-KR" altLang="en-US" sz="16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</a:rPr>
              <a:t>수행 기간 </a:t>
            </a:r>
            <a:r>
              <a:rPr lang="en-US" altLang="ko-KR" sz="16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</a:rPr>
              <a:t>: 2021.07. ~ 2022.11.</a:t>
            </a:r>
          </a:p>
          <a:p>
            <a:pPr>
              <a:lnSpc>
                <a:spcPct val="150000"/>
              </a:lnSpc>
            </a:pPr>
            <a:r>
              <a:rPr lang="ko-KR" altLang="en-US" sz="16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</a:rPr>
              <a:t>주요 역할 </a:t>
            </a:r>
            <a:r>
              <a:rPr lang="en-US" altLang="ko-KR" sz="16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</a:rPr>
              <a:t>:</a:t>
            </a:r>
          </a:p>
          <a:p>
            <a:pPr>
              <a:lnSpc>
                <a:spcPct val="150000"/>
              </a:lnSpc>
            </a:pPr>
            <a:r>
              <a:rPr lang="en-US" altLang="ko-KR" sz="16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</a:rPr>
              <a:t>① </a:t>
            </a:r>
            <a:r>
              <a:rPr lang="ko-KR" altLang="en-US" sz="16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</a:rPr>
              <a:t>인천광역시 일반현황 조사</a:t>
            </a:r>
          </a:p>
          <a:p>
            <a:pPr>
              <a:lnSpc>
                <a:spcPct val="150000"/>
              </a:lnSpc>
            </a:pPr>
            <a:r>
              <a:rPr lang="ko-KR" altLang="en-US" sz="16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</a:rPr>
              <a:t>② 타지자체 건축위원회 현황 조사</a:t>
            </a:r>
            <a:endParaRPr lang="en-US" sz="1600" dirty="0">
              <a:solidFill>
                <a:srgbClr val="666666"/>
              </a:solidFill>
              <a:latin typeface="Noto Sans KR" pitchFamily="34" charset="0"/>
              <a:ea typeface="Noto Sans KR" pitchFamily="34" charset="-122"/>
            </a:endParaRPr>
          </a:p>
        </p:txBody>
      </p:sp>
      <p:sp>
        <p:nvSpPr>
          <p:cNvPr id="62" name="Text 9">
            <a:extLst>
              <a:ext uri="{FF2B5EF4-FFF2-40B4-BE49-F238E27FC236}">
                <a16:creationId xmlns:a16="http://schemas.microsoft.com/office/drawing/2014/main" id="{FE88DC62-D757-956B-52D2-DA022C20D612}"/>
              </a:ext>
            </a:extLst>
          </p:cNvPr>
          <p:cNvSpPr txBox="1"/>
          <p:nvPr/>
        </p:nvSpPr>
        <p:spPr>
          <a:xfrm>
            <a:off x="15550179" y="3098914"/>
            <a:ext cx="7822693" cy="2344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</a:t>
            </a:r>
            <a:r>
              <a:rPr lang="ko-KR" altLang="en-US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개인형 이동장치 대여 서비스 가격 실태조사 및 안전 제공에 대한 소비자부담 안정화 방안 연구</a:t>
            </a:r>
            <a:r>
              <a:rPr lang="en-US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]</a:t>
            </a:r>
            <a:endParaRPr lang="en-US" dirty="0"/>
          </a:p>
        </p:txBody>
      </p:sp>
      <p:sp>
        <p:nvSpPr>
          <p:cNvPr id="67" name="Text 10">
            <a:extLst>
              <a:ext uri="{FF2B5EF4-FFF2-40B4-BE49-F238E27FC236}">
                <a16:creationId xmlns:a16="http://schemas.microsoft.com/office/drawing/2014/main" id="{6110539D-DC43-1E92-6C69-A876085CE15C}"/>
              </a:ext>
            </a:extLst>
          </p:cNvPr>
          <p:cNvSpPr txBox="1"/>
          <p:nvPr/>
        </p:nvSpPr>
        <p:spPr>
          <a:xfrm>
            <a:off x="15550179" y="3789452"/>
            <a:ext cx="8489071" cy="22510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ko-KR" altLang="en-US" sz="16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</a:rPr>
              <a:t>발주처 </a:t>
            </a:r>
            <a:r>
              <a:rPr lang="en-US" altLang="ko-KR" sz="16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</a:rPr>
              <a:t>: </a:t>
            </a:r>
            <a:r>
              <a:rPr lang="ko-KR" altLang="en-US" sz="16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</a:rPr>
              <a:t>기획재정부</a:t>
            </a:r>
          </a:p>
          <a:p>
            <a:pPr>
              <a:lnSpc>
                <a:spcPct val="150000"/>
              </a:lnSpc>
            </a:pPr>
            <a:r>
              <a:rPr lang="ko-KR" altLang="en-US" sz="16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</a:rPr>
              <a:t>연계</a:t>
            </a:r>
            <a:r>
              <a:rPr lang="en-US" altLang="ko-KR" sz="16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</a:rPr>
              <a:t>/</a:t>
            </a:r>
            <a:r>
              <a:rPr lang="ko-KR" altLang="en-US" sz="16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</a:rPr>
              <a:t>소속회사 </a:t>
            </a:r>
            <a:r>
              <a:rPr lang="en-US" altLang="ko-KR" sz="16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</a:rPr>
              <a:t>: (</a:t>
            </a:r>
            <a:r>
              <a:rPr lang="ko-KR" altLang="en-US" sz="16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</a:rPr>
              <a:t>사</a:t>
            </a:r>
            <a:r>
              <a:rPr lang="en-US" altLang="ko-KR" sz="16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</a:rPr>
              <a:t>)</a:t>
            </a:r>
            <a:r>
              <a:rPr lang="ko-KR" altLang="en-US" sz="16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</a:rPr>
              <a:t>한국소비자교육원</a:t>
            </a:r>
            <a:r>
              <a:rPr lang="en-US" altLang="ko-KR" sz="16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</a:rPr>
              <a:t>/(</a:t>
            </a:r>
            <a:r>
              <a:rPr lang="ko-KR" altLang="en-US" sz="16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</a:rPr>
              <a:t>재</a:t>
            </a:r>
            <a:r>
              <a:rPr lang="en-US" altLang="ko-KR" sz="16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</a:rPr>
              <a:t>)</a:t>
            </a:r>
            <a:r>
              <a:rPr lang="ko-KR" altLang="en-US" sz="16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</a:rPr>
              <a:t>한국종합경제연구원</a:t>
            </a:r>
          </a:p>
          <a:p>
            <a:pPr>
              <a:lnSpc>
                <a:spcPct val="150000"/>
              </a:lnSpc>
            </a:pPr>
            <a:r>
              <a:rPr lang="ko-KR" altLang="en-US" sz="16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</a:rPr>
              <a:t>수행 기간 </a:t>
            </a:r>
            <a:r>
              <a:rPr lang="en-US" altLang="ko-KR" sz="16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</a:rPr>
              <a:t>: 2021.09. ~ 2021.12.</a:t>
            </a:r>
          </a:p>
          <a:p>
            <a:pPr>
              <a:lnSpc>
                <a:spcPct val="150000"/>
              </a:lnSpc>
            </a:pPr>
            <a:r>
              <a:rPr lang="ko-KR" altLang="en-US" sz="16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</a:rPr>
              <a:t>주요 역할 </a:t>
            </a:r>
            <a:r>
              <a:rPr lang="en-US" altLang="ko-KR" sz="16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</a:rPr>
              <a:t>:</a:t>
            </a:r>
          </a:p>
          <a:p>
            <a:pPr>
              <a:lnSpc>
                <a:spcPct val="150000"/>
              </a:lnSpc>
            </a:pPr>
            <a:r>
              <a:rPr lang="en-US" altLang="ko-KR" sz="16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</a:rPr>
              <a:t>① </a:t>
            </a:r>
            <a:r>
              <a:rPr lang="ko-KR" altLang="en-US" sz="16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</a:rPr>
              <a:t>기초자료조사</a:t>
            </a:r>
            <a:r>
              <a:rPr lang="en-US" altLang="ko-KR" sz="16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</a:rPr>
              <a:t>(</a:t>
            </a:r>
            <a:r>
              <a:rPr lang="ko-KR" altLang="en-US" sz="16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</a:rPr>
              <a:t>관련 법률 및 정책</a:t>
            </a:r>
            <a:r>
              <a:rPr lang="en-US" altLang="ko-KR" sz="16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</a:rPr>
              <a:t>, </a:t>
            </a:r>
            <a:r>
              <a:rPr lang="ko-KR" altLang="en-US" sz="16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</a:rPr>
              <a:t>개인형 이동장치 대여 가격 및 안전관리 현황조사</a:t>
            </a:r>
            <a:r>
              <a:rPr lang="en-US" altLang="ko-KR" sz="16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</a:rPr>
              <a:t>, </a:t>
            </a:r>
            <a:r>
              <a:rPr lang="ko-KR" altLang="en-US" sz="16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</a:rPr>
              <a:t>해외사례조사</a:t>
            </a:r>
            <a:r>
              <a:rPr lang="en-US" altLang="ko-KR" sz="16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altLang="ko-KR" sz="16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</a:rPr>
              <a:t>② </a:t>
            </a:r>
            <a:r>
              <a:rPr lang="ko-KR" altLang="en-US" sz="16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</a:rPr>
              <a:t>업체별 관계자 인터뷰 조사</a:t>
            </a:r>
            <a:r>
              <a:rPr lang="en-US" altLang="ko-KR" sz="16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</a:rPr>
              <a:t>(</a:t>
            </a:r>
            <a:r>
              <a:rPr lang="ko-KR" altLang="en-US" sz="16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</a:rPr>
              <a:t>안전관리 현황 및 정책 변화에 대한 업체측 의견 및 요금인상 여부</a:t>
            </a:r>
            <a:r>
              <a:rPr lang="en-US" altLang="ko-KR" sz="16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altLang="ko-KR" sz="16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</a:rPr>
              <a:t>③ </a:t>
            </a:r>
            <a:r>
              <a:rPr lang="ko-KR" altLang="en-US" sz="16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</a:rPr>
              <a:t>이용자 대상 설문조사</a:t>
            </a:r>
            <a:r>
              <a:rPr lang="en-US" altLang="ko-KR" sz="16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</a:rPr>
              <a:t>(</a:t>
            </a:r>
            <a:r>
              <a:rPr lang="ko-KR" altLang="en-US" sz="16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</a:rPr>
              <a:t>공유 </a:t>
            </a:r>
            <a:r>
              <a:rPr lang="ko-KR" altLang="en-US" sz="1600" dirty="0" err="1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</a:rPr>
              <a:t>킥보드</a:t>
            </a:r>
            <a:r>
              <a:rPr lang="ko-KR" altLang="en-US" sz="16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</a:rPr>
              <a:t> 이용빈도</a:t>
            </a:r>
            <a:r>
              <a:rPr lang="en-US" altLang="ko-KR" sz="16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</a:rPr>
              <a:t>, </a:t>
            </a:r>
            <a:r>
              <a:rPr lang="ko-KR" altLang="en-US" sz="16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</a:rPr>
              <a:t>요금 및 안전조치에 대한 의견</a:t>
            </a:r>
            <a:r>
              <a:rPr lang="en-US" altLang="ko-KR" sz="16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</a:rPr>
              <a:t>)</a:t>
            </a:r>
            <a:endParaRPr lang="en-US" sz="1600" dirty="0">
              <a:solidFill>
                <a:srgbClr val="666666"/>
              </a:solidFill>
              <a:latin typeface="Noto Sans KR" pitchFamily="34" charset="0"/>
              <a:ea typeface="Noto Sans KR" pitchFamily="34" charset="-122"/>
            </a:endParaRPr>
          </a:p>
        </p:txBody>
      </p:sp>
      <p:sp>
        <p:nvSpPr>
          <p:cNvPr id="68" name="Text 9">
            <a:extLst>
              <a:ext uri="{FF2B5EF4-FFF2-40B4-BE49-F238E27FC236}">
                <a16:creationId xmlns:a16="http://schemas.microsoft.com/office/drawing/2014/main" id="{011FD332-297E-275A-78DD-3B2DD25F65A6}"/>
              </a:ext>
            </a:extLst>
          </p:cNvPr>
          <p:cNvSpPr txBox="1"/>
          <p:nvPr/>
        </p:nvSpPr>
        <p:spPr>
          <a:xfrm>
            <a:off x="15550180" y="6495646"/>
            <a:ext cx="7822693" cy="2344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</a:t>
            </a:r>
            <a:r>
              <a:rPr lang="ko-KR" altLang="en-US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안산시 상권활성화재단 설립 타당성분석 연구</a:t>
            </a:r>
            <a:r>
              <a:rPr lang="en-US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]</a:t>
            </a:r>
            <a:endParaRPr lang="en-US" dirty="0"/>
          </a:p>
        </p:txBody>
      </p:sp>
      <p:sp>
        <p:nvSpPr>
          <p:cNvPr id="69" name="Text 10">
            <a:extLst>
              <a:ext uri="{FF2B5EF4-FFF2-40B4-BE49-F238E27FC236}">
                <a16:creationId xmlns:a16="http://schemas.microsoft.com/office/drawing/2014/main" id="{EEAEC308-2EF1-F8A2-9F55-99D7951E6A4D}"/>
              </a:ext>
            </a:extLst>
          </p:cNvPr>
          <p:cNvSpPr txBox="1"/>
          <p:nvPr/>
        </p:nvSpPr>
        <p:spPr>
          <a:xfrm>
            <a:off x="15550178" y="6933580"/>
            <a:ext cx="8119169" cy="28551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ko-KR" altLang="en-US" sz="16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</a:rPr>
              <a:t>발주처 </a:t>
            </a:r>
            <a:r>
              <a:rPr lang="en-US" altLang="ko-KR" sz="16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</a:rPr>
              <a:t>: </a:t>
            </a:r>
            <a:r>
              <a:rPr lang="ko-KR" altLang="en-US" sz="16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</a:rPr>
              <a:t>경기도 안산시</a:t>
            </a:r>
          </a:p>
          <a:p>
            <a:pPr>
              <a:lnSpc>
                <a:spcPct val="150000"/>
              </a:lnSpc>
            </a:pPr>
            <a:r>
              <a:rPr lang="ko-KR" altLang="en-US" sz="16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</a:rPr>
              <a:t>소속회사 </a:t>
            </a:r>
            <a:r>
              <a:rPr lang="en-US" altLang="ko-KR" sz="16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</a:rPr>
              <a:t>: (</a:t>
            </a:r>
            <a:r>
              <a:rPr lang="ko-KR" altLang="en-US" sz="16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</a:rPr>
              <a:t>재</a:t>
            </a:r>
            <a:r>
              <a:rPr lang="en-US" altLang="ko-KR" sz="16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</a:rPr>
              <a:t>)</a:t>
            </a:r>
            <a:r>
              <a:rPr lang="ko-KR" altLang="en-US" sz="16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</a:rPr>
              <a:t>한국종합경제연구원</a:t>
            </a:r>
          </a:p>
          <a:p>
            <a:pPr>
              <a:lnSpc>
                <a:spcPct val="150000"/>
              </a:lnSpc>
            </a:pPr>
            <a:r>
              <a:rPr lang="ko-KR" altLang="en-US" sz="16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</a:rPr>
              <a:t>수행 기간 </a:t>
            </a:r>
            <a:r>
              <a:rPr lang="en-US" altLang="ko-KR" sz="16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</a:rPr>
              <a:t>: 2021.03. ~ 2021.06.</a:t>
            </a:r>
          </a:p>
          <a:p>
            <a:pPr>
              <a:lnSpc>
                <a:spcPct val="150000"/>
              </a:lnSpc>
            </a:pPr>
            <a:r>
              <a:rPr lang="ko-KR" altLang="en-US" sz="16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</a:rPr>
              <a:t>주요 역할 </a:t>
            </a:r>
            <a:r>
              <a:rPr lang="en-US" altLang="ko-KR" sz="16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</a:rPr>
              <a:t>:</a:t>
            </a:r>
          </a:p>
          <a:p>
            <a:pPr>
              <a:lnSpc>
                <a:spcPct val="150000"/>
              </a:lnSpc>
            </a:pPr>
            <a:r>
              <a:rPr lang="en-US" altLang="ko-KR" sz="16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</a:rPr>
              <a:t>① </a:t>
            </a:r>
            <a:r>
              <a:rPr lang="ko-KR" altLang="en-US" sz="16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</a:rPr>
              <a:t>안산시 상권 현황조사</a:t>
            </a:r>
          </a:p>
          <a:p>
            <a:pPr>
              <a:lnSpc>
                <a:spcPct val="150000"/>
              </a:lnSpc>
            </a:pPr>
            <a:r>
              <a:rPr lang="ko-KR" altLang="en-US" sz="16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</a:rPr>
              <a:t>② 주민 요구사항 반영 및 수요 파악을 위한 설문조사</a:t>
            </a:r>
          </a:p>
          <a:p>
            <a:pPr>
              <a:lnSpc>
                <a:spcPct val="150000"/>
              </a:lnSpc>
            </a:pPr>
            <a:r>
              <a:rPr lang="ko-KR" altLang="en-US" sz="16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</a:rPr>
              <a:t>③ 재단 기초계획 수립</a:t>
            </a:r>
          </a:p>
          <a:p>
            <a:pPr>
              <a:lnSpc>
                <a:spcPct val="150000"/>
              </a:lnSpc>
            </a:pPr>
            <a:r>
              <a:rPr lang="ko-KR" altLang="en-US" sz="16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</a:rPr>
              <a:t>④ 기초계획에 기반한 설립 타당성 분석</a:t>
            </a:r>
            <a:r>
              <a:rPr lang="en-US" altLang="ko-KR" sz="16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</a:rPr>
              <a:t>(B/C</a:t>
            </a:r>
            <a:r>
              <a:rPr lang="ko-KR" altLang="en-US" sz="16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</a:rPr>
              <a:t>분석</a:t>
            </a:r>
            <a:r>
              <a:rPr lang="en-US" altLang="ko-KR" sz="16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</a:rPr>
              <a:t>)</a:t>
            </a:r>
            <a:endParaRPr lang="en-US" sz="1600" dirty="0">
              <a:solidFill>
                <a:srgbClr val="666666"/>
              </a:solidFill>
              <a:latin typeface="Noto Sans KR" pitchFamily="34" charset="0"/>
              <a:ea typeface="Noto Sans KR" pitchFamily="34" charset="-122"/>
            </a:endParaRPr>
          </a:p>
        </p:txBody>
      </p:sp>
      <p:grpSp>
        <p:nvGrpSpPr>
          <p:cNvPr id="72" name="그룹 71">
            <a:extLst>
              <a:ext uri="{FF2B5EF4-FFF2-40B4-BE49-F238E27FC236}">
                <a16:creationId xmlns:a16="http://schemas.microsoft.com/office/drawing/2014/main" id="{791225E6-BDB9-B050-01A8-040A75F88E80}"/>
              </a:ext>
            </a:extLst>
          </p:cNvPr>
          <p:cNvGrpSpPr/>
          <p:nvPr/>
        </p:nvGrpSpPr>
        <p:grpSpPr>
          <a:xfrm>
            <a:off x="7760801" y="2707212"/>
            <a:ext cx="6730899" cy="170534"/>
            <a:chOff x="856791" y="7324267"/>
            <a:chExt cx="6730899" cy="170534"/>
          </a:xfrm>
        </p:grpSpPr>
        <p:pic>
          <p:nvPicPr>
            <p:cNvPr id="73" name="Image 1" descr="preencoded.png">
              <a:extLst>
                <a:ext uri="{FF2B5EF4-FFF2-40B4-BE49-F238E27FC236}">
                  <a16:creationId xmlns:a16="http://schemas.microsoft.com/office/drawing/2014/main" id="{F902673B-3224-53CB-9CC5-7030F167B23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-1" b="98897"/>
            <a:stretch>
              <a:fillRect/>
            </a:stretch>
          </p:blipFill>
          <p:spPr>
            <a:xfrm>
              <a:off x="856792" y="7324267"/>
              <a:ext cx="6730898" cy="94640"/>
            </a:xfrm>
            <a:prstGeom prst="rect">
              <a:avLst/>
            </a:prstGeom>
          </p:spPr>
        </p:pic>
        <p:sp>
          <p:nvSpPr>
            <p:cNvPr id="74" name="Shape 7">
              <a:extLst>
                <a:ext uri="{FF2B5EF4-FFF2-40B4-BE49-F238E27FC236}">
                  <a16:creationId xmlns:a16="http://schemas.microsoft.com/office/drawing/2014/main" id="{F9328BB6-E7AD-A310-A0CE-33BC44AA6172}"/>
                </a:ext>
              </a:extLst>
            </p:cNvPr>
            <p:cNvSpPr/>
            <p:nvPr/>
          </p:nvSpPr>
          <p:spPr>
            <a:xfrm flipV="1">
              <a:off x="856791" y="7447764"/>
              <a:ext cx="6730899" cy="47037"/>
            </a:xfrm>
            <a:prstGeom prst="rect">
              <a:avLst/>
            </a:prstGeom>
            <a:solidFill>
              <a:srgbClr val="EEEEEE"/>
            </a:solidFill>
            <a:ln w="12700">
              <a:solidFill>
                <a:srgbClr val="EEEEEE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75" name="그룹 74">
            <a:extLst>
              <a:ext uri="{FF2B5EF4-FFF2-40B4-BE49-F238E27FC236}">
                <a16:creationId xmlns:a16="http://schemas.microsoft.com/office/drawing/2014/main" id="{06B3F1E3-74D6-56E4-73CE-B4322457EB95}"/>
              </a:ext>
            </a:extLst>
          </p:cNvPr>
          <p:cNvGrpSpPr/>
          <p:nvPr/>
        </p:nvGrpSpPr>
        <p:grpSpPr>
          <a:xfrm>
            <a:off x="15550179" y="2669119"/>
            <a:ext cx="7822693" cy="161590"/>
            <a:chOff x="856791" y="7324267"/>
            <a:chExt cx="6730899" cy="170534"/>
          </a:xfrm>
        </p:grpSpPr>
        <p:pic>
          <p:nvPicPr>
            <p:cNvPr id="76" name="Image 1" descr="preencoded.png">
              <a:extLst>
                <a:ext uri="{FF2B5EF4-FFF2-40B4-BE49-F238E27FC236}">
                  <a16:creationId xmlns:a16="http://schemas.microsoft.com/office/drawing/2014/main" id="{6455E074-1DB0-8EAE-7993-19062BD177F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-1" b="98897"/>
            <a:stretch>
              <a:fillRect/>
            </a:stretch>
          </p:blipFill>
          <p:spPr>
            <a:xfrm>
              <a:off x="856792" y="7324267"/>
              <a:ext cx="6730898" cy="94640"/>
            </a:xfrm>
            <a:prstGeom prst="rect">
              <a:avLst/>
            </a:prstGeom>
          </p:spPr>
        </p:pic>
        <p:sp>
          <p:nvSpPr>
            <p:cNvPr id="77" name="Shape 7">
              <a:extLst>
                <a:ext uri="{FF2B5EF4-FFF2-40B4-BE49-F238E27FC236}">
                  <a16:creationId xmlns:a16="http://schemas.microsoft.com/office/drawing/2014/main" id="{065C45C1-D54D-410D-36DB-D8409E2DFAB7}"/>
                </a:ext>
              </a:extLst>
            </p:cNvPr>
            <p:cNvSpPr/>
            <p:nvPr/>
          </p:nvSpPr>
          <p:spPr>
            <a:xfrm flipV="1">
              <a:off x="856791" y="7447764"/>
              <a:ext cx="6730899" cy="47037"/>
            </a:xfrm>
            <a:prstGeom prst="rect">
              <a:avLst/>
            </a:prstGeom>
            <a:solidFill>
              <a:srgbClr val="EEEEEE"/>
            </a:solidFill>
            <a:ln w="12700">
              <a:solidFill>
                <a:srgbClr val="EEEEEE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78" name="Text 41">
            <a:extLst>
              <a:ext uri="{FF2B5EF4-FFF2-40B4-BE49-F238E27FC236}">
                <a16:creationId xmlns:a16="http://schemas.microsoft.com/office/drawing/2014/main" id="{E9505CDA-69C5-9034-20A8-49433E8C4987}"/>
              </a:ext>
            </a:extLst>
          </p:cNvPr>
          <p:cNvSpPr txBox="1"/>
          <p:nvPr/>
        </p:nvSpPr>
        <p:spPr>
          <a:xfrm>
            <a:off x="22047199" y="13181234"/>
            <a:ext cx="2620569" cy="322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9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Lim Chaewon Portfolio</a:t>
            </a:r>
            <a:endParaRPr lang="en-US" sz="1700" dirty="0"/>
          </a:p>
        </p:txBody>
      </p:sp>
      <p:cxnSp>
        <p:nvCxnSpPr>
          <p:cNvPr id="80" name="직선 연결선 79">
            <a:extLst>
              <a:ext uri="{FF2B5EF4-FFF2-40B4-BE49-F238E27FC236}">
                <a16:creationId xmlns:a16="http://schemas.microsoft.com/office/drawing/2014/main" id="{1B35437F-7909-3355-AE5E-945005D501CA}"/>
              </a:ext>
            </a:extLst>
          </p:cNvPr>
          <p:cNvCxnSpPr/>
          <p:nvPr/>
        </p:nvCxnSpPr>
        <p:spPr>
          <a:xfrm>
            <a:off x="7467600" y="2792479"/>
            <a:ext cx="0" cy="9907521"/>
          </a:xfrm>
          <a:prstGeom prst="line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직선 연결선 80">
            <a:extLst>
              <a:ext uri="{FF2B5EF4-FFF2-40B4-BE49-F238E27FC236}">
                <a16:creationId xmlns:a16="http://schemas.microsoft.com/office/drawing/2014/main" id="{DACC949D-DB25-D14D-F3EE-B51D3DED9F8F}"/>
              </a:ext>
            </a:extLst>
          </p:cNvPr>
          <p:cNvCxnSpPr/>
          <p:nvPr/>
        </p:nvCxnSpPr>
        <p:spPr>
          <a:xfrm>
            <a:off x="15125700" y="2758795"/>
            <a:ext cx="0" cy="9907521"/>
          </a:xfrm>
          <a:prstGeom prst="line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9">
            <a:extLst>
              <a:ext uri="{FF2B5EF4-FFF2-40B4-BE49-F238E27FC236}">
                <a16:creationId xmlns:a16="http://schemas.microsoft.com/office/drawing/2014/main" id="{3CBD4167-BA74-12BD-C5AF-B89134D6EEF2}"/>
              </a:ext>
            </a:extLst>
          </p:cNvPr>
          <p:cNvSpPr txBox="1"/>
          <p:nvPr/>
        </p:nvSpPr>
        <p:spPr>
          <a:xfrm>
            <a:off x="16170814" y="10904852"/>
            <a:ext cx="8206668" cy="15253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44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</a:rPr>
              <a:t>“</a:t>
            </a:r>
            <a:r>
              <a:rPr lang="ko-KR" altLang="en-US" sz="44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</a:rPr>
              <a:t>그 외 다수 프로젝트 </a:t>
            </a:r>
            <a:r>
              <a:rPr lang="ko-KR" altLang="en-US" sz="4400" dirty="0" err="1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</a:rPr>
              <a:t>참여∙수행</a:t>
            </a:r>
            <a:r>
              <a:rPr lang="en-US" altLang="ko-KR" sz="44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</a:rPr>
              <a:t>”</a:t>
            </a:r>
            <a:endParaRPr lang="en-US" sz="4400" dirty="0"/>
          </a:p>
        </p:txBody>
      </p:sp>
    </p:spTree>
    <p:extLst>
      <p:ext uri="{BB962C8B-B14F-4D97-AF65-F5344CB8AC3E}">
        <p14:creationId xmlns:p14="http://schemas.microsoft.com/office/powerpoint/2010/main" val="13932828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4383390" cy="13716000"/>
          </a:xfrm>
          <a:prstGeom prst="rect">
            <a:avLst/>
          </a:prstGeom>
          <a:solidFill>
            <a:srgbClr val="33333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610" y="-101598"/>
            <a:ext cx="24383390" cy="13716000"/>
          </a:xfrm>
          <a:prstGeom prst="rect">
            <a:avLst/>
          </a:prstGeom>
          <a:solidFill>
            <a:srgbClr val="002C5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1524305" y="2104949"/>
            <a:ext cx="12124944" cy="28346"/>
          </a:xfrm>
          <a:prstGeom prst="rect">
            <a:avLst/>
          </a:prstGeom>
          <a:solidFill>
            <a:srgbClr val="90D4FF">
              <a:alpha val="30000"/>
            </a:srgbClr>
          </a:solidFill>
          <a:ln w="12700">
            <a:solidFill>
              <a:srgbClr val="90D4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1524305" y="1143000"/>
            <a:ext cx="16430854" cy="91531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900" b="1" kern="0" spc="-75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주요 </a:t>
            </a:r>
            <a:r>
              <a:rPr lang="en-US" sz="5900" b="1" kern="0" spc="-75" dirty="0" err="1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프로젝트·연구</a:t>
            </a:r>
            <a:r>
              <a:rPr lang="en-US" sz="5900" b="1" kern="0" spc="-75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5900" b="1" kern="0" spc="-75" dirty="0" err="1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소개</a:t>
            </a:r>
            <a:endParaRPr lang="en-US" sz="59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 l="-193" r="-193"/>
          <a:stretch/>
        </p:blipFill>
        <p:spPr>
          <a:xfrm>
            <a:off x="1524305" y="2514600"/>
            <a:ext cx="1904695" cy="7589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24305" y="3733495"/>
            <a:ext cx="2226015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500" b="1" dirty="0">
                <a:solidFill>
                  <a:srgbClr val="90D4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 </a:t>
            </a:r>
            <a:r>
              <a:rPr lang="en-US" sz="3500" b="1" dirty="0" err="1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현대자동차</a:t>
            </a:r>
            <a:r>
              <a:rPr lang="en-US" sz="3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블루멤버스 고객 리텐션 강화를 위한 프로모션·제휴처 기반 맞춤형 의사결정 툴킷 </a:t>
            </a:r>
            <a:endParaRPr lang="en-US" sz="3500" dirty="0"/>
          </a:p>
        </p:txBody>
      </p:sp>
      <p:sp>
        <p:nvSpPr>
          <p:cNvPr id="8" name="Text 5"/>
          <p:cNvSpPr txBox="1"/>
          <p:nvPr/>
        </p:nvSpPr>
        <p:spPr>
          <a:xfrm>
            <a:off x="1981505" y="4631436"/>
            <a:ext cx="2103120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90D4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역할 :</a:t>
            </a:r>
            <a:r>
              <a:rPr lang="en-US" sz="3100" dirty="0">
                <a:solidFill>
                  <a:srgbClr val="E0E0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PL </a:t>
            </a:r>
            <a:endParaRPr lang="en-US" sz="3100" dirty="0"/>
          </a:p>
        </p:txBody>
      </p:sp>
      <p:sp>
        <p:nvSpPr>
          <p:cNvPr id="9" name="Text 6"/>
          <p:cNvSpPr txBox="1"/>
          <p:nvPr/>
        </p:nvSpPr>
        <p:spPr>
          <a:xfrm>
            <a:off x="4228186" y="4631436"/>
            <a:ext cx="5296815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90D4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수행기간 :</a:t>
            </a:r>
            <a:r>
              <a:rPr lang="en-US" sz="3100" dirty="0">
                <a:solidFill>
                  <a:srgbClr val="E0E0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2025.07 ~ 2026.02 </a:t>
            </a:r>
            <a:endParaRPr lang="en-US" sz="3100" dirty="0"/>
          </a:p>
        </p:txBody>
      </p:sp>
      <p:sp>
        <p:nvSpPr>
          <p:cNvPr id="10" name="Text 7"/>
          <p:cNvSpPr txBox="1"/>
          <p:nvPr/>
        </p:nvSpPr>
        <p:spPr>
          <a:xfrm>
            <a:off x="1524305" y="6075475"/>
            <a:ext cx="14217719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500" b="1" dirty="0">
                <a:solidFill>
                  <a:srgbClr val="90D4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 </a:t>
            </a:r>
            <a:r>
              <a:rPr lang="ko-KR" altLang="en-US" sz="3600" b="1" kern="0" spc="-120" dirty="0" err="1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</a:rPr>
              <a:t>리텐션</a:t>
            </a:r>
            <a:r>
              <a:rPr lang="ko-KR" altLang="en-US" sz="3600" b="1" kern="0" spc="-12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</a:rPr>
              <a:t> 하락 진단을 위한 편차 기반 예외 모델 마이닝</a:t>
            </a:r>
            <a:endParaRPr lang="en-US" altLang="ko-KR" sz="3600" b="1" kern="0" spc="-120" dirty="0">
              <a:solidFill>
                <a:srgbClr val="FFFFFF"/>
              </a:solidFill>
              <a:latin typeface="Noto Sans KR" pitchFamily="34" charset="0"/>
              <a:ea typeface="Noto Sans KR" pitchFamily="34" charset="-122"/>
            </a:endParaRPr>
          </a:p>
          <a:p>
            <a:pPr marL="0" indent="0" algn="l">
              <a:buNone/>
            </a:pPr>
            <a:r>
              <a:rPr lang="en-US" sz="3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endParaRPr lang="en-US" sz="3500" dirty="0"/>
          </a:p>
        </p:txBody>
      </p:sp>
      <p:sp>
        <p:nvSpPr>
          <p:cNvPr id="11" name="Text 8"/>
          <p:cNvSpPr txBox="1"/>
          <p:nvPr/>
        </p:nvSpPr>
        <p:spPr>
          <a:xfrm>
            <a:off x="2082260" y="6862731"/>
            <a:ext cx="2103120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90D4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역할 :</a:t>
            </a:r>
            <a:r>
              <a:rPr lang="en-US" sz="3100" dirty="0">
                <a:solidFill>
                  <a:srgbClr val="E0E0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PL </a:t>
            </a:r>
            <a:endParaRPr lang="en-US" sz="3100" dirty="0"/>
          </a:p>
        </p:txBody>
      </p:sp>
      <p:sp>
        <p:nvSpPr>
          <p:cNvPr id="12" name="Text 9"/>
          <p:cNvSpPr txBox="1"/>
          <p:nvPr/>
        </p:nvSpPr>
        <p:spPr>
          <a:xfrm>
            <a:off x="4328941" y="6862731"/>
            <a:ext cx="6527902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90D4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수행기간 :</a:t>
            </a:r>
            <a:r>
              <a:rPr lang="en-US" sz="3100" dirty="0">
                <a:solidFill>
                  <a:srgbClr val="E0E0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2026.09 ~ </a:t>
            </a:r>
            <a:r>
              <a:rPr lang="ko-KR" altLang="en-US" sz="3100" dirty="0">
                <a:solidFill>
                  <a:srgbClr val="E0E0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진행 중</a:t>
            </a:r>
            <a:endParaRPr lang="en-US" sz="3100" dirty="0"/>
          </a:p>
        </p:txBody>
      </p:sp>
      <p:sp>
        <p:nvSpPr>
          <p:cNvPr id="13" name="Text 10"/>
          <p:cNvSpPr txBox="1"/>
          <p:nvPr/>
        </p:nvSpPr>
        <p:spPr>
          <a:xfrm>
            <a:off x="1524305" y="8180993"/>
            <a:ext cx="1635495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500" b="1" dirty="0">
                <a:solidFill>
                  <a:srgbClr val="90D4FF"/>
                </a:solidFill>
                <a:latin typeface="Inter" pitchFamily="34" charset="0"/>
                <a:ea typeface="Inter" pitchFamily="34" charset="-122"/>
              </a:rPr>
              <a:t>3. </a:t>
            </a:r>
            <a:r>
              <a:rPr lang="en-US" sz="3500" b="1" dirty="0" err="1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이중차분을</a:t>
            </a:r>
            <a:r>
              <a:rPr lang="en-US" sz="3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사용한 경북 의성군 인구유입 사업의 실효성 측정 </a:t>
            </a:r>
            <a:endParaRPr lang="en-US" sz="3500" dirty="0"/>
          </a:p>
        </p:txBody>
      </p:sp>
      <p:sp>
        <p:nvSpPr>
          <p:cNvPr id="14" name="Text 11"/>
          <p:cNvSpPr txBox="1"/>
          <p:nvPr/>
        </p:nvSpPr>
        <p:spPr>
          <a:xfrm>
            <a:off x="2077060" y="9135682"/>
            <a:ext cx="3545129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90D4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역할 :</a:t>
            </a:r>
            <a:r>
              <a:rPr lang="en-US" sz="3100" dirty="0">
                <a:solidFill>
                  <a:srgbClr val="E0E0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제1저자 </a:t>
            </a:r>
            <a:endParaRPr lang="en-US" sz="3100" dirty="0"/>
          </a:p>
        </p:txBody>
      </p:sp>
      <p:sp>
        <p:nvSpPr>
          <p:cNvPr id="15" name="Text 12"/>
          <p:cNvSpPr txBox="1"/>
          <p:nvPr/>
        </p:nvSpPr>
        <p:spPr>
          <a:xfrm>
            <a:off x="5179619" y="9135682"/>
            <a:ext cx="6527902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90D4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수행기간 :</a:t>
            </a:r>
            <a:r>
              <a:rPr lang="en-US" sz="3100" dirty="0">
                <a:solidFill>
                  <a:srgbClr val="E0E0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2025.07 ~ 2025.11 </a:t>
            </a:r>
            <a:endParaRPr lang="en-US" sz="3100" dirty="0"/>
          </a:p>
        </p:txBody>
      </p:sp>
      <p:sp>
        <p:nvSpPr>
          <p:cNvPr id="17" name="Text 41">
            <a:extLst>
              <a:ext uri="{FF2B5EF4-FFF2-40B4-BE49-F238E27FC236}">
                <a16:creationId xmlns:a16="http://schemas.microsoft.com/office/drawing/2014/main" id="{4897F4DD-CFA7-ED2A-C2D5-5F108C98A1B4}"/>
              </a:ext>
            </a:extLst>
          </p:cNvPr>
          <p:cNvSpPr txBox="1"/>
          <p:nvPr/>
        </p:nvSpPr>
        <p:spPr>
          <a:xfrm>
            <a:off x="22047199" y="13181234"/>
            <a:ext cx="2620569" cy="322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9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Lim Chaewon Portfolio</a:t>
            </a:r>
            <a:endParaRPr lang="en-US" sz="1700" dirty="0"/>
          </a:p>
        </p:txBody>
      </p:sp>
      <p:sp>
        <p:nvSpPr>
          <p:cNvPr id="18" name="Shape 2">
            <a:extLst>
              <a:ext uri="{FF2B5EF4-FFF2-40B4-BE49-F238E27FC236}">
                <a16:creationId xmlns:a16="http://schemas.microsoft.com/office/drawing/2014/main" id="{DBBF0C82-037A-EE62-F905-9432A5D6EC5D}"/>
              </a:ext>
            </a:extLst>
          </p:cNvPr>
          <p:cNvSpPr/>
          <p:nvPr/>
        </p:nvSpPr>
        <p:spPr>
          <a:xfrm>
            <a:off x="-2761945" y="-952805"/>
            <a:ext cx="8572500" cy="8572500"/>
          </a:xfrm>
          <a:prstGeom prst="ellipse">
            <a:avLst/>
          </a:prstGeom>
          <a:solidFill>
            <a:srgbClr val="90D4FF">
              <a:alpha val="3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3">
            <a:extLst>
              <a:ext uri="{FF2B5EF4-FFF2-40B4-BE49-F238E27FC236}">
                <a16:creationId xmlns:a16="http://schemas.microsoft.com/office/drawing/2014/main" id="{ECB3EC64-C7FF-D987-6FE1-36B0523EFB60}"/>
              </a:ext>
            </a:extLst>
          </p:cNvPr>
          <p:cNvSpPr/>
          <p:nvPr/>
        </p:nvSpPr>
        <p:spPr>
          <a:xfrm>
            <a:off x="14859000" y="4190695"/>
            <a:ext cx="11430000" cy="11430000"/>
          </a:xfrm>
          <a:prstGeom prst="ellipse">
            <a:avLst/>
          </a:prstGeom>
          <a:solidFill>
            <a:srgbClr val="000000">
              <a:alpha val="1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6">
            <a:extLst>
              <a:ext uri="{FF2B5EF4-FFF2-40B4-BE49-F238E27FC236}">
                <a16:creationId xmlns:a16="http://schemas.microsoft.com/office/drawing/2014/main" id="{BDEEF0FD-5471-50C8-ABAA-9FB39543B404}"/>
              </a:ext>
            </a:extLst>
          </p:cNvPr>
          <p:cNvSpPr txBox="1"/>
          <p:nvPr/>
        </p:nvSpPr>
        <p:spPr>
          <a:xfrm>
            <a:off x="9701784" y="4630521"/>
            <a:ext cx="5296815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3100" b="1" dirty="0">
                <a:solidFill>
                  <a:srgbClr val="90D4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발주처</a:t>
            </a:r>
            <a:r>
              <a:rPr lang="en-US" sz="3100" b="1" dirty="0">
                <a:solidFill>
                  <a:srgbClr val="90D4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:</a:t>
            </a:r>
            <a:r>
              <a:rPr lang="en-US" sz="3100" dirty="0">
                <a:solidFill>
                  <a:srgbClr val="E0E0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ko-KR" altLang="en-US" sz="3100" dirty="0">
                <a:solidFill>
                  <a:srgbClr val="E0E0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현대자동차</a:t>
            </a:r>
            <a:endParaRPr lang="en-US" sz="3100" dirty="0"/>
          </a:p>
        </p:txBody>
      </p:sp>
      <p:sp>
        <p:nvSpPr>
          <p:cNvPr id="22" name="Text 6">
            <a:extLst>
              <a:ext uri="{FF2B5EF4-FFF2-40B4-BE49-F238E27FC236}">
                <a16:creationId xmlns:a16="http://schemas.microsoft.com/office/drawing/2014/main" id="{18DA8D0A-15D7-27F9-37C8-A0E38016D201}"/>
              </a:ext>
            </a:extLst>
          </p:cNvPr>
          <p:cNvSpPr txBox="1"/>
          <p:nvPr/>
        </p:nvSpPr>
        <p:spPr>
          <a:xfrm>
            <a:off x="9802539" y="6839667"/>
            <a:ext cx="5296815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3100" b="1" dirty="0">
                <a:solidFill>
                  <a:srgbClr val="90D4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발주처</a:t>
            </a:r>
            <a:r>
              <a:rPr lang="en-US" sz="3100" b="1" dirty="0">
                <a:solidFill>
                  <a:srgbClr val="90D4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:</a:t>
            </a:r>
            <a:r>
              <a:rPr lang="en-US" sz="3100" dirty="0">
                <a:solidFill>
                  <a:srgbClr val="E0E0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ko-KR" altLang="en-US" sz="3100" dirty="0">
                <a:solidFill>
                  <a:srgbClr val="E0E0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개인 </a:t>
            </a:r>
            <a:r>
              <a:rPr lang="ko-KR" altLang="en-US" sz="3100" dirty="0" err="1">
                <a:solidFill>
                  <a:srgbClr val="E0E0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</a:t>
            </a:r>
            <a:r>
              <a:rPr lang="ko-KR" altLang="en-US" sz="3100" dirty="0" err="1">
                <a:solidFill>
                  <a:srgbClr val="E0E0E0"/>
                </a:solidFill>
                <a:latin typeface="Pridi" panose="00000500000000000000" pitchFamily="2" charset="-34"/>
                <a:ea typeface="Noto Sans KR" pitchFamily="34" charset="-122"/>
                <a:cs typeface="Pridi" panose="00000500000000000000" pitchFamily="2" charset="-34"/>
              </a:rPr>
              <a:t>∙논문</a:t>
            </a:r>
            <a:endParaRPr lang="en-US" sz="3100" dirty="0"/>
          </a:p>
        </p:txBody>
      </p:sp>
      <p:sp>
        <p:nvSpPr>
          <p:cNvPr id="16" name="Text 6">
            <a:extLst>
              <a:ext uri="{FF2B5EF4-FFF2-40B4-BE49-F238E27FC236}">
                <a16:creationId xmlns:a16="http://schemas.microsoft.com/office/drawing/2014/main" id="{1CE3BEC7-7F7F-1C3F-0561-745859508EF7}"/>
              </a:ext>
            </a:extLst>
          </p:cNvPr>
          <p:cNvSpPr txBox="1"/>
          <p:nvPr/>
        </p:nvSpPr>
        <p:spPr>
          <a:xfrm>
            <a:off x="10634853" y="9098491"/>
            <a:ext cx="5296815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3100" b="1" dirty="0">
                <a:solidFill>
                  <a:srgbClr val="90D4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관련기관</a:t>
            </a:r>
            <a:r>
              <a:rPr lang="en-US" sz="3100" b="1" dirty="0">
                <a:solidFill>
                  <a:srgbClr val="90D4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:</a:t>
            </a:r>
            <a:r>
              <a:rPr lang="en-US" sz="3100" dirty="0">
                <a:solidFill>
                  <a:srgbClr val="E0E0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ko-KR" altLang="en-US" sz="3100" dirty="0">
                <a:solidFill>
                  <a:srgbClr val="E0E0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한국생산관리학회</a:t>
            </a:r>
            <a:endParaRPr lang="en-US" sz="3100" dirty="0"/>
          </a:p>
        </p:txBody>
      </p:sp>
      <p:sp>
        <p:nvSpPr>
          <p:cNvPr id="20" name="Text 10">
            <a:extLst>
              <a:ext uri="{FF2B5EF4-FFF2-40B4-BE49-F238E27FC236}">
                <a16:creationId xmlns:a16="http://schemas.microsoft.com/office/drawing/2014/main" id="{76EF9A90-1C4D-D0EC-A3D3-DB7F27027FB3}"/>
              </a:ext>
            </a:extLst>
          </p:cNvPr>
          <p:cNvSpPr txBox="1"/>
          <p:nvPr/>
        </p:nvSpPr>
        <p:spPr>
          <a:xfrm>
            <a:off x="1524305" y="10540250"/>
            <a:ext cx="1635495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500" b="1" dirty="0">
                <a:solidFill>
                  <a:srgbClr val="90D4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4. </a:t>
            </a:r>
            <a:r>
              <a:rPr lang="ko-KR" altLang="en-US" sz="3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안산시 상권활성화재단 설립 타당성 연구</a:t>
            </a:r>
          </a:p>
          <a:p>
            <a:pPr marL="0" indent="0" algn="l">
              <a:buNone/>
            </a:pPr>
            <a:endParaRPr lang="en-US" sz="3500" dirty="0"/>
          </a:p>
        </p:txBody>
      </p:sp>
      <p:sp>
        <p:nvSpPr>
          <p:cNvPr id="23" name="Text 11">
            <a:extLst>
              <a:ext uri="{FF2B5EF4-FFF2-40B4-BE49-F238E27FC236}">
                <a16:creationId xmlns:a16="http://schemas.microsoft.com/office/drawing/2014/main" id="{046A812F-E777-AAD0-76A2-2E9B75865DFD}"/>
              </a:ext>
            </a:extLst>
          </p:cNvPr>
          <p:cNvSpPr txBox="1"/>
          <p:nvPr/>
        </p:nvSpPr>
        <p:spPr>
          <a:xfrm>
            <a:off x="2077060" y="11335285"/>
            <a:ext cx="3545129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90D4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역할 :</a:t>
            </a:r>
            <a:r>
              <a:rPr lang="en-US" sz="3100" dirty="0">
                <a:solidFill>
                  <a:srgbClr val="E0E0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PL</a:t>
            </a:r>
            <a:endParaRPr lang="en-US" sz="3100" dirty="0"/>
          </a:p>
        </p:txBody>
      </p:sp>
      <p:sp>
        <p:nvSpPr>
          <p:cNvPr id="24" name="Text 12">
            <a:extLst>
              <a:ext uri="{FF2B5EF4-FFF2-40B4-BE49-F238E27FC236}">
                <a16:creationId xmlns:a16="http://schemas.microsoft.com/office/drawing/2014/main" id="{7FA8C501-629B-58AD-4971-D8C2F62F4F55}"/>
              </a:ext>
            </a:extLst>
          </p:cNvPr>
          <p:cNvSpPr txBox="1"/>
          <p:nvPr/>
        </p:nvSpPr>
        <p:spPr>
          <a:xfrm>
            <a:off x="5179619" y="11335285"/>
            <a:ext cx="6527902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100" b="1" dirty="0">
                <a:solidFill>
                  <a:srgbClr val="90D4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수행기간 :</a:t>
            </a:r>
            <a:r>
              <a:rPr lang="en-US" sz="3100" dirty="0">
                <a:solidFill>
                  <a:srgbClr val="E0E0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altLang="ko-KR" sz="3100" dirty="0">
                <a:solidFill>
                  <a:srgbClr val="E0E0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2021.03 ~ 2021.06 </a:t>
            </a:r>
            <a:endParaRPr lang="en-US" sz="3100" dirty="0"/>
          </a:p>
        </p:txBody>
      </p:sp>
      <p:sp>
        <p:nvSpPr>
          <p:cNvPr id="25" name="Text 6">
            <a:extLst>
              <a:ext uri="{FF2B5EF4-FFF2-40B4-BE49-F238E27FC236}">
                <a16:creationId xmlns:a16="http://schemas.microsoft.com/office/drawing/2014/main" id="{B781C88C-A2BD-247F-C8AC-DB274DC92F17}"/>
              </a:ext>
            </a:extLst>
          </p:cNvPr>
          <p:cNvSpPr txBox="1"/>
          <p:nvPr/>
        </p:nvSpPr>
        <p:spPr>
          <a:xfrm>
            <a:off x="10634853" y="11298094"/>
            <a:ext cx="5296815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3100" b="1" dirty="0">
                <a:solidFill>
                  <a:srgbClr val="90D4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발주처</a:t>
            </a:r>
            <a:r>
              <a:rPr lang="en-US" sz="3100" b="1" dirty="0">
                <a:solidFill>
                  <a:srgbClr val="90D4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:</a:t>
            </a:r>
            <a:r>
              <a:rPr lang="en-US" sz="3100" dirty="0">
                <a:solidFill>
                  <a:srgbClr val="E0E0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ko-KR" altLang="en-US" sz="3100" dirty="0">
                <a:solidFill>
                  <a:srgbClr val="E0E0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안산시</a:t>
            </a:r>
            <a:endParaRPr lang="en-US" sz="3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4383390" cy="13716000"/>
          </a:xfrm>
          <a:prstGeom prst="rect">
            <a:avLst/>
          </a:prstGeom>
          <a:solidFill>
            <a:srgbClr val="33333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50800" y="0"/>
            <a:ext cx="24383390" cy="13716000"/>
          </a:xfrm>
          <a:prstGeom prst="rect">
            <a:avLst/>
          </a:prstGeom>
          <a:solidFill>
            <a:srgbClr val="002C5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16763695" y="-1904695"/>
            <a:ext cx="9525305" cy="9525305"/>
          </a:xfrm>
          <a:prstGeom prst="ellipse">
            <a:avLst/>
          </a:prstGeom>
          <a:noFill/>
          <a:ln w="25400">
            <a:solidFill>
              <a:srgbClr val="90D4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17716500" y="-952805"/>
            <a:ext cx="7619695" cy="7619695"/>
          </a:xfrm>
          <a:prstGeom prst="ellipse">
            <a:avLst/>
          </a:prstGeom>
          <a:solidFill>
            <a:srgbClr val="90D4FF">
              <a:alpha val="3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 l="-408" r="-408"/>
          <a:stretch/>
        </p:blipFill>
        <p:spPr>
          <a:xfrm>
            <a:off x="1333195" y="1904695"/>
            <a:ext cx="38405" cy="1904695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333195" y="4005072"/>
            <a:ext cx="952805" cy="38405"/>
          </a:xfrm>
          <a:prstGeom prst="rect">
            <a:avLst/>
          </a:prstGeom>
          <a:solidFill>
            <a:srgbClr val="90D4FF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5"/>
          <p:cNvSpPr txBox="1"/>
          <p:nvPr/>
        </p:nvSpPr>
        <p:spPr>
          <a:xfrm>
            <a:off x="1333195" y="4005072"/>
            <a:ext cx="350581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500" b="1" kern="0" spc="360" dirty="0">
                <a:solidFill>
                  <a:srgbClr val="90D4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Project 1</a:t>
            </a:r>
            <a:endParaRPr lang="en-US" sz="3500" dirty="0"/>
          </a:p>
        </p:txBody>
      </p:sp>
      <p:sp>
        <p:nvSpPr>
          <p:cNvPr id="9" name="Text 6"/>
          <p:cNvSpPr txBox="1"/>
          <p:nvPr/>
        </p:nvSpPr>
        <p:spPr>
          <a:xfrm>
            <a:off x="1333195" y="5072177"/>
            <a:ext cx="21259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ko-KR" sz="5900" b="1" kern="0" spc="-12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</a:rPr>
              <a:t>LLM </a:t>
            </a:r>
            <a:r>
              <a:rPr lang="ko-KR" altLang="en-US" sz="5900" b="1" kern="0" spc="-12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</a:rPr>
              <a:t>활용</a:t>
            </a:r>
            <a:r>
              <a:rPr lang="ko-KR" altLang="ko-KR" sz="5900" b="1" kern="0" spc="-12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</a:rPr>
              <a:t> 패션 트렌드 조기 탐지 및 </a:t>
            </a:r>
            <a:r>
              <a:rPr lang="ko-KR" altLang="ko-KR" sz="5900" b="1" kern="0" spc="-120" dirty="0" err="1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</a:rPr>
              <a:t>사입</a:t>
            </a:r>
            <a:r>
              <a:rPr lang="ko-KR" altLang="ko-KR" sz="5900" b="1" kern="0" spc="-12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</a:rPr>
              <a:t> 후보 추천 시스템</a:t>
            </a:r>
            <a:endParaRPr lang="en-US" sz="5900" dirty="0"/>
          </a:p>
        </p:txBody>
      </p:sp>
      <p:sp>
        <p:nvSpPr>
          <p:cNvPr id="11" name="Shape 8"/>
          <p:cNvSpPr/>
          <p:nvPr/>
        </p:nvSpPr>
        <p:spPr>
          <a:xfrm>
            <a:off x="1333195" y="7662672"/>
            <a:ext cx="21717000" cy="9144"/>
          </a:xfrm>
          <a:prstGeom prst="rect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rcRect l="-3539" r="-3539"/>
          <a:stretch/>
        </p:blipFill>
        <p:spPr>
          <a:xfrm>
            <a:off x="1333195" y="8320126"/>
            <a:ext cx="285293" cy="304495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762049" y="8244230"/>
            <a:ext cx="9244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300" kern="0" spc="120" dirty="0">
                <a:solidFill>
                  <a:srgbClr val="AACA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Role</a:t>
            </a:r>
            <a:endParaRPr lang="en-US" sz="2300" dirty="0"/>
          </a:p>
        </p:txBody>
      </p:sp>
      <p:sp>
        <p:nvSpPr>
          <p:cNvPr id="14" name="Text 10"/>
          <p:cNvSpPr txBox="1"/>
          <p:nvPr/>
        </p:nvSpPr>
        <p:spPr>
          <a:xfrm>
            <a:off x="1333195" y="8891626"/>
            <a:ext cx="5576926" cy="25292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PL (Project Leader)</a:t>
            </a:r>
          </a:p>
          <a:p>
            <a:pPr marL="0" indent="0" algn="l">
              <a:buNone/>
            </a:pPr>
            <a:endParaRPr lang="en-US" sz="3500" dirty="0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rcRect l="-3153" r="-3153"/>
          <a:stretch/>
        </p:blipFill>
        <p:spPr>
          <a:xfrm>
            <a:off x="6803136" y="8320126"/>
            <a:ext cx="323698" cy="304495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7269480" y="8244230"/>
            <a:ext cx="185806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300" kern="0" spc="120" dirty="0">
                <a:solidFill>
                  <a:srgbClr val="AACA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Keywords</a:t>
            </a:r>
            <a:endParaRPr lang="en-US" sz="2300" dirty="0"/>
          </a:p>
        </p:txBody>
      </p:sp>
      <p:sp>
        <p:nvSpPr>
          <p:cNvPr id="17" name="Shape 12"/>
          <p:cNvSpPr/>
          <p:nvPr/>
        </p:nvSpPr>
        <p:spPr>
          <a:xfrm>
            <a:off x="6803136" y="8891626"/>
            <a:ext cx="2194257" cy="819302"/>
          </a:xfrm>
          <a:prstGeom prst="roundRect">
            <a:avLst>
              <a:gd name="adj" fmla="val 111607"/>
            </a:avLst>
          </a:prstGeom>
          <a:solidFill>
            <a:srgbClr val="90D4FF">
              <a:alpha val="10000"/>
            </a:srgbClr>
          </a:solidFill>
          <a:ln w="12700">
            <a:solidFill>
              <a:srgbClr val="90D4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3"/>
          <p:cNvSpPr txBox="1"/>
          <p:nvPr/>
        </p:nvSpPr>
        <p:spPr>
          <a:xfrm>
            <a:off x="7141057" y="8891626"/>
            <a:ext cx="1645006" cy="8193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dirty="0">
                <a:solidFill>
                  <a:srgbClr val="90D4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조기 탐지</a:t>
            </a:r>
            <a:endParaRPr lang="en-US" sz="2600" dirty="0"/>
          </a:p>
        </p:txBody>
      </p:sp>
      <p:sp>
        <p:nvSpPr>
          <p:cNvPr id="20" name="Shape 14"/>
          <p:cNvSpPr/>
          <p:nvPr/>
        </p:nvSpPr>
        <p:spPr>
          <a:xfrm>
            <a:off x="9339478" y="8891626"/>
            <a:ext cx="2143354" cy="819302"/>
          </a:xfrm>
          <a:prstGeom prst="roundRect">
            <a:avLst>
              <a:gd name="adj" fmla="val 111607"/>
            </a:avLst>
          </a:prstGeom>
          <a:solidFill>
            <a:srgbClr val="90D4FF">
              <a:alpha val="10000"/>
            </a:srgbClr>
          </a:solidFill>
          <a:ln w="12700">
            <a:solidFill>
              <a:srgbClr val="90D4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15"/>
          <p:cNvSpPr txBox="1"/>
          <p:nvPr/>
        </p:nvSpPr>
        <p:spPr>
          <a:xfrm>
            <a:off x="9809479" y="8891626"/>
            <a:ext cx="1340511" cy="8193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2600" dirty="0">
                <a:solidFill>
                  <a:srgbClr val="90D4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예측 모형</a:t>
            </a:r>
            <a:endParaRPr lang="en-US" sz="2600" dirty="0"/>
          </a:p>
        </p:txBody>
      </p:sp>
      <p:sp>
        <p:nvSpPr>
          <p:cNvPr id="23" name="Shape 16"/>
          <p:cNvSpPr/>
          <p:nvPr/>
        </p:nvSpPr>
        <p:spPr>
          <a:xfrm>
            <a:off x="11829848" y="8891626"/>
            <a:ext cx="2114093" cy="819302"/>
          </a:xfrm>
          <a:prstGeom prst="roundRect">
            <a:avLst>
              <a:gd name="adj" fmla="val 111607"/>
            </a:avLst>
          </a:prstGeom>
          <a:solidFill>
            <a:srgbClr val="90D4FF">
              <a:alpha val="10000"/>
            </a:srgbClr>
          </a:solidFill>
          <a:ln w="12700">
            <a:solidFill>
              <a:srgbClr val="90D4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17"/>
          <p:cNvSpPr txBox="1"/>
          <p:nvPr/>
        </p:nvSpPr>
        <p:spPr>
          <a:xfrm>
            <a:off x="12119917" y="8891626"/>
            <a:ext cx="1710384" cy="8193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2600" dirty="0">
                <a:solidFill>
                  <a:srgbClr val="90D4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LLM 활용</a:t>
            </a:r>
            <a:endParaRPr lang="en-US" sz="2600" dirty="0"/>
          </a:p>
        </p:txBody>
      </p:sp>
      <p:sp>
        <p:nvSpPr>
          <p:cNvPr id="27" name="Shape 16">
            <a:extLst>
              <a:ext uri="{FF2B5EF4-FFF2-40B4-BE49-F238E27FC236}">
                <a16:creationId xmlns:a16="http://schemas.microsoft.com/office/drawing/2014/main" id="{782E08A9-48A3-09B7-FFC0-A236B5496EED}"/>
              </a:ext>
            </a:extLst>
          </p:cNvPr>
          <p:cNvSpPr/>
          <p:nvPr/>
        </p:nvSpPr>
        <p:spPr>
          <a:xfrm>
            <a:off x="14288057" y="8842452"/>
            <a:ext cx="2114093" cy="819302"/>
          </a:xfrm>
          <a:prstGeom prst="roundRect">
            <a:avLst>
              <a:gd name="adj" fmla="val 111607"/>
            </a:avLst>
          </a:prstGeom>
          <a:solidFill>
            <a:srgbClr val="90D4FF">
              <a:alpha val="10000"/>
            </a:srgbClr>
          </a:solidFill>
          <a:ln w="12700">
            <a:solidFill>
              <a:srgbClr val="90D4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17">
            <a:extLst>
              <a:ext uri="{FF2B5EF4-FFF2-40B4-BE49-F238E27FC236}">
                <a16:creationId xmlns:a16="http://schemas.microsoft.com/office/drawing/2014/main" id="{D0B23079-2DF0-9C82-00A2-F05E533F219F}"/>
              </a:ext>
            </a:extLst>
          </p:cNvPr>
          <p:cNvSpPr txBox="1"/>
          <p:nvPr/>
        </p:nvSpPr>
        <p:spPr>
          <a:xfrm>
            <a:off x="14578126" y="8880552"/>
            <a:ext cx="1710384" cy="8193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2600" dirty="0">
                <a:solidFill>
                  <a:srgbClr val="90D4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추천 시스템</a:t>
            </a:r>
            <a:endParaRPr lang="en-US" sz="2600" dirty="0"/>
          </a:p>
        </p:txBody>
      </p:sp>
      <p:sp>
        <p:nvSpPr>
          <p:cNvPr id="21" name="Text 41">
            <a:extLst>
              <a:ext uri="{FF2B5EF4-FFF2-40B4-BE49-F238E27FC236}">
                <a16:creationId xmlns:a16="http://schemas.microsoft.com/office/drawing/2014/main" id="{F376A683-E89D-3D16-86E8-E502D002A06F}"/>
              </a:ext>
            </a:extLst>
          </p:cNvPr>
          <p:cNvSpPr txBox="1"/>
          <p:nvPr/>
        </p:nvSpPr>
        <p:spPr>
          <a:xfrm>
            <a:off x="22047199" y="13181234"/>
            <a:ext cx="2620569" cy="322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9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Lim Chaewon Portfolio</a:t>
            </a:r>
            <a:endParaRPr lang="en-US" sz="1700" dirty="0"/>
          </a:p>
        </p:txBody>
      </p:sp>
      <p:sp>
        <p:nvSpPr>
          <p:cNvPr id="31" name="Text 6">
            <a:extLst>
              <a:ext uri="{FF2B5EF4-FFF2-40B4-BE49-F238E27FC236}">
                <a16:creationId xmlns:a16="http://schemas.microsoft.com/office/drawing/2014/main" id="{A174C894-8125-7B2C-97C2-88A4939E3456}"/>
              </a:ext>
            </a:extLst>
          </p:cNvPr>
          <p:cNvSpPr txBox="1"/>
          <p:nvPr/>
        </p:nvSpPr>
        <p:spPr>
          <a:xfrm>
            <a:off x="14409977" y="7816292"/>
            <a:ext cx="5296815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90D4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수행기간 :</a:t>
            </a:r>
            <a:r>
              <a:rPr lang="en-US" sz="3100" dirty="0">
                <a:solidFill>
                  <a:srgbClr val="E0E0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2026.10~</a:t>
            </a:r>
            <a:endParaRPr lang="en-US" sz="3100" dirty="0"/>
          </a:p>
        </p:txBody>
      </p:sp>
      <p:sp>
        <p:nvSpPr>
          <p:cNvPr id="32" name="Text 6">
            <a:extLst>
              <a:ext uri="{FF2B5EF4-FFF2-40B4-BE49-F238E27FC236}">
                <a16:creationId xmlns:a16="http://schemas.microsoft.com/office/drawing/2014/main" id="{3E310B52-0F26-4185-6C6A-B1B8E74ED94E}"/>
              </a:ext>
            </a:extLst>
          </p:cNvPr>
          <p:cNvSpPr txBox="1"/>
          <p:nvPr/>
        </p:nvSpPr>
        <p:spPr>
          <a:xfrm>
            <a:off x="19883575" y="7815377"/>
            <a:ext cx="3756713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3100" b="1" dirty="0">
                <a:solidFill>
                  <a:srgbClr val="90D4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발주처</a:t>
            </a:r>
            <a:r>
              <a:rPr lang="en-US" sz="3100" b="1" dirty="0">
                <a:solidFill>
                  <a:srgbClr val="90D4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:</a:t>
            </a:r>
            <a:endParaRPr lang="en-US" sz="3100" dirty="0"/>
          </a:p>
        </p:txBody>
      </p:sp>
    </p:spTree>
    <p:extLst>
      <p:ext uri="{BB962C8B-B14F-4D97-AF65-F5344CB8AC3E}">
        <p14:creationId xmlns:p14="http://schemas.microsoft.com/office/powerpoint/2010/main" val="32987570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화살표: 오른쪽 73">
            <a:extLst>
              <a:ext uri="{FF2B5EF4-FFF2-40B4-BE49-F238E27FC236}">
                <a16:creationId xmlns:a16="http://schemas.microsoft.com/office/drawing/2014/main" id="{F18F54CF-09A6-9ACF-AB17-9849EF6C7AE2}"/>
              </a:ext>
            </a:extLst>
          </p:cNvPr>
          <p:cNvSpPr/>
          <p:nvPr/>
        </p:nvSpPr>
        <p:spPr>
          <a:xfrm rot="5400000">
            <a:off x="18110052" y="7396125"/>
            <a:ext cx="5426844" cy="1900907"/>
          </a:xfrm>
          <a:prstGeom prst="rightArrow">
            <a:avLst>
              <a:gd name="adj1" fmla="val 50000"/>
              <a:gd name="adj2" fmla="val 26330"/>
            </a:avLst>
          </a:prstGeom>
          <a:solidFill>
            <a:srgbClr val="002C5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1" name="Shape 17">
            <a:extLst>
              <a:ext uri="{FF2B5EF4-FFF2-40B4-BE49-F238E27FC236}">
                <a16:creationId xmlns:a16="http://schemas.microsoft.com/office/drawing/2014/main" id="{CDCBC9C5-1842-B4B1-C806-FBDF75A8D48B}"/>
              </a:ext>
            </a:extLst>
          </p:cNvPr>
          <p:cNvSpPr/>
          <p:nvPr/>
        </p:nvSpPr>
        <p:spPr>
          <a:xfrm>
            <a:off x="17506664" y="7421110"/>
            <a:ext cx="6437585" cy="1131737"/>
          </a:xfrm>
          <a:prstGeom prst="roundRect">
            <a:avLst>
              <a:gd name="adj" fmla="val 6347"/>
            </a:avLst>
          </a:prstGeom>
          <a:solidFill>
            <a:srgbClr val="F0F7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9" name="Shape 17">
            <a:extLst>
              <a:ext uri="{FF2B5EF4-FFF2-40B4-BE49-F238E27FC236}">
                <a16:creationId xmlns:a16="http://schemas.microsoft.com/office/drawing/2014/main" id="{BDB05A3F-0306-D250-43B2-8E43CDB69B30}"/>
              </a:ext>
            </a:extLst>
          </p:cNvPr>
          <p:cNvSpPr/>
          <p:nvPr/>
        </p:nvSpPr>
        <p:spPr>
          <a:xfrm>
            <a:off x="17506664" y="5633157"/>
            <a:ext cx="6437584" cy="1131737"/>
          </a:xfrm>
          <a:prstGeom prst="roundRect">
            <a:avLst>
              <a:gd name="adj" fmla="val 6347"/>
            </a:avLst>
          </a:prstGeom>
          <a:solidFill>
            <a:srgbClr val="F0F7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6" name="Shape 3">
            <a:extLst>
              <a:ext uri="{FF2B5EF4-FFF2-40B4-BE49-F238E27FC236}">
                <a16:creationId xmlns:a16="http://schemas.microsoft.com/office/drawing/2014/main" id="{D574648C-0ABA-43A1-7D46-815A97E27FCB}"/>
              </a:ext>
            </a:extLst>
          </p:cNvPr>
          <p:cNvSpPr/>
          <p:nvPr/>
        </p:nvSpPr>
        <p:spPr>
          <a:xfrm>
            <a:off x="10385853" y="4457886"/>
            <a:ext cx="6269914" cy="6394422"/>
          </a:xfrm>
          <a:prstGeom prst="roundRect">
            <a:avLst>
              <a:gd name="adj" fmla="val 871"/>
            </a:avLst>
          </a:prstGeom>
          <a:solidFill>
            <a:srgbClr val="F0F7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7" name="Shape 4">
            <a:extLst>
              <a:ext uri="{FF2B5EF4-FFF2-40B4-BE49-F238E27FC236}">
                <a16:creationId xmlns:a16="http://schemas.microsoft.com/office/drawing/2014/main" id="{97C070CB-6B25-A53E-D5E9-407C58AD5329}"/>
              </a:ext>
            </a:extLst>
          </p:cNvPr>
          <p:cNvSpPr/>
          <p:nvPr/>
        </p:nvSpPr>
        <p:spPr>
          <a:xfrm>
            <a:off x="10375795" y="4446000"/>
            <a:ext cx="54666" cy="6394421"/>
          </a:xfrm>
          <a:prstGeom prst="roundRect">
            <a:avLst>
              <a:gd name="adj" fmla="val 45898"/>
            </a:avLst>
          </a:prstGeom>
          <a:solidFill>
            <a:srgbClr val="002C5F"/>
          </a:solidFill>
          <a:ln w="12700">
            <a:solidFill>
              <a:srgbClr val="002C5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1" name="Shape 3">
            <a:extLst>
              <a:ext uri="{FF2B5EF4-FFF2-40B4-BE49-F238E27FC236}">
                <a16:creationId xmlns:a16="http://schemas.microsoft.com/office/drawing/2014/main" id="{72F457F1-6FE5-9B06-5A4A-832BF17131D7}"/>
              </a:ext>
            </a:extLst>
          </p:cNvPr>
          <p:cNvSpPr/>
          <p:nvPr/>
        </p:nvSpPr>
        <p:spPr>
          <a:xfrm>
            <a:off x="1122778" y="7908172"/>
            <a:ext cx="8488830" cy="2915107"/>
          </a:xfrm>
          <a:prstGeom prst="roundRect">
            <a:avLst>
              <a:gd name="adj" fmla="val 871"/>
            </a:avLst>
          </a:prstGeom>
          <a:solidFill>
            <a:srgbClr val="F0F7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2" name="Shape 4">
            <a:extLst>
              <a:ext uri="{FF2B5EF4-FFF2-40B4-BE49-F238E27FC236}">
                <a16:creationId xmlns:a16="http://schemas.microsoft.com/office/drawing/2014/main" id="{4651ED07-6C32-3F6B-A1FA-29142D7A8DC2}"/>
              </a:ext>
            </a:extLst>
          </p:cNvPr>
          <p:cNvSpPr/>
          <p:nvPr/>
        </p:nvSpPr>
        <p:spPr>
          <a:xfrm>
            <a:off x="1112720" y="7896287"/>
            <a:ext cx="45719" cy="2915106"/>
          </a:xfrm>
          <a:prstGeom prst="roundRect">
            <a:avLst>
              <a:gd name="adj" fmla="val 45898"/>
            </a:avLst>
          </a:prstGeom>
          <a:solidFill>
            <a:srgbClr val="002C5F"/>
          </a:solidFill>
          <a:ln w="12700">
            <a:solidFill>
              <a:srgbClr val="002C5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8" name="Shape 3">
            <a:extLst>
              <a:ext uri="{FF2B5EF4-FFF2-40B4-BE49-F238E27FC236}">
                <a16:creationId xmlns:a16="http://schemas.microsoft.com/office/drawing/2014/main" id="{29B60B05-4B54-A5D8-BBA8-960F91C9D0D7}"/>
              </a:ext>
            </a:extLst>
          </p:cNvPr>
          <p:cNvSpPr/>
          <p:nvPr/>
        </p:nvSpPr>
        <p:spPr>
          <a:xfrm>
            <a:off x="1132836" y="4424739"/>
            <a:ext cx="8488830" cy="2915107"/>
          </a:xfrm>
          <a:prstGeom prst="roundRect">
            <a:avLst>
              <a:gd name="adj" fmla="val 871"/>
            </a:avLst>
          </a:prstGeom>
          <a:solidFill>
            <a:srgbClr val="F0F7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9" name="Shape 4">
            <a:extLst>
              <a:ext uri="{FF2B5EF4-FFF2-40B4-BE49-F238E27FC236}">
                <a16:creationId xmlns:a16="http://schemas.microsoft.com/office/drawing/2014/main" id="{57D5CD80-91CE-C2A3-49FB-EB74FA5AB0BC}"/>
              </a:ext>
            </a:extLst>
          </p:cNvPr>
          <p:cNvSpPr/>
          <p:nvPr/>
        </p:nvSpPr>
        <p:spPr>
          <a:xfrm>
            <a:off x="1122778" y="4412854"/>
            <a:ext cx="45719" cy="2915106"/>
          </a:xfrm>
          <a:prstGeom prst="roundRect">
            <a:avLst>
              <a:gd name="adj" fmla="val 45898"/>
            </a:avLst>
          </a:prstGeom>
          <a:solidFill>
            <a:srgbClr val="002C5F"/>
          </a:solidFill>
          <a:ln w="12700">
            <a:solidFill>
              <a:srgbClr val="002C5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 txBox="1"/>
          <p:nvPr/>
        </p:nvSpPr>
        <p:spPr>
          <a:xfrm>
            <a:off x="2384190" y="2691791"/>
            <a:ext cx="6675120" cy="6108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600" b="1" dirty="0" err="1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현대자동차</a:t>
            </a:r>
            <a:r>
              <a:rPr lang="en-US" sz="36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블루멤버스 개요</a:t>
            </a:r>
            <a:endParaRPr lang="en-US" sz="3600" dirty="0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rcRect t="-71" b="-71"/>
          <a:stretch/>
        </p:blipFill>
        <p:spPr>
          <a:xfrm>
            <a:off x="1708448" y="4730150"/>
            <a:ext cx="742492" cy="762610"/>
          </a:xfrm>
          <a:prstGeom prst="rect">
            <a:avLst/>
          </a:prstGeom>
        </p:spPr>
      </p:pic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rcRect l="-1282" r="-1282"/>
          <a:stretch/>
        </p:blipFill>
        <p:spPr>
          <a:xfrm>
            <a:off x="1862068" y="4911202"/>
            <a:ext cx="438912" cy="38039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2756351" y="4730150"/>
            <a:ext cx="6269126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LP (Loyal Point) </a:t>
            </a:r>
            <a:r>
              <a:rPr lang="en-US" sz="2600" b="1" dirty="0" err="1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멤버십</a:t>
            </a:r>
            <a:r>
              <a:rPr lang="en-US" sz="26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ko-KR" altLang="en-US" sz="26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서비스</a:t>
            </a:r>
            <a:endParaRPr lang="en-US" sz="2600" dirty="0"/>
          </a:p>
        </p:txBody>
      </p:sp>
      <p:sp>
        <p:nvSpPr>
          <p:cNvPr id="15" name="Text 11"/>
          <p:cNvSpPr txBox="1"/>
          <p:nvPr/>
        </p:nvSpPr>
        <p:spPr>
          <a:xfrm>
            <a:off x="2756350" y="5415949"/>
            <a:ext cx="71341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포인트 적립·사용 반복으로 </a:t>
            </a:r>
            <a:r>
              <a:rPr lang="en-US" sz="20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락인(Lock In) 효과</a:t>
            </a:r>
            <a:r>
              <a:rPr lang="en-US" sz="20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유도</a:t>
            </a:r>
            <a:endParaRPr lang="en-US" sz="2000" dirty="0"/>
          </a:p>
        </p:txBody>
      </p:sp>
      <p:sp>
        <p:nvSpPr>
          <p:cNvPr id="16" name="Text 12"/>
          <p:cNvSpPr txBox="1"/>
          <p:nvPr/>
        </p:nvSpPr>
        <p:spPr>
          <a:xfrm>
            <a:off x="2756350" y="6001165"/>
            <a:ext cx="64209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현대차 구매 및 제휴처 이용 시 포인트 적립</a:t>
            </a:r>
            <a:endParaRPr lang="en-US" sz="2000" dirty="0"/>
          </a:p>
        </p:txBody>
      </p:sp>
      <p:sp>
        <p:nvSpPr>
          <p:cNvPr id="17" name="Text 13"/>
          <p:cNvSpPr txBox="1"/>
          <p:nvPr/>
        </p:nvSpPr>
        <p:spPr>
          <a:xfrm>
            <a:off x="2756350" y="6586381"/>
            <a:ext cx="64209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100여개 제휴처에서 포인트 사용 가능</a:t>
            </a:r>
            <a:endParaRPr lang="en-US" sz="2000" dirty="0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rcRect t="-40" b="-40"/>
          <a:stretch/>
        </p:blipFill>
        <p:spPr>
          <a:xfrm>
            <a:off x="1698390" y="8231870"/>
            <a:ext cx="685800" cy="762610"/>
          </a:xfrm>
          <a:prstGeom prst="rect">
            <a:avLst/>
          </a:prstGeom>
        </p:spPr>
      </p:pic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852011" y="8412922"/>
            <a:ext cx="380390" cy="38039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2689600" y="8231870"/>
            <a:ext cx="5429708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프로모션 형식</a:t>
            </a:r>
            <a:endParaRPr lang="en-US" sz="2600" dirty="0"/>
          </a:p>
        </p:txBody>
      </p:sp>
      <p:sp>
        <p:nvSpPr>
          <p:cNvPr id="22" name="Text 16"/>
          <p:cNvSpPr txBox="1"/>
          <p:nvPr/>
        </p:nvSpPr>
        <p:spPr>
          <a:xfrm>
            <a:off x="2689600" y="8917669"/>
            <a:ext cx="60149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카카오톡, 문자, 이메일 등 다양한 채널 활용</a:t>
            </a:r>
            <a:endParaRPr lang="en-US" sz="2000" dirty="0"/>
          </a:p>
        </p:txBody>
      </p:sp>
      <p:sp>
        <p:nvSpPr>
          <p:cNvPr id="23" name="Text 17"/>
          <p:cNvSpPr txBox="1"/>
          <p:nvPr/>
        </p:nvSpPr>
        <p:spPr>
          <a:xfrm>
            <a:off x="2689600" y="9502885"/>
            <a:ext cx="54297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제휴처 및 프로모션 정보 제공</a:t>
            </a:r>
            <a:endParaRPr lang="en-US" sz="2000" dirty="0"/>
          </a:p>
        </p:txBody>
      </p:sp>
      <p:sp>
        <p:nvSpPr>
          <p:cNvPr id="24" name="Text 18"/>
          <p:cNvSpPr txBox="1"/>
          <p:nvPr/>
        </p:nvSpPr>
        <p:spPr>
          <a:xfrm>
            <a:off x="2689600" y="10088101"/>
            <a:ext cx="54297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포인트 사용 촉진을 위한 캠페인 진행</a:t>
            </a:r>
            <a:endParaRPr lang="en-US" sz="2000" dirty="0"/>
          </a:p>
        </p:txBody>
      </p:sp>
      <p:sp>
        <p:nvSpPr>
          <p:cNvPr id="26" name="Text 19"/>
          <p:cNvSpPr txBox="1"/>
          <p:nvPr/>
        </p:nvSpPr>
        <p:spPr>
          <a:xfrm>
            <a:off x="13991775" y="2691791"/>
            <a:ext cx="7055951" cy="6108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600" b="1" dirty="0" err="1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기존</a:t>
            </a:r>
            <a:r>
              <a:rPr lang="en-US" sz="36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ko-KR" altLang="en-US" sz="36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프로모션 방식</a:t>
            </a:r>
            <a:r>
              <a:rPr lang="en-US" sz="36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의 한계 및 과제</a:t>
            </a:r>
            <a:endParaRPr lang="en-US" sz="3600" dirty="0"/>
          </a:p>
        </p:txBody>
      </p:sp>
      <p:sp>
        <p:nvSpPr>
          <p:cNvPr id="29" name="Text 21"/>
          <p:cNvSpPr txBox="1"/>
          <p:nvPr/>
        </p:nvSpPr>
        <p:spPr>
          <a:xfrm>
            <a:off x="11782959" y="4797584"/>
            <a:ext cx="2999232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26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기존 프로모션 방식</a:t>
            </a:r>
            <a:endParaRPr lang="en-US" sz="2600" dirty="0"/>
          </a:p>
        </p:txBody>
      </p:sp>
      <p:sp>
        <p:nvSpPr>
          <p:cNvPr id="30" name="Text 22"/>
          <p:cNvSpPr txBox="1"/>
          <p:nvPr/>
        </p:nvSpPr>
        <p:spPr>
          <a:xfrm>
            <a:off x="11137344" y="5673577"/>
            <a:ext cx="5073092" cy="382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Heuristic Decision</a:t>
            </a:r>
            <a:endParaRPr lang="en-US" sz="2400" dirty="0"/>
          </a:p>
        </p:txBody>
      </p:sp>
      <p:sp>
        <p:nvSpPr>
          <p:cNvPr id="31" name="Text 23"/>
          <p:cNvSpPr txBox="1"/>
          <p:nvPr/>
        </p:nvSpPr>
        <p:spPr>
          <a:xfrm>
            <a:off x="11137344" y="6130777"/>
            <a:ext cx="5029200" cy="6108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해당 제휴처에 반응할 만한 </a:t>
            </a:r>
            <a:r>
              <a:rPr lang="en-US" sz="2000" dirty="0" err="1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고객군을</a:t>
            </a:r>
            <a:r>
              <a:rPr lang="en-US" sz="20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br>
              <a:rPr lang="en-US" sz="20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</a:br>
            <a:r>
              <a:rPr lang="en-US" sz="2000" dirty="0" err="1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담당자의</a:t>
            </a:r>
            <a:r>
              <a:rPr lang="en-US" sz="20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주관적 판단으로 선정</a:t>
            </a:r>
            <a:endParaRPr lang="en-US" sz="2000" dirty="0"/>
          </a:p>
        </p:txBody>
      </p:sp>
      <p:sp>
        <p:nvSpPr>
          <p:cNvPr id="32" name="Text 24"/>
          <p:cNvSpPr txBox="1"/>
          <p:nvPr/>
        </p:nvSpPr>
        <p:spPr>
          <a:xfrm>
            <a:off x="11137344" y="9017953"/>
            <a:ext cx="5073092" cy="382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24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</a:rPr>
              <a:t>Heuristic-Based Strategy</a:t>
            </a:r>
            <a:endParaRPr lang="en-US" sz="2400" b="1" dirty="0">
              <a:solidFill>
                <a:srgbClr val="000000"/>
              </a:solidFill>
              <a:latin typeface="Noto Sans KR" pitchFamily="34" charset="0"/>
              <a:ea typeface="Noto Sans KR" pitchFamily="34" charset="-122"/>
            </a:endParaRPr>
          </a:p>
        </p:txBody>
      </p:sp>
      <p:sp>
        <p:nvSpPr>
          <p:cNvPr id="33" name="Text 25"/>
          <p:cNvSpPr txBox="1"/>
          <p:nvPr/>
        </p:nvSpPr>
        <p:spPr>
          <a:xfrm>
            <a:off x="11137344" y="9386980"/>
            <a:ext cx="5029200" cy="6108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20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프로모션 전략의 수립 기준이 부재</a:t>
            </a:r>
            <a:endParaRPr lang="en-US" sz="2000" dirty="0"/>
          </a:p>
        </p:txBody>
      </p:sp>
      <p:sp>
        <p:nvSpPr>
          <p:cNvPr id="34" name="Text 26"/>
          <p:cNvSpPr txBox="1"/>
          <p:nvPr/>
        </p:nvSpPr>
        <p:spPr>
          <a:xfrm>
            <a:off x="11137344" y="7469094"/>
            <a:ext cx="5073092" cy="382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Simplistic Filtering</a:t>
            </a:r>
            <a:endParaRPr lang="en-US" sz="2400" dirty="0"/>
          </a:p>
        </p:txBody>
      </p:sp>
      <p:sp>
        <p:nvSpPr>
          <p:cNvPr id="35" name="Text 27"/>
          <p:cNvSpPr txBox="1"/>
          <p:nvPr/>
        </p:nvSpPr>
        <p:spPr>
          <a:xfrm>
            <a:off x="11137344" y="7926295"/>
            <a:ext cx="5813756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연령대·성별 정보로만 </a:t>
            </a:r>
            <a:r>
              <a:rPr lang="en-US" sz="2000" dirty="0" err="1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단순</a:t>
            </a:r>
            <a:r>
              <a:rPr lang="en-US" sz="20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필터링</a:t>
            </a:r>
            <a:endParaRPr lang="en-US" sz="2000" dirty="0"/>
          </a:p>
        </p:txBody>
      </p:sp>
      <p:sp>
        <p:nvSpPr>
          <p:cNvPr id="38" name="Text 29"/>
          <p:cNvSpPr txBox="1"/>
          <p:nvPr/>
        </p:nvSpPr>
        <p:spPr>
          <a:xfrm>
            <a:off x="18236256" y="4381340"/>
            <a:ext cx="5421329" cy="1068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질문 (Problem Definition)</a:t>
            </a:r>
            <a:endParaRPr lang="en-US" sz="2600" dirty="0"/>
          </a:p>
        </p:txBody>
      </p:sp>
      <p:sp>
        <p:nvSpPr>
          <p:cNvPr id="40" name="Text 30"/>
          <p:cNvSpPr txBox="1"/>
          <p:nvPr/>
        </p:nvSpPr>
        <p:spPr>
          <a:xfrm>
            <a:off x="18236256" y="5852799"/>
            <a:ext cx="5174440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</a:t>
            </a:r>
            <a:r>
              <a:rPr lang="en-US" sz="20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어떤</a:t>
            </a:r>
            <a:r>
              <a:rPr lang="en-US" sz="20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20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제휴처</a:t>
            </a:r>
            <a:r>
              <a:rPr lang="en-US" sz="20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와 관련한 프로모션을 해야 </a:t>
            </a:r>
            <a:r>
              <a:rPr lang="en-US" sz="2000" dirty="0" err="1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하는가</a:t>
            </a:r>
            <a:r>
              <a:rPr lang="en-US" sz="20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?"</a:t>
            </a:r>
            <a:endParaRPr lang="en-US" sz="2000" dirty="0"/>
          </a:p>
        </p:txBody>
      </p:sp>
      <p:sp>
        <p:nvSpPr>
          <p:cNvPr id="42" name="Text 31"/>
          <p:cNvSpPr txBox="1"/>
          <p:nvPr/>
        </p:nvSpPr>
        <p:spPr>
          <a:xfrm>
            <a:off x="17937891" y="7606441"/>
            <a:ext cx="5716159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"그 제휴처에 대한 프로모션을 </a:t>
            </a:r>
            <a:r>
              <a:rPr lang="en-US" sz="20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누구에게</a:t>
            </a:r>
            <a:r>
              <a:rPr lang="en-US" sz="20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해야 하는가?"</a:t>
            </a:r>
            <a:endParaRPr lang="en-US" sz="2000" dirty="0"/>
          </a:p>
        </p:txBody>
      </p:sp>
      <p:pic>
        <p:nvPicPr>
          <p:cNvPr id="46" name="Image 10" descr="preencoded.png"/>
          <p:cNvPicPr>
            <a:picLocks noChangeAspect="1"/>
          </p:cNvPicPr>
          <p:nvPr/>
        </p:nvPicPr>
        <p:blipFill>
          <a:blip r:embed="rId7"/>
          <a:srcRect t="-1100" b="-1100"/>
          <a:stretch/>
        </p:blipFill>
        <p:spPr>
          <a:xfrm>
            <a:off x="18414188" y="11578132"/>
            <a:ext cx="228600" cy="267004"/>
          </a:xfrm>
          <a:prstGeom prst="rect">
            <a:avLst/>
          </a:prstGeom>
        </p:spPr>
      </p:pic>
      <p:sp>
        <p:nvSpPr>
          <p:cNvPr id="50" name="Shape 8">
            <a:extLst>
              <a:ext uri="{FF2B5EF4-FFF2-40B4-BE49-F238E27FC236}">
                <a16:creationId xmlns:a16="http://schemas.microsoft.com/office/drawing/2014/main" id="{7C7B8867-8D20-1BAE-19D2-CE76FEDEB5F6}"/>
              </a:ext>
            </a:extLst>
          </p:cNvPr>
          <p:cNvSpPr/>
          <p:nvPr/>
        </p:nvSpPr>
        <p:spPr>
          <a:xfrm>
            <a:off x="0" y="0"/>
            <a:ext cx="24383390" cy="2095805"/>
          </a:xfrm>
          <a:prstGeom prst="rect">
            <a:avLst/>
          </a:prstGeom>
          <a:solidFill>
            <a:srgbClr val="002C5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1" name="Shape 9">
            <a:extLst>
              <a:ext uri="{FF2B5EF4-FFF2-40B4-BE49-F238E27FC236}">
                <a16:creationId xmlns:a16="http://schemas.microsoft.com/office/drawing/2014/main" id="{D29B8078-1255-2602-51B2-28466147EA13}"/>
              </a:ext>
            </a:extLst>
          </p:cNvPr>
          <p:cNvSpPr/>
          <p:nvPr/>
        </p:nvSpPr>
        <p:spPr>
          <a:xfrm>
            <a:off x="1333195" y="2018995"/>
            <a:ext cx="1904695" cy="75895"/>
          </a:xfrm>
          <a:prstGeom prst="rect">
            <a:avLst/>
          </a:prstGeom>
          <a:solidFill>
            <a:srgbClr val="90D4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2" name="Shape 10">
            <a:extLst>
              <a:ext uri="{FF2B5EF4-FFF2-40B4-BE49-F238E27FC236}">
                <a16:creationId xmlns:a16="http://schemas.microsoft.com/office/drawing/2014/main" id="{F0F0AE51-FC9B-8C6D-8720-40273DC6BE36}"/>
              </a:ext>
            </a:extLst>
          </p:cNvPr>
          <p:cNvSpPr/>
          <p:nvPr/>
        </p:nvSpPr>
        <p:spPr>
          <a:xfrm>
            <a:off x="1333195" y="323698"/>
            <a:ext cx="1438351" cy="437998"/>
          </a:xfrm>
          <a:prstGeom prst="roundRect">
            <a:avLst>
              <a:gd name="adj" fmla="val 36307"/>
            </a:avLst>
          </a:prstGeom>
          <a:solidFill>
            <a:srgbClr val="90D4FF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4" name="Text 12">
            <a:extLst>
              <a:ext uri="{FF2B5EF4-FFF2-40B4-BE49-F238E27FC236}">
                <a16:creationId xmlns:a16="http://schemas.microsoft.com/office/drawing/2014/main" id="{4043581C-66C4-6E97-DBAA-DAF5CD7EBA9B}"/>
              </a:ext>
            </a:extLst>
          </p:cNvPr>
          <p:cNvSpPr txBox="1"/>
          <p:nvPr/>
        </p:nvSpPr>
        <p:spPr>
          <a:xfrm>
            <a:off x="2906878" y="342900"/>
            <a:ext cx="11404208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chemeClr val="bg1"/>
                </a:solidFill>
                <a:latin typeface="Inter" pitchFamily="34" charset="0"/>
              </a:rPr>
              <a:t>LLM</a:t>
            </a:r>
            <a:r>
              <a:rPr lang="ko-KR" altLang="en-US" sz="2000" dirty="0">
                <a:solidFill>
                  <a:schemeClr val="bg1"/>
                </a:solidFill>
                <a:latin typeface="Inter" pitchFamily="34" charset="0"/>
              </a:rPr>
              <a:t> 활용 패션 트렌드 조기 탐지 및 </a:t>
            </a:r>
            <a:r>
              <a:rPr lang="ko-KR" altLang="en-US" sz="2000" dirty="0" err="1">
                <a:solidFill>
                  <a:schemeClr val="bg1"/>
                </a:solidFill>
                <a:latin typeface="Inter" pitchFamily="34" charset="0"/>
              </a:rPr>
              <a:t>사입</a:t>
            </a:r>
            <a:r>
              <a:rPr lang="ko-KR" altLang="en-US" sz="2000" dirty="0">
                <a:solidFill>
                  <a:schemeClr val="bg1"/>
                </a:solidFill>
                <a:latin typeface="Inter" pitchFamily="34" charset="0"/>
              </a:rPr>
              <a:t> 후보 추천 시스템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55" name="Text 13">
            <a:extLst>
              <a:ext uri="{FF2B5EF4-FFF2-40B4-BE49-F238E27FC236}">
                <a16:creationId xmlns:a16="http://schemas.microsoft.com/office/drawing/2014/main" id="{DF806C6E-BDD1-CB99-8F12-2A777F1D78FC}"/>
              </a:ext>
            </a:extLst>
          </p:cNvPr>
          <p:cNvSpPr txBox="1"/>
          <p:nvPr/>
        </p:nvSpPr>
        <p:spPr>
          <a:xfrm>
            <a:off x="1333195" y="856793"/>
            <a:ext cx="670621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4700" b="1" kern="0" spc="-96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</a:rPr>
              <a:t>프로젝트 배경</a:t>
            </a:r>
            <a:endParaRPr lang="en-US" sz="4700" dirty="0"/>
          </a:p>
        </p:txBody>
      </p:sp>
      <p:sp>
        <p:nvSpPr>
          <p:cNvPr id="57" name="Text 41">
            <a:extLst>
              <a:ext uri="{FF2B5EF4-FFF2-40B4-BE49-F238E27FC236}">
                <a16:creationId xmlns:a16="http://schemas.microsoft.com/office/drawing/2014/main" id="{B59D86C1-3DD8-C5F5-CF60-3905527CD064}"/>
              </a:ext>
            </a:extLst>
          </p:cNvPr>
          <p:cNvSpPr txBox="1"/>
          <p:nvPr/>
        </p:nvSpPr>
        <p:spPr>
          <a:xfrm>
            <a:off x="22047199" y="13181234"/>
            <a:ext cx="2620569" cy="322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9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Lim Chaewon Portfolio</a:t>
            </a:r>
            <a:endParaRPr lang="en-US" sz="1700" dirty="0"/>
          </a:p>
        </p:txBody>
      </p:sp>
      <p:cxnSp>
        <p:nvCxnSpPr>
          <p:cNvPr id="63" name="직선 연결선 62">
            <a:extLst>
              <a:ext uri="{FF2B5EF4-FFF2-40B4-BE49-F238E27FC236}">
                <a16:creationId xmlns:a16="http://schemas.microsoft.com/office/drawing/2014/main" id="{156A9D9D-92C0-68D5-F62C-A8F8889FC3DC}"/>
              </a:ext>
            </a:extLst>
          </p:cNvPr>
          <p:cNvCxnSpPr/>
          <p:nvPr/>
        </p:nvCxnSpPr>
        <p:spPr>
          <a:xfrm>
            <a:off x="9928572" y="2691791"/>
            <a:ext cx="0" cy="9907521"/>
          </a:xfrm>
          <a:prstGeom prst="line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Shape 17">
            <a:extLst>
              <a:ext uri="{FF2B5EF4-FFF2-40B4-BE49-F238E27FC236}">
                <a16:creationId xmlns:a16="http://schemas.microsoft.com/office/drawing/2014/main" id="{02BC6683-C012-2EFC-53BC-DD15E27A2182}"/>
              </a:ext>
            </a:extLst>
          </p:cNvPr>
          <p:cNvSpPr/>
          <p:nvPr/>
        </p:nvSpPr>
        <p:spPr>
          <a:xfrm>
            <a:off x="17486012" y="9209063"/>
            <a:ext cx="6458236" cy="1131737"/>
          </a:xfrm>
          <a:prstGeom prst="roundRect">
            <a:avLst>
              <a:gd name="adj" fmla="val 6347"/>
            </a:avLst>
          </a:prstGeom>
          <a:solidFill>
            <a:srgbClr val="F0F7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4" name="Text 32"/>
          <p:cNvSpPr txBox="1"/>
          <p:nvPr/>
        </p:nvSpPr>
        <p:spPr>
          <a:xfrm>
            <a:off x="17699581" y="9426780"/>
            <a:ext cx="6224016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</a:t>
            </a:r>
            <a:r>
              <a:rPr lang="en-US" sz="2000" dirty="0" err="1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정해진</a:t>
            </a:r>
            <a:r>
              <a:rPr lang="en-US" sz="20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ko-KR" altLang="en-US" sz="20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프로모션</a:t>
            </a:r>
            <a:r>
              <a:rPr lang="en-US" sz="20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비용을</a:t>
            </a:r>
            <a:r>
              <a:rPr lang="en-US" sz="20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누구에게</a:t>
            </a:r>
            <a:r>
              <a:rPr lang="en-US" sz="20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사용해야 효율적인가?"</a:t>
            </a:r>
            <a:endParaRPr lang="en-US" sz="2000" dirty="0"/>
          </a:p>
        </p:txBody>
      </p:sp>
      <p:sp>
        <p:nvSpPr>
          <p:cNvPr id="76" name="Text 29">
            <a:extLst>
              <a:ext uri="{FF2B5EF4-FFF2-40B4-BE49-F238E27FC236}">
                <a16:creationId xmlns:a16="http://schemas.microsoft.com/office/drawing/2014/main" id="{2D654067-5393-08A1-A31D-EFB2EA387061}"/>
              </a:ext>
            </a:extLst>
          </p:cNvPr>
          <p:cNvSpPr txBox="1"/>
          <p:nvPr/>
        </p:nvSpPr>
        <p:spPr>
          <a:xfrm>
            <a:off x="17897597" y="11419545"/>
            <a:ext cx="5851753" cy="9628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3200" b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기반 </a:t>
            </a:r>
            <a:br>
              <a:rPr lang="en-US" altLang="ko-KR" sz="3200" b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</a:br>
            <a:r>
              <a:rPr lang="ko-KR" altLang="en-US" sz="3200" b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의사결정 체계 필요</a:t>
            </a:r>
            <a:endParaRPr lang="en-US" altLang="ko-KR" sz="3200" b="1" dirty="0">
              <a:solidFill>
                <a:srgbClr val="334155"/>
              </a:solidFill>
              <a:latin typeface="Noto Sans KR" pitchFamily="34" charset="0"/>
              <a:ea typeface="Noto Sans KR" pitchFamily="34" charset="-122"/>
              <a:cs typeface="Noto Sans KR" pitchFamily="34" charset="-120"/>
            </a:endParaRPr>
          </a:p>
        </p:txBody>
      </p:sp>
      <p:sp>
        <p:nvSpPr>
          <p:cNvPr id="2" name="Text 11">
            <a:extLst>
              <a:ext uri="{FF2B5EF4-FFF2-40B4-BE49-F238E27FC236}">
                <a16:creationId xmlns:a16="http://schemas.microsoft.com/office/drawing/2014/main" id="{2C253619-24AD-C28E-95C5-179312291024}"/>
              </a:ext>
            </a:extLst>
          </p:cNvPr>
          <p:cNvSpPr txBox="1"/>
          <p:nvPr/>
        </p:nvSpPr>
        <p:spPr>
          <a:xfrm>
            <a:off x="1518810" y="312725"/>
            <a:ext cx="1515161" cy="4389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39700" tIns="50800" rIns="139700" bIns="5080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90D4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Project 1</a:t>
            </a:r>
            <a:endParaRPr lang="en-US" sz="1700" dirty="0"/>
          </a:p>
        </p:txBody>
      </p:sp>
    </p:spTree>
    <p:extLst>
      <p:ext uri="{BB962C8B-B14F-4D97-AF65-F5344CB8AC3E}">
        <p14:creationId xmlns:p14="http://schemas.microsoft.com/office/powerpoint/2010/main" val="17073160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90F46A-FB87-99B1-ABDE-2559A89432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Shape 8">
            <a:extLst>
              <a:ext uri="{FF2B5EF4-FFF2-40B4-BE49-F238E27FC236}">
                <a16:creationId xmlns:a16="http://schemas.microsoft.com/office/drawing/2014/main" id="{A119D030-E9F1-8E32-0452-98E395EF90AF}"/>
              </a:ext>
            </a:extLst>
          </p:cNvPr>
          <p:cNvSpPr/>
          <p:nvPr/>
        </p:nvSpPr>
        <p:spPr>
          <a:xfrm>
            <a:off x="0" y="0"/>
            <a:ext cx="24383390" cy="2095805"/>
          </a:xfrm>
          <a:prstGeom prst="rect">
            <a:avLst/>
          </a:prstGeom>
          <a:solidFill>
            <a:srgbClr val="002C5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1" name="Shape 9">
            <a:extLst>
              <a:ext uri="{FF2B5EF4-FFF2-40B4-BE49-F238E27FC236}">
                <a16:creationId xmlns:a16="http://schemas.microsoft.com/office/drawing/2014/main" id="{02DC43B9-2EF8-B443-52FC-8BA6DD53E675}"/>
              </a:ext>
            </a:extLst>
          </p:cNvPr>
          <p:cNvSpPr/>
          <p:nvPr/>
        </p:nvSpPr>
        <p:spPr>
          <a:xfrm>
            <a:off x="1333195" y="2018995"/>
            <a:ext cx="1904695" cy="75895"/>
          </a:xfrm>
          <a:prstGeom prst="rect">
            <a:avLst/>
          </a:prstGeom>
          <a:solidFill>
            <a:srgbClr val="90D4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2" name="Shape 10">
            <a:extLst>
              <a:ext uri="{FF2B5EF4-FFF2-40B4-BE49-F238E27FC236}">
                <a16:creationId xmlns:a16="http://schemas.microsoft.com/office/drawing/2014/main" id="{776593C5-944F-D7BF-AC15-537DDBCBC45A}"/>
              </a:ext>
            </a:extLst>
          </p:cNvPr>
          <p:cNvSpPr/>
          <p:nvPr/>
        </p:nvSpPr>
        <p:spPr>
          <a:xfrm>
            <a:off x="1333195" y="323698"/>
            <a:ext cx="1438351" cy="437998"/>
          </a:xfrm>
          <a:prstGeom prst="roundRect">
            <a:avLst>
              <a:gd name="adj" fmla="val 36307"/>
            </a:avLst>
          </a:prstGeom>
          <a:solidFill>
            <a:srgbClr val="90D4FF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4" name="Text 12">
            <a:extLst>
              <a:ext uri="{FF2B5EF4-FFF2-40B4-BE49-F238E27FC236}">
                <a16:creationId xmlns:a16="http://schemas.microsoft.com/office/drawing/2014/main" id="{15EFA48D-CF14-AFB0-E922-D43CE8691D69}"/>
              </a:ext>
            </a:extLst>
          </p:cNvPr>
          <p:cNvSpPr txBox="1"/>
          <p:nvPr/>
        </p:nvSpPr>
        <p:spPr>
          <a:xfrm>
            <a:off x="2906878" y="342900"/>
            <a:ext cx="11404208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2000" dirty="0">
                <a:solidFill>
                  <a:schemeClr val="bg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LLM 활용 패션 트렌드 조기 탐지 및 사입 후보 추천 시스템</a:t>
            </a:r>
            <a:r>
              <a:rPr lang="ko-KR" altLang="en-US" sz="2000" dirty="0" err="1">
                <a:solidFill>
                  <a:schemeClr val="bg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/>
            </a:r>
            <a:r>
              <a:rPr lang="ko-KR" altLang="en-US" sz="2000" dirty="0">
                <a:solidFill>
                  <a:schemeClr val="bg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/>
            </a:r>
            <a:r>
              <a:rPr lang="ko-KR" altLang="en-US" sz="2000" dirty="0" err="1">
                <a:solidFill>
                  <a:schemeClr val="bg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/>
            </a:r>
            <a:r>
              <a:rPr lang="ko-KR" altLang="en-US" sz="2000" dirty="0">
                <a:solidFill>
                  <a:schemeClr val="bg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/>
            </a:r>
            <a:r>
              <a:rPr lang="ko-KR" altLang="en-US" sz="2000" dirty="0" err="1">
                <a:solidFill>
                  <a:schemeClr val="bg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/>
            </a:r>
            <a:r>
              <a:rPr lang="ko-KR" altLang="en-US" sz="2000" dirty="0" err="1">
                <a:solidFill>
                  <a:schemeClr val="bg1"/>
                </a:solidFill>
                <a:latin typeface="Inter"/>
                <a:ea typeface="Inter" pitchFamily="34" charset="-122"/>
                <a:cs typeface="Inter" pitchFamily="34" charset="-120"/>
              </a:rPr>
              <a:t/>
            </a:r>
            <a:r>
              <a:rPr lang="ko-KR" altLang="en-US" sz="2000" dirty="0">
                <a:solidFill>
                  <a:schemeClr val="bg1"/>
                </a:solidFill>
                <a:latin typeface="Inter"/>
                <a:ea typeface="Inter" pitchFamily="34" charset="-122"/>
                <a:cs typeface="Inter" pitchFamily="34" charset="-120"/>
              </a:rPr>
              <a:t/>
            </a:r>
            <a:r>
              <a:rPr lang="ko-KR" altLang="en-US" sz="2000" dirty="0" err="1">
                <a:solidFill>
                  <a:schemeClr val="bg1"/>
                </a:solidFill>
                <a:latin typeface="Inter"/>
                <a:ea typeface="Inter" pitchFamily="34" charset="-122"/>
                <a:cs typeface="Inter" pitchFamily="34" charset="-120"/>
              </a:rPr>
              <a:t/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55" name="Text 13">
            <a:extLst>
              <a:ext uri="{FF2B5EF4-FFF2-40B4-BE49-F238E27FC236}">
                <a16:creationId xmlns:a16="http://schemas.microsoft.com/office/drawing/2014/main" id="{71B15600-EF29-56E8-8765-41EAC9260C81}"/>
              </a:ext>
            </a:extLst>
          </p:cNvPr>
          <p:cNvSpPr txBox="1"/>
          <p:nvPr/>
        </p:nvSpPr>
        <p:spPr>
          <a:xfrm>
            <a:off x="1333195" y="856793"/>
            <a:ext cx="670621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4700" b="1" kern="0" spc="-96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</a:rPr>
              <a:t>프로젝트 목적</a:t>
            </a:r>
            <a:endParaRPr lang="en-US" sz="4700" dirty="0"/>
          </a:p>
        </p:txBody>
      </p:sp>
      <p:sp>
        <p:nvSpPr>
          <p:cNvPr id="57" name="Text 41">
            <a:extLst>
              <a:ext uri="{FF2B5EF4-FFF2-40B4-BE49-F238E27FC236}">
                <a16:creationId xmlns:a16="http://schemas.microsoft.com/office/drawing/2014/main" id="{4FB01607-04B8-BEE7-3EB3-8AD0018C351F}"/>
              </a:ext>
            </a:extLst>
          </p:cNvPr>
          <p:cNvSpPr txBox="1"/>
          <p:nvPr/>
        </p:nvSpPr>
        <p:spPr>
          <a:xfrm>
            <a:off x="22047199" y="13181234"/>
            <a:ext cx="2620569" cy="322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9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Lim Chaewon Portfolio</a:t>
            </a:r>
            <a:endParaRPr lang="en-US" sz="1700" dirty="0"/>
          </a:p>
        </p:txBody>
      </p:sp>
      <p:sp>
        <p:nvSpPr>
          <p:cNvPr id="2" name="Text 11">
            <a:extLst>
              <a:ext uri="{FF2B5EF4-FFF2-40B4-BE49-F238E27FC236}">
                <a16:creationId xmlns:a16="http://schemas.microsoft.com/office/drawing/2014/main" id="{323E2A2D-B329-10AA-D8F1-C92F8D8B26DB}"/>
              </a:ext>
            </a:extLst>
          </p:cNvPr>
          <p:cNvSpPr txBox="1"/>
          <p:nvPr/>
        </p:nvSpPr>
        <p:spPr>
          <a:xfrm>
            <a:off x="1518810" y="312725"/>
            <a:ext cx="1515161" cy="4389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39700" tIns="50800" rIns="139700" bIns="5080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90D4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Project 1</a:t>
            </a:r>
            <a:endParaRPr lang="en-US" sz="1700" dirty="0"/>
          </a:p>
        </p:txBody>
      </p:sp>
      <p:sp>
        <p:nvSpPr>
          <p:cNvPr id="8" name="Text 19">
            <a:extLst>
              <a:ext uri="{FF2B5EF4-FFF2-40B4-BE49-F238E27FC236}">
                <a16:creationId xmlns:a16="http://schemas.microsoft.com/office/drawing/2014/main" id="{8039E524-0C86-AC40-EE6E-735F27B36A08}"/>
              </a:ext>
            </a:extLst>
          </p:cNvPr>
          <p:cNvSpPr txBox="1"/>
          <p:nvPr/>
        </p:nvSpPr>
        <p:spPr>
          <a:xfrm>
            <a:off x="1333195" y="2548561"/>
            <a:ext cx="7055951" cy="6108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36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기반 의사결정</a:t>
            </a:r>
            <a:endParaRPr lang="en-US" sz="3600" dirty="0"/>
          </a:p>
        </p:txBody>
      </p:sp>
      <p:sp>
        <p:nvSpPr>
          <p:cNvPr id="28" name="Shape 17">
            <a:extLst>
              <a:ext uri="{FF2B5EF4-FFF2-40B4-BE49-F238E27FC236}">
                <a16:creationId xmlns:a16="http://schemas.microsoft.com/office/drawing/2014/main" id="{BFF9F02A-4BC3-550E-523A-F62A596E017C}"/>
              </a:ext>
            </a:extLst>
          </p:cNvPr>
          <p:cNvSpPr/>
          <p:nvPr/>
        </p:nvSpPr>
        <p:spPr>
          <a:xfrm>
            <a:off x="2264969" y="10377545"/>
            <a:ext cx="19427711" cy="2995555"/>
          </a:xfrm>
          <a:prstGeom prst="roundRect">
            <a:avLst>
              <a:gd name="adj" fmla="val 6347"/>
            </a:avLst>
          </a:prstGeom>
          <a:solidFill>
            <a:srgbClr val="F0F7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0">
            <a:extLst>
              <a:ext uri="{FF2B5EF4-FFF2-40B4-BE49-F238E27FC236}">
                <a16:creationId xmlns:a16="http://schemas.microsoft.com/office/drawing/2014/main" id="{36BBE93C-F4E8-1BFC-1BDA-55DE026B95EB}"/>
              </a:ext>
            </a:extLst>
          </p:cNvPr>
          <p:cNvSpPr txBox="1"/>
          <p:nvPr/>
        </p:nvSpPr>
        <p:spPr>
          <a:xfrm>
            <a:off x="3121160" y="11002533"/>
            <a:ext cx="11215511" cy="15942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8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</a:rPr>
              <a:t>최근 패션 트렌드 조기 탐지</a:t>
            </a:r>
            <a:endParaRPr lang="en-US" altLang="ko-KR" sz="2800" dirty="0">
              <a:solidFill>
                <a:srgbClr val="000000"/>
              </a:solidFill>
              <a:latin typeface="Noto Sans KR" pitchFamily="34" charset="0"/>
              <a:ea typeface="Noto Sans KR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ko-KR" sz="28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</a:rPr>
              <a:t>   - </a:t>
            </a:r>
            <a:r>
              <a:rPr lang="ko-KR" altLang="en-US" sz="28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</a:rPr>
              <a:t>현재 한참 유행하는 것이 아니라 유행의 조짐이 보이는 것을 탐지</a:t>
            </a:r>
            <a:endParaRPr lang="en-US" altLang="ko-KR" sz="2800" dirty="0">
              <a:solidFill>
                <a:srgbClr val="000000"/>
              </a:solidFill>
              <a:latin typeface="Noto Sans KR" pitchFamily="34" charset="0"/>
              <a:ea typeface="Noto Sans KR" pitchFamily="34" charset="-122"/>
            </a:endParaRPr>
          </a:p>
          <a:p>
            <a:pPr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8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</a:rPr>
              <a:t>도매상으로 </a:t>
            </a:r>
            <a:r>
              <a:rPr lang="ko-KR" altLang="en-US" sz="2800" dirty="0" err="1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</a:rPr>
              <a:t>부터</a:t>
            </a:r>
            <a:r>
              <a:rPr lang="ko-KR" altLang="en-US" sz="28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</a:rPr>
              <a:t> 어떤 품목을 구입할지 추천 리스트 순위표 제공</a:t>
            </a:r>
            <a:endParaRPr lang="en-US" altLang="ko-KR" sz="2800" dirty="0">
              <a:solidFill>
                <a:srgbClr val="000000"/>
              </a:solidFill>
              <a:latin typeface="Noto Sans KR" pitchFamily="34" charset="0"/>
              <a:ea typeface="Noto Sans KR" pitchFamily="34" charset="-122"/>
            </a:endParaRPr>
          </a:p>
          <a:p>
            <a:pPr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8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</a:rPr>
              <a:t>구체적으로 몇 개를 구입할지에 대한 수치 제공</a:t>
            </a:r>
            <a:r>
              <a:rPr lang="en-US" altLang="ko-KR" sz="28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</a:rPr>
              <a:t>(</a:t>
            </a:r>
            <a:r>
              <a:rPr lang="ko-KR" altLang="en-US" sz="28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</a:rPr>
              <a:t>데이터 확보 시</a:t>
            </a:r>
            <a:r>
              <a:rPr lang="en-US" altLang="ko-KR" sz="28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</a:rPr>
              <a:t>)</a:t>
            </a:r>
            <a:r>
              <a:rPr lang="ko-KR" altLang="en-US" sz="28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</a:rPr>
              <a:t> </a:t>
            </a:r>
            <a:endParaRPr lang="en-US" sz="2800" dirty="0">
              <a:solidFill>
                <a:srgbClr val="000000"/>
              </a:solidFill>
              <a:latin typeface="Noto Sans KR" pitchFamily="34" charset="0"/>
              <a:ea typeface="Noto Sans KR" pitchFamily="34" charset="-122"/>
            </a:endParaRPr>
          </a:p>
        </p:txBody>
      </p:sp>
      <p:pic>
        <p:nvPicPr>
          <p:cNvPr id="58" name="Picture 57" descr="조기탐지_순위표_도식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3312" y="3443149"/>
            <a:ext cx="21410535" cy="67503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12360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AA197B-C0A8-3A4F-1A78-18ABF53F12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Shape 8">
            <a:extLst>
              <a:ext uri="{FF2B5EF4-FFF2-40B4-BE49-F238E27FC236}">
                <a16:creationId xmlns:a16="http://schemas.microsoft.com/office/drawing/2014/main" id="{7E31590F-9ACB-2707-6CFC-62E93400304F}"/>
              </a:ext>
            </a:extLst>
          </p:cNvPr>
          <p:cNvSpPr/>
          <p:nvPr/>
        </p:nvSpPr>
        <p:spPr>
          <a:xfrm>
            <a:off x="0" y="0"/>
            <a:ext cx="24383390" cy="2095805"/>
          </a:xfrm>
          <a:prstGeom prst="rect">
            <a:avLst/>
          </a:prstGeom>
          <a:solidFill>
            <a:srgbClr val="002C5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1" name="Shape 9">
            <a:extLst>
              <a:ext uri="{FF2B5EF4-FFF2-40B4-BE49-F238E27FC236}">
                <a16:creationId xmlns:a16="http://schemas.microsoft.com/office/drawing/2014/main" id="{56A76E70-5D53-2B6B-7F15-D9D36C5A112C}"/>
              </a:ext>
            </a:extLst>
          </p:cNvPr>
          <p:cNvSpPr/>
          <p:nvPr/>
        </p:nvSpPr>
        <p:spPr>
          <a:xfrm>
            <a:off x="1333195" y="2018995"/>
            <a:ext cx="1904695" cy="75895"/>
          </a:xfrm>
          <a:prstGeom prst="rect">
            <a:avLst/>
          </a:prstGeom>
          <a:solidFill>
            <a:srgbClr val="90D4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2" name="Shape 10">
            <a:extLst>
              <a:ext uri="{FF2B5EF4-FFF2-40B4-BE49-F238E27FC236}">
                <a16:creationId xmlns:a16="http://schemas.microsoft.com/office/drawing/2014/main" id="{DEBA2710-B960-3381-4913-B7C81670AFCE}"/>
              </a:ext>
            </a:extLst>
          </p:cNvPr>
          <p:cNvSpPr/>
          <p:nvPr/>
        </p:nvSpPr>
        <p:spPr>
          <a:xfrm>
            <a:off x="1333195" y="323698"/>
            <a:ext cx="1438351" cy="437998"/>
          </a:xfrm>
          <a:prstGeom prst="roundRect">
            <a:avLst>
              <a:gd name="adj" fmla="val 36307"/>
            </a:avLst>
          </a:prstGeom>
          <a:solidFill>
            <a:srgbClr val="90D4FF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4" name="Text 12">
            <a:extLst>
              <a:ext uri="{FF2B5EF4-FFF2-40B4-BE49-F238E27FC236}">
                <a16:creationId xmlns:a16="http://schemas.microsoft.com/office/drawing/2014/main" id="{0DA3BC7F-6B97-83C9-9E5F-D9914F2A7F6D}"/>
              </a:ext>
            </a:extLst>
          </p:cNvPr>
          <p:cNvSpPr txBox="1"/>
          <p:nvPr/>
        </p:nvSpPr>
        <p:spPr>
          <a:xfrm>
            <a:off x="2906878" y="342900"/>
            <a:ext cx="11404208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2000" dirty="0">
                <a:solidFill>
                  <a:schemeClr val="bg1"/>
                </a:solidFill>
                <a:latin typeface="Inter" pitchFamily="34" charset="0"/>
              </a:rPr>
              <a:t>LLM</a:t>
            </a:r>
            <a:r>
              <a:rPr lang="ko-KR" altLang="en-US" sz="2000" dirty="0">
                <a:solidFill>
                  <a:schemeClr val="bg1"/>
                </a:solidFill>
                <a:latin typeface="Inter" pitchFamily="34" charset="0"/>
              </a:rPr>
              <a:t> 활용 패션 트렌드 조기 탐지 및 </a:t>
            </a:r>
            <a:r>
              <a:rPr lang="ko-KR" altLang="en-US" sz="2000" dirty="0" err="1">
                <a:solidFill>
                  <a:schemeClr val="bg1"/>
                </a:solidFill>
                <a:latin typeface="Inter" pitchFamily="34" charset="0"/>
              </a:rPr>
              <a:t>사입</a:t>
            </a:r>
            <a:r>
              <a:rPr lang="ko-KR" altLang="en-US" sz="2000" dirty="0">
                <a:solidFill>
                  <a:schemeClr val="bg1"/>
                </a:solidFill>
                <a:latin typeface="Inter" pitchFamily="34" charset="0"/>
              </a:rPr>
              <a:t> 후보 추천 시스템</a:t>
            </a:r>
            <a:endParaRPr lang="en-US" altLang="ko-KR" sz="2000" dirty="0">
              <a:solidFill>
                <a:schemeClr val="bg1"/>
              </a:solidFill>
            </a:endParaRPr>
          </a:p>
        </p:txBody>
      </p:sp>
      <p:sp>
        <p:nvSpPr>
          <p:cNvPr id="55" name="Text 13">
            <a:extLst>
              <a:ext uri="{FF2B5EF4-FFF2-40B4-BE49-F238E27FC236}">
                <a16:creationId xmlns:a16="http://schemas.microsoft.com/office/drawing/2014/main" id="{07885B52-0637-22F6-E7BD-53B87692FEAF}"/>
              </a:ext>
            </a:extLst>
          </p:cNvPr>
          <p:cNvSpPr txBox="1"/>
          <p:nvPr/>
        </p:nvSpPr>
        <p:spPr>
          <a:xfrm>
            <a:off x="1333195" y="856793"/>
            <a:ext cx="670621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4700" b="1" kern="0" spc="-96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</a:rPr>
              <a:t>프로젝트 개관</a:t>
            </a:r>
            <a:endParaRPr lang="en-US" sz="4700" dirty="0"/>
          </a:p>
        </p:txBody>
      </p:sp>
      <p:sp>
        <p:nvSpPr>
          <p:cNvPr id="57" name="Text 41">
            <a:extLst>
              <a:ext uri="{FF2B5EF4-FFF2-40B4-BE49-F238E27FC236}">
                <a16:creationId xmlns:a16="http://schemas.microsoft.com/office/drawing/2014/main" id="{ABF9C041-4324-12CF-40A9-D963D90E09C2}"/>
              </a:ext>
            </a:extLst>
          </p:cNvPr>
          <p:cNvSpPr txBox="1"/>
          <p:nvPr/>
        </p:nvSpPr>
        <p:spPr>
          <a:xfrm>
            <a:off x="22047199" y="13181234"/>
            <a:ext cx="2620569" cy="322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9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Lim Chaewon Portfolio</a:t>
            </a:r>
            <a:endParaRPr lang="en-US" sz="1700" dirty="0"/>
          </a:p>
        </p:txBody>
      </p:sp>
      <p:sp>
        <p:nvSpPr>
          <p:cNvPr id="2" name="Text 11">
            <a:extLst>
              <a:ext uri="{FF2B5EF4-FFF2-40B4-BE49-F238E27FC236}">
                <a16:creationId xmlns:a16="http://schemas.microsoft.com/office/drawing/2014/main" id="{B9320369-5863-693D-95A7-271981211969}"/>
              </a:ext>
            </a:extLst>
          </p:cNvPr>
          <p:cNvSpPr txBox="1"/>
          <p:nvPr/>
        </p:nvSpPr>
        <p:spPr>
          <a:xfrm>
            <a:off x="1518810" y="312725"/>
            <a:ext cx="1515161" cy="4389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39700" tIns="50800" rIns="139700" bIns="5080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90D4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Project 1</a:t>
            </a:r>
            <a:endParaRPr lang="en-US" sz="1700" dirty="0"/>
          </a:p>
        </p:txBody>
      </p:sp>
      <p:sp>
        <p:nvSpPr>
          <p:cNvPr id="58" name="TextBox 57"/>
          <p:cNvSpPr txBox="1"/>
          <p:nvPr/>
        </p:nvSpPr>
        <p:spPr>
          <a:xfrm>
            <a:off x="1333195" y="2697480"/>
            <a:ext cx="21718828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002C5F"/>
                </a:solidFill>
                <a:latin typeface="Noto Sans KR"/>
              </a:rPr>
              <a:t>매주 같은 순서로 돕니다. 사람이 들여다보는 건 마지막 한 장뿐입니다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1333195" y="3931920"/>
            <a:ext cx="10447934" cy="2103120"/>
          </a:xfrm>
          <a:prstGeom prst="roundRect">
            <a:avLst>
              <a:gd name="adj" fmla="val 4500"/>
            </a:avLst>
          </a:prstGeom>
          <a:solidFill>
            <a:srgbClr val="F5F7FA"/>
          </a:solidFill>
          <a:ln w="12700">
            <a:solidFill>
              <a:srgbClr val="C9D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0" name="TextBox 59"/>
          <p:cNvSpPr txBox="1"/>
          <p:nvPr/>
        </p:nvSpPr>
        <p:spPr>
          <a:xfrm>
            <a:off x="2156155" y="4343400"/>
            <a:ext cx="8802014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02C5F"/>
                </a:solidFill>
                <a:latin typeface="Noto Sans KR"/>
              </a:rPr>
              <a:t>품목 26개를 네이버에 넣는다</a:t>
            </a:r>
          </a:p>
          <a:p>
            <a:pPr>
              <a:lnSpc>
                <a:spcPct val="135000"/>
              </a:lnSpc>
              <a:spcBef>
                <a:spcPts val="800"/>
              </a:spcBef>
              <a:spcAft>
                <a:spcPts val="0"/>
              </a:spcAft>
            </a:pPr>
            <a:r>
              <a:rPr sz="2100" b="1">
                <a:solidFill>
                  <a:srgbClr val="1F6FB2"/>
                </a:solidFill>
                <a:latin typeface="Noto Sans KR"/>
              </a:rPr>
              <a:t>같이 검색된 말이 딸려 온다</a:t>
            </a:r>
          </a:p>
          <a:p>
            <a:pPr>
              <a:lnSpc>
                <a:spcPct val="135000"/>
              </a:lnSpc>
              <a:spcBef>
                <a:spcPts val="700"/>
              </a:spcBef>
              <a:spcAft>
                <a:spcPts val="0"/>
              </a:spcAft>
            </a:pPr>
            <a:r>
              <a:rPr sz="1800" b="0">
                <a:solidFill>
                  <a:srgbClr val="6B7280"/>
                </a:solidFill>
                <a:latin typeface="Noto Sans KR"/>
              </a:rPr>
              <a:t>가디건 → 니트 가디건 · 버건디 가디건</a:t>
            </a:r>
          </a:p>
        </p:txBody>
      </p:sp>
      <p:sp>
        <p:nvSpPr>
          <p:cNvPr id="61" name="Down Arrow 60"/>
          <p:cNvSpPr/>
          <p:nvPr/>
        </p:nvSpPr>
        <p:spPr>
          <a:xfrm>
            <a:off x="6301130" y="6172200"/>
            <a:ext cx="512064" cy="502920"/>
          </a:xfrm>
          <a:prstGeom prst="downArrow">
            <a:avLst/>
          </a:prstGeom>
          <a:solidFill>
            <a:srgbClr val="9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12604089" y="3931920"/>
            <a:ext cx="10447934" cy="2103120"/>
          </a:xfrm>
          <a:prstGeom prst="roundRect">
            <a:avLst>
              <a:gd name="adj" fmla="val 4500"/>
            </a:avLst>
          </a:prstGeom>
          <a:solidFill>
            <a:srgbClr val="F5F7FA"/>
          </a:solidFill>
          <a:ln w="12700">
            <a:solidFill>
              <a:srgbClr val="C9D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3" name="TextBox 62"/>
          <p:cNvSpPr txBox="1"/>
          <p:nvPr/>
        </p:nvSpPr>
        <p:spPr>
          <a:xfrm>
            <a:off x="13427049" y="4343400"/>
            <a:ext cx="8802014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02C5F"/>
                </a:solidFill>
                <a:latin typeface="Noto Sans KR"/>
              </a:rPr>
              <a:t>패션 기사와 커뮤니티를 훑는다</a:t>
            </a:r>
          </a:p>
          <a:p>
            <a:pPr>
              <a:lnSpc>
                <a:spcPct val="135000"/>
              </a:lnSpc>
              <a:spcBef>
                <a:spcPts val="800"/>
              </a:spcBef>
              <a:spcAft>
                <a:spcPts val="0"/>
              </a:spcAft>
            </a:pPr>
            <a:r>
              <a:rPr sz="2100" b="1">
                <a:solidFill>
                  <a:srgbClr val="C88A2A"/>
                </a:solidFill>
                <a:latin typeface="Noto Sans KR"/>
              </a:rPr>
              <a:t>처음 보는 말을 주워 온다</a:t>
            </a:r>
          </a:p>
          <a:p>
            <a:pPr>
              <a:lnSpc>
                <a:spcPct val="135000"/>
              </a:lnSpc>
              <a:spcBef>
                <a:spcPts val="700"/>
              </a:spcBef>
              <a:spcAft>
                <a:spcPts val="0"/>
              </a:spcAft>
            </a:pPr>
            <a:r>
              <a:rPr sz="1800" b="0">
                <a:solidFill>
                  <a:srgbClr val="6B7280"/>
                </a:solidFill>
                <a:latin typeface="Noto Sans KR"/>
              </a:rPr>
              <a:t>작년엔 없던 이름이 올해 생긴다</a:t>
            </a:r>
          </a:p>
        </p:txBody>
      </p:sp>
      <p:sp>
        <p:nvSpPr>
          <p:cNvPr id="64" name="Down Arrow 63"/>
          <p:cNvSpPr/>
          <p:nvPr/>
        </p:nvSpPr>
        <p:spPr>
          <a:xfrm>
            <a:off x="17572024" y="6172200"/>
            <a:ext cx="512064" cy="502920"/>
          </a:xfrm>
          <a:prstGeom prst="downArrow">
            <a:avLst/>
          </a:prstGeom>
          <a:solidFill>
            <a:srgbClr val="9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ounded Rectangle 64"/>
          <p:cNvSpPr/>
          <p:nvPr/>
        </p:nvSpPr>
        <p:spPr>
          <a:xfrm>
            <a:off x="1333195" y="6812280"/>
            <a:ext cx="21718828" cy="1097280"/>
          </a:xfrm>
          <a:prstGeom prst="roundRect">
            <a:avLst>
              <a:gd name="adj" fmla="val 4500"/>
            </a:avLst>
          </a:prstGeom>
          <a:solidFill>
            <a:srgbClr val="EA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6" name="TextBox 65"/>
          <p:cNvSpPr txBox="1"/>
          <p:nvPr/>
        </p:nvSpPr>
        <p:spPr>
          <a:xfrm>
            <a:off x="1333195" y="6812280"/>
            <a:ext cx="21718828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</a:pPr>
            <a:r>
              <a:rPr sz="2600" b="1">
                <a:solidFill>
                  <a:srgbClr val="002C5F"/>
                </a:solidFill>
                <a:latin typeface="Noto Sans KR"/>
              </a:rPr>
              <a:t>이번 주 지켜볼 후보  </a:t>
            </a:r>
            <a:r>
              <a:rPr sz="2600" b="1">
                <a:solidFill>
                  <a:srgbClr val="1F6FB2"/>
                </a:solidFill>
                <a:latin typeface="Noto Sans KR"/>
              </a:rPr>
              <a:t>수백 개</a:t>
            </a:r>
          </a:p>
        </p:txBody>
      </p:sp>
      <p:sp>
        <p:nvSpPr>
          <p:cNvPr id="67" name="Down Arrow 66"/>
          <p:cNvSpPr/>
          <p:nvPr/>
        </p:nvSpPr>
        <p:spPr>
          <a:xfrm>
            <a:off x="11936577" y="8046720"/>
            <a:ext cx="512064" cy="502920"/>
          </a:xfrm>
          <a:prstGeom prst="downArrow">
            <a:avLst/>
          </a:prstGeom>
          <a:solidFill>
            <a:srgbClr val="9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ounded Rectangle 67"/>
          <p:cNvSpPr/>
          <p:nvPr/>
        </p:nvSpPr>
        <p:spPr>
          <a:xfrm>
            <a:off x="1333195" y="8641080"/>
            <a:ext cx="6873849" cy="1920240"/>
          </a:xfrm>
          <a:prstGeom prst="roundRect">
            <a:avLst>
              <a:gd name="adj" fmla="val 4500"/>
            </a:avLst>
          </a:prstGeom>
          <a:solidFill>
            <a:srgbClr val="F5F7FA"/>
          </a:solidFill>
          <a:ln w="12700">
            <a:solidFill>
              <a:srgbClr val="C9D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9" name="Oval 68"/>
          <p:cNvSpPr/>
          <p:nvPr/>
        </p:nvSpPr>
        <p:spPr>
          <a:xfrm>
            <a:off x="2064715" y="9098280"/>
            <a:ext cx="731520" cy="731520"/>
          </a:xfrm>
          <a:prstGeom prst="ellipse">
            <a:avLst/>
          </a:prstGeom>
          <a:solidFill>
            <a:srgbClr val="002C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Noto Sans KR"/>
              </a:rPr>
              <a:t>1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070555" y="9116568"/>
            <a:ext cx="440496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002C5F"/>
                </a:solidFill>
                <a:latin typeface="Noto Sans KR"/>
              </a:rPr>
              <a:t>매주 추이를 본다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064715" y="9966960"/>
            <a:ext cx="5410809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6B7280"/>
                </a:solidFill>
                <a:latin typeface="Noto Sans KR"/>
              </a:rPr>
              <a:t>얼마나 검색되고 눌리는지를 주 단위로 쌓는다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8755684" y="8641080"/>
            <a:ext cx="6873849" cy="1920240"/>
          </a:xfrm>
          <a:prstGeom prst="roundRect">
            <a:avLst>
              <a:gd name="adj" fmla="val 4500"/>
            </a:avLst>
          </a:prstGeom>
          <a:solidFill>
            <a:srgbClr val="F5F7FA"/>
          </a:solidFill>
          <a:ln w="12700">
            <a:solidFill>
              <a:srgbClr val="C9D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3" name="Oval 72"/>
          <p:cNvSpPr/>
          <p:nvPr/>
        </p:nvSpPr>
        <p:spPr>
          <a:xfrm>
            <a:off x="9487204" y="9098280"/>
            <a:ext cx="731520" cy="731520"/>
          </a:xfrm>
          <a:prstGeom prst="ellipse">
            <a:avLst/>
          </a:prstGeom>
          <a:solidFill>
            <a:srgbClr val="002C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Noto Sans KR"/>
              </a:rPr>
              <a:t>2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0493044" y="9116568"/>
            <a:ext cx="440496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002C5F"/>
                </a:solidFill>
                <a:latin typeface="Noto Sans KR"/>
              </a:rPr>
              <a:t>오르는 속도를 본다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487204" y="9966960"/>
            <a:ext cx="5410809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6B7280"/>
                </a:solidFill>
                <a:latin typeface="Noto Sans KR"/>
              </a:rPr>
              <a:t>지금 큰 것이 아니라 빨라지고 있는 것을 고른다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16178174" y="8641080"/>
            <a:ext cx="6873849" cy="1920240"/>
          </a:xfrm>
          <a:prstGeom prst="roundRect">
            <a:avLst>
              <a:gd name="adj" fmla="val 4500"/>
            </a:avLst>
          </a:prstGeom>
          <a:solidFill>
            <a:srgbClr val="F5F7FA"/>
          </a:solidFill>
          <a:ln w="12700">
            <a:solidFill>
              <a:srgbClr val="C9D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7" name="Oval 76"/>
          <p:cNvSpPr/>
          <p:nvPr/>
        </p:nvSpPr>
        <p:spPr>
          <a:xfrm>
            <a:off x="16909694" y="9098280"/>
            <a:ext cx="731520" cy="731520"/>
          </a:xfrm>
          <a:prstGeom prst="ellipse">
            <a:avLst/>
          </a:prstGeom>
          <a:solidFill>
            <a:srgbClr val="002C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Noto Sans KR"/>
              </a:rPr>
              <a:t>3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7915534" y="9116568"/>
            <a:ext cx="440496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002C5F"/>
                </a:solidFill>
                <a:latin typeface="Noto Sans KR"/>
              </a:rPr>
              <a:t>계절을 걷어낸다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6909694" y="9966960"/>
            <a:ext cx="5410809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6B7280"/>
                </a:solidFill>
                <a:latin typeface="Noto Sans KR"/>
              </a:rPr>
              <a:t>겨울이라 코트가 오르는 건 유행이 아니다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333195" y="10972800"/>
            <a:ext cx="2171882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sz="2400" b="1">
                <a:solidFill>
                  <a:srgbClr val="002C5F"/>
                </a:solidFill>
                <a:latin typeface="Noto Sans KR"/>
              </a:rPr>
              <a:t>월요일 아침, 한 장.  </a:t>
            </a:r>
            <a:r>
              <a:rPr sz="2400" b="0">
                <a:solidFill>
                  <a:srgbClr val="6B7280"/>
                </a:solidFill>
                <a:latin typeface="Noto Sans KR"/>
              </a:rPr>
              <a:t>세 칸으로 나눠 드립니다.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1333195" y="11631168"/>
            <a:ext cx="21718828" cy="1572768"/>
          </a:xfrm>
          <a:prstGeom prst="roundRect">
            <a:avLst>
              <a:gd name="adj" fmla="val 4500"/>
            </a:avLst>
          </a:prstGeom>
          <a:solidFill>
            <a:srgbClr val="002C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2" name="TextBox 81"/>
          <p:cNvSpPr txBox="1"/>
          <p:nvPr/>
        </p:nvSpPr>
        <p:spPr>
          <a:xfrm>
            <a:off x="2064715" y="11631168"/>
            <a:ext cx="6142329" cy="1572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90D4FF"/>
                </a:solidFill>
                <a:latin typeface="Noto Sans KR"/>
              </a:rPr>
              <a:t>주력</a:t>
            </a:r>
          </a:p>
          <a:p>
            <a:pPr>
              <a:lnSpc>
                <a:spcPct val="135000"/>
              </a:lnSpc>
              <a:spcBef>
                <a:spcPts val="80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Noto Sans KR"/>
              </a:rPr>
              <a:t>늘 떼오는 품목 — 작년 같은 주 대비 지금 수요</a:t>
            </a:r>
          </a:p>
        </p:txBody>
      </p:sp>
      <p:sp>
        <p:nvSpPr>
          <p:cNvPr id="83" name="Rectangle 82"/>
          <p:cNvSpPr/>
          <p:nvPr/>
        </p:nvSpPr>
        <p:spPr>
          <a:xfrm>
            <a:off x="8572804" y="11951208"/>
            <a:ext cx="12700" cy="932688"/>
          </a:xfrm>
          <a:prstGeom prst="rect">
            <a:avLst/>
          </a:prstGeom>
          <a:solidFill>
            <a:srgbClr val="1C4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9304324" y="11631168"/>
            <a:ext cx="6142329" cy="1572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90D4FF"/>
                </a:solidFill>
                <a:latin typeface="Noto Sans KR"/>
              </a:rPr>
              <a:t>뜨는 것</a:t>
            </a:r>
          </a:p>
          <a:p>
            <a:pPr>
              <a:lnSpc>
                <a:spcPct val="135000"/>
              </a:lnSpc>
              <a:spcBef>
                <a:spcPts val="80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Noto Sans KR"/>
              </a:rPr>
              <a:t>작지만 빨라지는 것 — 떼올 만한 후보 10개</a:t>
            </a:r>
          </a:p>
        </p:txBody>
      </p:sp>
      <p:sp>
        <p:nvSpPr>
          <p:cNvPr id="85" name="Rectangle 84"/>
          <p:cNvSpPr/>
          <p:nvPr/>
        </p:nvSpPr>
        <p:spPr>
          <a:xfrm>
            <a:off x="15812414" y="11951208"/>
            <a:ext cx="12700" cy="932688"/>
          </a:xfrm>
          <a:prstGeom prst="rect">
            <a:avLst/>
          </a:prstGeom>
          <a:solidFill>
            <a:srgbClr val="1C4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16543934" y="11631168"/>
            <a:ext cx="6142329" cy="1572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90D4FF"/>
                </a:solidFill>
                <a:latin typeface="Noto Sans KR"/>
              </a:rPr>
              <a:t>꺾이는 것</a:t>
            </a:r>
          </a:p>
          <a:p>
            <a:pPr>
              <a:lnSpc>
                <a:spcPct val="135000"/>
              </a:lnSpc>
              <a:spcBef>
                <a:spcPts val="80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Noto Sans KR"/>
              </a:rPr>
              <a:t>컸는데 식는 것 — 재고 경보</a:t>
            </a:r>
          </a:p>
        </p:txBody>
      </p:sp>
    </p:spTree>
    <p:extLst>
      <p:ext uri="{BB962C8B-B14F-4D97-AF65-F5344CB8AC3E}">
        <p14:creationId xmlns:p14="http://schemas.microsoft.com/office/powerpoint/2010/main" val="39089900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AA197B-C0A8-3A4F-1A78-18ABF53F12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Shape 8">
            <a:extLst>
              <a:ext uri="{FF2B5EF4-FFF2-40B4-BE49-F238E27FC236}">
                <a16:creationId xmlns:a16="http://schemas.microsoft.com/office/drawing/2014/main" id="{7E31590F-9ACB-2707-6CFC-62E93400304F}"/>
              </a:ext>
            </a:extLst>
          </p:cNvPr>
          <p:cNvSpPr/>
          <p:nvPr/>
        </p:nvSpPr>
        <p:spPr>
          <a:xfrm>
            <a:off x="0" y="0"/>
            <a:ext cx="24383390" cy="2095805"/>
          </a:xfrm>
          <a:prstGeom prst="rect">
            <a:avLst/>
          </a:prstGeom>
          <a:solidFill>
            <a:srgbClr val="002C5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1" name="Shape 9">
            <a:extLst>
              <a:ext uri="{FF2B5EF4-FFF2-40B4-BE49-F238E27FC236}">
                <a16:creationId xmlns:a16="http://schemas.microsoft.com/office/drawing/2014/main" id="{56A76E70-5D53-2B6B-7F15-D9D36C5A112C}"/>
              </a:ext>
            </a:extLst>
          </p:cNvPr>
          <p:cNvSpPr/>
          <p:nvPr/>
        </p:nvSpPr>
        <p:spPr>
          <a:xfrm>
            <a:off x="1333195" y="2018995"/>
            <a:ext cx="1904695" cy="75895"/>
          </a:xfrm>
          <a:prstGeom prst="rect">
            <a:avLst/>
          </a:prstGeom>
          <a:solidFill>
            <a:srgbClr val="90D4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2" name="Shape 10">
            <a:extLst>
              <a:ext uri="{FF2B5EF4-FFF2-40B4-BE49-F238E27FC236}">
                <a16:creationId xmlns:a16="http://schemas.microsoft.com/office/drawing/2014/main" id="{DEBA2710-B960-3381-4913-B7C81670AFCE}"/>
              </a:ext>
            </a:extLst>
          </p:cNvPr>
          <p:cNvSpPr/>
          <p:nvPr/>
        </p:nvSpPr>
        <p:spPr>
          <a:xfrm>
            <a:off x="1333195" y="323698"/>
            <a:ext cx="1438351" cy="437998"/>
          </a:xfrm>
          <a:prstGeom prst="roundRect">
            <a:avLst>
              <a:gd name="adj" fmla="val 36307"/>
            </a:avLst>
          </a:prstGeom>
          <a:solidFill>
            <a:srgbClr val="90D4FF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4" name="Text 12">
            <a:extLst>
              <a:ext uri="{FF2B5EF4-FFF2-40B4-BE49-F238E27FC236}">
                <a16:creationId xmlns:a16="http://schemas.microsoft.com/office/drawing/2014/main" id="{0DA3BC7F-6B97-83C9-9E5F-D9914F2A7F6D}"/>
              </a:ext>
            </a:extLst>
          </p:cNvPr>
          <p:cNvSpPr txBox="1"/>
          <p:nvPr/>
        </p:nvSpPr>
        <p:spPr>
          <a:xfrm>
            <a:off x="2906878" y="342900"/>
            <a:ext cx="11404208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2000" dirty="0">
                <a:solidFill>
                  <a:schemeClr val="bg1"/>
                </a:solidFill>
                <a:latin typeface="Inter" pitchFamily="34" charset="0"/>
              </a:rPr>
              <a:t>LLM</a:t>
            </a:r>
            <a:r>
              <a:rPr lang="ko-KR" altLang="en-US" sz="2000" dirty="0">
                <a:solidFill>
                  <a:schemeClr val="bg1"/>
                </a:solidFill>
                <a:latin typeface="Inter" pitchFamily="34" charset="0"/>
              </a:rPr>
              <a:t> 활용 패션 트렌드 조기 탐지 및 </a:t>
            </a:r>
            <a:r>
              <a:rPr lang="ko-KR" altLang="en-US" sz="2000" dirty="0" err="1">
                <a:solidFill>
                  <a:schemeClr val="bg1"/>
                </a:solidFill>
                <a:latin typeface="Inter" pitchFamily="34" charset="0"/>
              </a:rPr>
              <a:t>사입</a:t>
            </a:r>
            <a:r>
              <a:rPr lang="ko-KR" altLang="en-US" sz="2000" dirty="0">
                <a:solidFill>
                  <a:schemeClr val="bg1"/>
                </a:solidFill>
                <a:latin typeface="Inter" pitchFamily="34" charset="0"/>
              </a:rPr>
              <a:t> 후보 추천 시스템</a:t>
            </a:r>
            <a:endParaRPr lang="en-US" altLang="ko-KR" sz="2000" dirty="0">
              <a:solidFill>
                <a:schemeClr val="bg1"/>
              </a:solidFill>
            </a:endParaRPr>
          </a:p>
        </p:txBody>
      </p:sp>
      <p:sp>
        <p:nvSpPr>
          <p:cNvPr id="55" name="Text 13">
            <a:extLst>
              <a:ext uri="{FF2B5EF4-FFF2-40B4-BE49-F238E27FC236}">
                <a16:creationId xmlns:a16="http://schemas.microsoft.com/office/drawing/2014/main" id="{07885B52-0637-22F6-E7BD-53B87692FEAF}"/>
              </a:ext>
            </a:extLst>
          </p:cNvPr>
          <p:cNvSpPr txBox="1"/>
          <p:nvPr/>
        </p:nvSpPr>
        <p:spPr>
          <a:xfrm>
            <a:off x="1333195" y="856793"/>
            <a:ext cx="1645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4700" b="1" kern="0" spc="-96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</a:rPr>
              <a:t>① 지켜볼 기본 품목</a:t>
            </a:r>
            <a:endParaRPr lang="en-US" sz="4700" dirty="0"/>
          </a:p>
        </p:txBody>
      </p:sp>
      <p:sp>
        <p:nvSpPr>
          <p:cNvPr id="57" name="Text 41">
            <a:extLst>
              <a:ext uri="{FF2B5EF4-FFF2-40B4-BE49-F238E27FC236}">
                <a16:creationId xmlns:a16="http://schemas.microsoft.com/office/drawing/2014/main" id="{ABF9C041-4324-12CF-40A9-D963D90E09C2}"/>
              </a:ext>
            </a:extLst>
          </p:cNvPr>
          <p:cNvSpPr txBox="1"/>
          <p:nvPr/>
        </p:nvSpPr>
        <p:spPr>
          <a:xfrm>
            <a:off x="22047199" y="13181234"/>
            <a:ext cx="2620569" cy="322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9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Lim Chaewon Portfolio</a:t>
            </a:r>
            <a:endParaRPr lang="en-US" sz="1700" dirty="0"/>
          </a:p>
        </p:txBody>
      </p:sp>
      <p:sp>
        <p:nvSpPr>
          <p:cNvPr id="2" name="Text 11">
            <a:extLst>
              <a:ext uri="{FF2B5EF4-FFF2-40B4-BE49-F238E27FC236}">
                <a16:creationId xmlns:a16="http://schemas.microsoft.com/office/drawing/2014/main" id="{B9320369-5863-693D-95A7-271981211969}"/>
              </a:ext>
            </a:extLst>
          </p:cNvPr>
          <p:cNvSpPr txBox="1"/>
          <p:nvPr/>
        </p:nvSpPr>
        <p:spPr>
          <a:xfrm>
            <a:off x="1518810" y="312725"/>
            <a:ext cx="1515161" cy="4389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39700" tIns="50800" rIns="139700" bIns="5080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90D4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Project 1</a:t>
            </a:r>
            <a:endParaRPr lang="en-US" sz="1700" dirty="0"/>
          </a:p>
        </p:txBody>
      </p:sp>
      <p:sp>
        <p:nvSpPr>
          <p:cNvPr id="58" name="TextBox 57"/>
          <p:cNvSpPr txBox="1"/>
          <p:nvPr/>
        </p:nvSpPr>
        <p:spPr>
          <a:xfrm>
            <a:off x="1333195" y="2697480"/>
            <a:ext cx="21718828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002C5F"/>
                </a:solidFill>
                <a:latin typeface="Noto Sans KR"/>
              </a:rPr>
              <a:t>여기서 모든 추천 후보가 나옵니다. 이 목록이 맞는지 봐 주세요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1333195" y="3931920"/>
            <a:ext cx="5052517" cy="6309360"/>
          </a:xfrm>
          <a:prstGeom prst="roundRect">
            <a:avLst>
              <a:gd name="adj" fmla="val 4500"/>
            </a:avLst>
          </a:prstGeom>
          <a:solidFill>
            <a:srgbClr val="F5F7FA"/>
          </a:solidFill>
          <a:ln w="12700">
            <a:solidFill>
              <a:srgbClr val="C9D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0" name="TextBox 59"/>
          <p:cNvSpPr txBox="1"/>
          <p:nvPr/>
        </p:nvSpPr>
        <p:spPr>
          <a:xfrm>
            <a:off x="2064715" y="4480560"/>
            <a:ext cx="3589477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sz="2500" b="1">
                <a:solidFill>
                  <a:srgbClr val="002C5F"/>
                </a:solidFill>
                <a:latin typeface="Noto Sans KR"/>
              </a:rPr>
              <a:t>상의  </a:t>
            </a:r>
            <a:r>
              <a:rPr sz="2500" b="0">
                <a:solidFill>
                  <a:srgbClr val="6B7280"/>
                </a:solidFill>
                <a:latin typeface="Noto Sans KR"/>
              </a:rPr>
              <a:t>9개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064715" y="5303520"/>
            <a:ext cx="3589477" cy="15240"/>
          </a:xfrm>
          <a:prstGeom prst="rect">
            <a:avLst/>
          </a:prstGeom>
          <a:solidFill>
            <a:srgbClr val="C9D6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2064715" y="5623560"/>
            <a:ext cx="3589477" cy="411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1A1A1A"/>
                </a:solidFill>
                <a:latin typeface="Noto Sans KR"/>
              </a:rPr>
              <a:t>가디건</a:t>
            </a:r>
          </a:p>
          <a:p>
            <a:pPr>
              <a:lnSpc>
                <a:spcPct val="130000"/>
              </a:lnSpc>
              <a:spcBef>
                <a:spcPts val="900"/>
              </a:spcBef>
              <a:spcAft>
                <a:spcPts val="0"/>
              </a:spcAft>
            </a:pPr>
            <a:r>
              <a:rPr sz="2100" b="0">
                <a:solidFill>
                  <a:srgbClr val="1A1A1A"/>
                </a:solidFill>
                <a:latin typeface="Noto Sans KR"/>
              </a:rPr>
              <a:t>니트</a:t>
            </a:r>
          </a:p>
          <a:p>
            <a:pPr>
              <a:lnSpc>
                <a:spcPct val="130000"/>
              </a:lnSpc>
              <a:spcBef>
                <a:spcPts val="900"/>
              </a:spcBef>
              <a:spcAft>
                <a:spcPts val="0"/>
              </a:spcAft>
            </a:pPr>
            <a:r>
              <a:rPr sz="2100" b="1">
                <a:solidFill>
                  <a:srgbClr val="1F6FB2"/>
                </a:solidFill>
                <a:latin typeface="Noto Sans KR"/>
              </a:rPr>
              <a:t>조끼</a:t>
            </a:r>
          </a:p>
          <a:p>
            <a:pPr>
              <a:lnSpc>
                <a:spcPct val="130000"/>
              </a:lnSpc>
              <a:spcBef>
                <a:spcPts val="900"/>
              </a:spcBef>
              <a:spcAft>
                <a:spcPts val="0"/>
              </a:spcAft>
            </a:pPr>
            <a:r>
              <a:rPr sz="2100" b="0">
                <a:solidFill>
                  <a:srgbClr val="1A1A1A"/>
                </a:solidFill>
                <a:latin typeface="Noto Sans KR"/>
              </a:rPr>
              <a:t>블라우스</a:t>
            </a:r>
          </a:p>
          <a:p>
            <a:pPr>
              <a:lnSpc>
                <a:spcPct val="130000"/>
              </a:lnSpc>
              <a:spcBef>
                <a:spcPts val="900"/>
              </a:spcBef>
              <a:spcAft>
                <a:spcPts val="0"/>
              </a:spcAft>
            </a:pPr>
            <a:r>
              <a:rPr sz="2100" b="0">
                <a:solidFill>
                  <a:srgbClr val="1A1A1A"/>
                </a:solidFill>
                <a:latin typeface="Noto Sans KR"/>
              </a:rPr>
              <a:t>셔츠</a:t>
            </a:r>
          </a:p>
          <a:p>
            <a:pPr>
              <a:lnSpc>
                <a:spcPct val="130000"/>
              </a:lnSpc>
              <a:spcBef>
                <a:spcPts val="900"/>
              </a:spcBef>
              <a:spcAft>
                <a:spcPts val="0"/>
              </a:spcAft>
            </a:pPr>
            <a:r>
              <a:rPr sz="2100" b="0">
                <a:solidFill>
                  <a:srgbClr val="1A1A1A"/>
                </a:solidFill>
                <a:latin typeface="Noto Sans KR"/>
              </a:rPr>
              <a:t>티셔츠</a:t>
            </a:r>
          </a:p>
          <a:p>
            <a:pPr>
              <a:lnSpc>
                <a:spcPct val="130000"/>
              </a:lnSpc>
              <a:spcBef>
                <a:spcPts val="900"/>
              </a:spcBef>
              <a:spcAft>
                <a:spcPts val="0"/>
              </a:spcAft>
            </a:pPr>
            <a:r>
              <a:rPr sz="2100" b="0">
                <a:solidFill>
                  <a:srgbClr val="1A1A1A"/>
                </a:solidFill>
                <a:latin typeface="Noto Sans KR"/>
              </a:rPr>
              <a:t>맨투맨</a:t>
            </a:r>
          </a:p>
          <a:p>
            <a:pPr>
              <a:lnSpc>
                <a:spcPct val="130000"/>
              </a:lnSpc>
              <a:spcBef>
                <a:spcPts val="900"/>
              </a:spcBef>
              <a:spcAft>
                <a:spcPts val="0"/>
              </a:spcAft>
            </a:pPr>
            <a:r>
              <a:rPr sz="2100" b="0">
                <a:solidFill>
                  <a:srgbClr val="1A1A1A"/>
                </a:solidFill>
                <a:latin typeface="Noto Sans KR"/>
              </a:rPr>
              <a:t>후드티</a:t>
            </a:r>
          </a:p>
          <a:p>
            <a:pPr>
              <a:lnSpc>
                <a:spcPct val="130000"/>
              </a:lnSpc>
              <a:spcBef>
                <a:spcPts val="900"/>
              </a:spcBef>
              <a:spcAft>
                <a:spcPts val="0"/>
              </a:spcAft>
            </a:pPr>
            <a:r>
              <a:rPr sz="2100" b="1">
                <a:solidFill>
                  <a:srgbClr val="1F6FB2"/>
                </a:solidFill>
                <a:latin typeface="Noto Sans KR"/>
              </a:rPr>
              <a:t>나시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6888632" y="3931920"/>
            <a:ext cx="5052517" cy="6309360"/>
          </a:xfrm>
          <a:prstGeom prst="roundRect">
            <a:avLst>
              <a:gd name="adj" fmla="val 4500"/>
            </a:avLst>
          </a:prstGeom>
          <a:solidFill>
            <a:srgbClr val="F5F7FA"/>
          </a:solidFill>
          <a:ln w="12700">
            <a:solidFill>
              <a:srgbClr val="C9D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4" name="TextBox 63"/>
          <p:cNvSpPr txBox="1"/>
          <p:nvPr/>
        </p:nvSpPr>
        <p:spPr>
          <a:xfrm>
            <a:off x="7620152" y="4480560"/>
            <a:ext cx="3589477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sz="2500" b="1">
                <a:solidFill>
                  <a:srgbClr val="002C5F"/>
                </a:solidFill>
                <a:latin typeface="Noto Sans KR"/>
              </a:rPr>
              <a:t>하의  </a:t>
            </a:r>
            <a:r>
              <a:rPr sz="2500" b="0">
                <a:solidFill>
                  <a:srgbClr val="6B7280"/>
                </a:solidFill>
                <a:latin typeface="Noto Sans KR"/>
              </a:rPr>
              <a:t>7개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620152" y="5303520"/>
            <a:ext cx="3589477" cy="15240"/>
          </a:xfrm>
          <a:prstGeom prst="rect">
            <a:avLst/>
          </a:prstGeom>
          <a:solidFill>
            <a:srgbClr val="C9D6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620152" y="5623560"/>
            <a:ext cx="3589477" cy="411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1F6FB2"/>
                </a:solidFill>
                <a:latin typeface="Noto Sans KR"/>
              </a:rPr>
              <a:t>바지</a:t>
            </a:r>
          </a:p>
          <a:p>
            <a:pPr>
              <a:lnSpc>
                <a:spcPct val="130000"/>
              </a:lnSpc>
              <a:spcBef>
                <a:spcPts val="900"/>
              </a:spcBef>
              <a:spcAft>
                <a:spcPts val="0"/>
              </a:spcAft>
            </a:pPr>
            <a:r>
              <a:rPr sz="2100" b="1">
                <a:solidFill>
                  <a:srgbClr val="1F6FB2"/>
                </a:solidFill>
                <a:latin typeface="Noto Sans KR"/>
              </a:rPr>
              <a:t>스커트</a:t>
            </a:r>
          </a:p>
          <a:p>
            <a:pPr>
              <a:lnSpc>
                <a:spcPct val="130000"/>
              </a:lnSpc>
              <a:spcBef>
                <a:spcPts val="900"/>
              </a:spcBef>
              <a:spcAft>
                <a:spcPts val="0"/>
              </a:spcAft>
            </a:pPr>
            <a:r>
              <a:rPr sz="2100" b="1">
                <a:solidFill>
                  <a:srgbClr val="1F6FB2"/>
                </a:solidFill>
                <a:latin typeface="Noto Sans KR"/>
              </a:rPr>
              <a:t>팬츠</a:t>
            </a:r>
          </a:p>
          <a:p>
            <a:pPr>
              <a:lnSpc>
                <a:spcPct val="130000"/>
              </a:lnSpc>
              <a:spcBef>
                <a:spcPts val="900"/>
              </a:spcBef>
              <a:spcAft>
                <a:spcPts val="0"/>
              </a:spcAft>
            </a:pPr>
            <a:r>
              <a:rPr sz="2100" b="0">
                <a:solidFill>
                  <a:srgbClr val="1A1A1A"/>
                </a:solidFill>
                <a:latin typeface="Noto Sans KR"/>
              </a:rPr>
              <a:t>청바지</a:t>
            </a:r>
          </a:p>
          <a:p>
            <a:pPr>
              <a:lnSpc>
                <a:spcPct val="130000"/>
              </a:lnSpc>
              <a:spcBef>
                <a:spcPts val="900"/>
              </a:spcBef>
              <a:spcAft>
                <a:spcPts val="0"/>
              </a:spcAft>
            </a:pPr>
            <a:r>
              <a:rPr sz="2100" b="1">
                <a:solidFill>
                  <a:srgbClr val="1F6FB2"/>
                </a:solidFill>
                <a:latin typeface="Noto Sans KR"/>
              </a:rPr>
              <a:t>반바지</a:t>
            </a:r>
          </a:p>
          <a:p>
            <a:pPr>
              <a:lnSpc>
                <a:spcPct val="130000"/>
              </a:lnSpc>
              <a:spcBef>
                <a:spcPts val="900"/>
              </a:spcBef>
              <a:spcAft>
                <a:spcPts val="0"/>
              </a:spcAft>
            </a:pPr>
            <a:r>
              <a:rPr sz="2100" b="0">
                <a:solidFill>
                  <a:srgbClr val="1A1A1A"/>
                </a:solidFill>
                <a:latin typeface="Noto Sans KR"/>
              </a:rPr>
              <a:t>슬랙스</a:t>
            </a:r>
          </a:p>
          <a:p>
            <a:pPr>
              <a:lnSpc>
                <a:spcPct val="130000"/>
              </a:lnSpc>
              <a:spcBef>
                <a:spcPts val="900"/>
              </a:spcBef>
              <a:spcAft>
                <a:spcPts val="0"/>
              </a:spcAft>
            </a:pPr>
            <a:r>
              <a:rPr sz="2100" b="0">
                <a:solidFill>
                  <a:srgbClr val="1A1A1A"/>
                </a:solidFill>
                <a:latin typeface="Noto Sans KR"/>
              </a:rPr>
              <a:t>레깅스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12444069" y="3931920"/>
            <a:ext cx="5052517" cy="6309360"/>
          </a:xfrm>
          <a:prstGeom prst="roundRect">
            <a:avLst>
              <a:gd name="adj" fmla="val 4500"/>
            </a:avLst>
          </a:prstGeom>
          <a:solidFill>
            <a:srgbClr val="F5F7FA"/>
          </a:solidFill>
          <a:ln w="12700">
            <a:solidFill>
              <a:srgbClr val="C9D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8" name="TextBox 67"/>
          <p:cNvSpPr txBox="1"/>
          <p:nvPr/>
        </p:nvSpPr>
        <p:spPr>
          <a:xfrm>
            <a:off x="13175589" y="4480560"/>
            <a:ext cx="3589477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sz="2500" b="1">
                <a:solidFill>
                  <a:srgbClr val="002C5F"/>
                </a:solidFill>
                <a:latin typeface="Noto Sans KR"/>
              </a:rPr>
              <a:t>아우터  </a:t>
            </a:r>
            <a:r>
              <a:rPr sz="2500" b="0">
                <a:solidFill>
                  <a:srgbClr val="6B7280"/>
                </a:solidFill>
                <a:latin typeface="Noto Sans KR"/>
              </a:rPr>
              <a:t>7개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3175589" y="5303520"/>
            <a:ext cx="3589477" cy="15240"/>
          </a:xfrm>
          <a:prstGeom prst="rect">
            <a:avLst/>
          </a:prstGeom>
          <a:solidFill>
            <a:srgbClr val="C9D6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3175589" y="5623560"/>
            <a:ext cx="3589477" cy="411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1A1A1A"/>
                </a:solidFill>
                <a:latin typeface="Noto Sans KR"/>
              </a:rPr>
              <a:t>패딩</a:t>
            </a:r>
          </a:p>
          <a:p>
            <a:pPr>
              <a:lnSpc>
                <a:spcPct val="130000"/>
              </a:lnSpc>
              <a:spcBef>
                <a:spcPts val="900"/>
              </a:spcBef>
              <a:spcAft>
                <a:spcPts val="0"/>
              </a:spcAft>
            </a:pPr>
            <a:r>
              <a:rPr sz="2100" b="0">
                <a:solidFill>
                  <a:srgbClr val="1A1A1A"/>
                </a:solidFill>
                <a:latin typeface="Noto Sans KR"/>
              </a:rPr>
              <a:t>코트</a:t>
            </a:r>
          </a:p>
          <a:p>
            <a:pPr>
              <a:lnSpc>
                <a:spcPct val="130000"/>
              </a:lnSpc>
              <a:spcBef>
                <a:spcPts val="900"/>
              </a:spcBef>
              <a:spcAft>
                <a:spcPts val="0"/>
              </a:spcAft>
            </a:pPr>
            <a:r>
              <a:rPr sz="2100" b="0">
                <a:solidFill>
                  <a:srgbClr val="1A1A1A"/>
                </a:solidFill>
                <a:latin typeface="Noto Sans KR"/>
              </a:rPr>
              <a:t>자켓</a:t>
            </a:r>
          </a:p>
          <a:p>
            <a:pPr>
              <a:lnSpc>
                <a:spcPct val="130000"/>
              </a:lnSpc>
              <a:spcBef>
                <a:spcPts val="900"/>
              </a:spcBef>
              <a:spcAft>
                <a:spcPts val="0"/>
              </a:spcAft>
            </a:pPr>
            <a:r>
              <a:rPr sz="2100" b="0">
                <a:solidFill>
                  <a:srgbClr val="1A1A1A"/>
                </a:solidFill>
                <a:latin typeface="Noto Sans KR"/>
              </a:rPr>
              <a:t>바람막이</a:t>
            </a:r>
          </a:p>
          <a:p>
            <a:pPr>
              <a:lnSpc>
                <a:spcPct val="130000"/>
              </a:lnSpc>
              <a:spcBef>
                <a:spcPts val="900"/>
              </a:spcBef>
              <a:spcAft>
                <a:spcPts val="0"/>
              </a:spcAft>
            </a:pPr>
            <a:r>
              <a:rPr sz="2100" b="1">
                <a:solidFill>
                  <a:srgbClr val="1F6FB2"/>
                </a:solidFill>
                <a:latin typeface="Noto Sans KR"/>
              </a:rPr>
              <a:t>집업</a:t>
            </a:r>
          </a:p>
          <a:p>
            <a:pPr>
              <a:lnSpc>
                <a:spcPct val="130000"/>
              </a:lnSpc>
              <a:spcBef>
                <a:spcPts val="900"/>
              </a:spcBef>
              <a:spcAft>
                <a:spcPts val="0"/>
              </a:spcAft>
            </a:pPr>
            <a:r>
              <a:rPr sz="2100" b="1">
                <a:solidFill>
                  <a:srgbClr val="1F6FB2"/>
                </a:solidFill>
                <a:latin typeface="Noto Sans KR"/>
              </a:rPr>
              <a:t>점퍼</a:t>
            </a:r>
          </a:p>
          <a:p>
            <a:pPr>
              <a:lnSpc>
                <a:spcPct val="130000"/>
              </a:lnSpc>
              <a:spcBef>
                <a:spcPts val="900"/>
              </a:spcBef>
              <a:spcAft>
                <a:spcPts val="0"/>
              </a:spcAft>
            </a:pPr>
            <a:r>
              <a:rPr sz="2100" b="0">
                <a:solidFill>
                  <a:srgbClr val="1A1A1A"/>
                </a:solidFill>
                <a:latin typeface="Noto Sans KR"/>
              </a:rPr>
              <a:t>무스탕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17999506" y="3931920"/>
            <a:ext cx="5052517" cy="6309360"/>
          </a:xfrm>
          <a:prstGeom prst="roundRect">
            <a:avLst>
              <a:gd name="adj" fmla="val 4500"/>
            </a:avLst>
          </a:prstGeom>
          <a:solidFill>
            <a:srgbClr val="F5F7FA"/>
          </a:solidFill>
          <a:ln w="12700">
            <a:solidFill>
              <a:srgbClr val="C9D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2" name="TextBox 71"/>
          <p:cNvSpPr txBox="1"/>
          <p:nvPr/>
        </p:nvSpPr>
        <p:spPr>
          <a:xfrm>
            <a:off x="18731026" y="4480560"/>
            <a:ext cx="3589477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sz="2500" b="1">
                <a:solidFill>
                  <a:srgbClr val="002C5F"/>
                </a:solidFill>
                <a:latin typeface="Noto Sans KR"/>
              </a:rPr>
              <a:t>원피스  </a:t>
            </a:r>
            <a:r>
              <a:rPr sz="2500" b="0">
                <a:solidFill>
                  <a:srgbClr val="6B7280"/>
                </a:solidFill>
                <a:latin typeface="Noto Sans KR"/>
              </a:rPr>
              <a:t>1개</a:t>
            </a:r>
          </a:p>
        </p:txBody>
      </p:sp>
      <p:sp>
        <p:nvSpPr>
          <p:cNvPr id="73" name="Rectangle 72"/>
          <p:cNvSpPr/>
          <p:nvPr/>
        </p:nvSpPr>
        <p:spPr>
          <a:xfrm>
            <a:off x="18731026" y="5303520"/>
            <a:ext cx="3589477" cy="15240"/>
          </a:xfrm>
          <a:prstGeom prst="rect">
            <a:avLst/>
          </a:prstGeom>
          <a:solidFill>
            <a:srgbClr val="C9D6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18731026" y="5623560"/>
            <a:ext cx="3589477" cy="411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1A1A1A"/>
                </a:solidFill>
                <a:latin typeface="Noto Sans KR"/>
              </a:rPr>
              <a:t>원피스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1333195" y="10652760"/>
            <a:ext cx="21718828" cy="2011680"/>
          </a:xfrm>
          <a:prstGeom prst="roundRect">
            <a:avLst>
              <a:gd name="adj" fmla="val 4500"/>
            </a:avLst>
          </a:prstGeom>
          <a:solidFill>
            <a:srgbClr val="FBF4E8"/>
          </a:solidFill>
          <a:ln w="12700">
            <a:solidFill>
              <a:srgbClr val="E8D4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6" name="TextBox 75"/>
          <p:cNvSpPr txBox="1"/>
          <p:nvPr/>
        </p:nvSpPr>
        <p:spPr>
          <a:xfrm>
            <a:off x="2156155" y="10972800"/>
            <a:ext cx="20072908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sz="1800" b="1">
                <a:solidFill>
                  <a:srgbClr val="002C5F"/>
                </a:solidFill>
                <a:latin typeface="Noto Sans KR"/>
              </a:rPr>
              <a:t>관찰 전용 7개   </a:t>
            </a:r>
            <a:r>
              <a:rPr sz="1800" b="0">
                <a:solidFill>
                  <a:srgbClr val="6B7280"/>
                </a:solidFill>
                <a:latin typeface="Noto Sans KR"/>
              </a:rPr>
              <a:t>트렌치코트 · 롱스커트 · 와이드팬츠 · 미니스커트 · 카고팬츠 · 블레이저 · 점프수트   — 상위 품목이 품으므로 따로 찾지 않습니다</a:t>
            </a:r>
          </a:p>
          <a:p>
            <a:pPr>
              <a:lnSpc>
                <a:spcPct val="140000"/>
              </a:lnSpc>
              <a:spcBef>
                <a:spcPts val="1400"/>
              </a:spcBef>
              <a:spcAft>
                <a:spcPts val="0"/>
              </a:spcAft>
            </a:pPr>
            <a:r>
              <a:rPr sz="2100" b="0">
                <a:solidFill>
                  <a:srgbClr val="1A1A1A"/>
                </a:solidFill>
                <a:latin typeface="Noto Sans KR"/>
              </a:rPr>
              <a:t>안 떼오시는 품목이 섞여 있나요? 꼭 봐야 하는데 빠진 품목이 있나요?</a:t>
            </a:r>
          </a:p>
          <a:p>
            <a:pPr>
              <a:lnSpc>
                <a:spcPct val="140000"/>
              </a:lnSpc>
              <a:spcBef>
                <a:spcPts val="600"/>
              </a:spcBef>
              <a:spcAft>
                <a:spcPts val="0"/>
              </a:spcAft>
            </a:pPr>
            <a:r>
              <a:rPr sz="1900" b="0">
                <a:solidFill>
                  <a:srgbClr val="8A5E10"/>
                </a:solidFill>
                <a:latin typeface="Noto Sans KR"/>
              </a:rPr>
              <a:t>파란 글씨 8개는 저희가 새로 넣은 것입니다. 조끼/베스트 · 바지/팬츠처럼 말이 둘인 건 어느 쪽을 쓰시나요?</a:t>
            </a:r>
          </a:p>
        </p:txBody>
      </p:sp>
    </p:spTree>
    <p:extLst>
      <p:ext uri="{BB962C8B-B14F-4D97-AF65-F5344CB8AC3E}">
        <p14:creationId xmlns:p14="http://schemas.microsoft.com/office/powerpoint/2010/main" val="39089900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AA197B-C0A8-3A4F-1A78-18ABF53F12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Shape 8">
            <a:extLst>
              <a:ext uri="{FF2B5EF4-FFF2-40B4-BE49-F238E27FC236}">
                <a16:creationId xmlns:a16="http://schemas.microsoft.com/office/drawing/2014/main" id="{7E31590F-9ACB-2707-6CFC-62E93400304F}"/>
              </a:ext>
            </a:extLst>
          </p:cNvPr>
          <p:cNvSpPr/>
          <p:nvPr/>
        </p:nvSpPr>
        <p:spPr>
          <a:xfrm>
            <a:off x="0" y="0"/>
            <a:ext cx="24383390" cy="2095805"/>
          </a:xfrm>
          <a:prstGeom prst="rect">
            <a:avLst/>
          </a:prstGeom>
          <a:solidFill>
            <a:srgbClr val="002C5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1" name="Shape 9">
            <a:extLst>
              <a:ext uri="{FF2B5EF4-FFF2-40B4-BE49-F238E27FC236}">
                <a16:creationId xmlns:a16="http://schemas.microsoft.com/office/drawing/2014/main" id="{56A76E70-5D53-2B6B-7F15-D9D36C5A112C}"/>
              </a:ext>
            </a:extLst>
          </p:cNvPr>
          <p:cNvSpPr/>
          <p:nvPr/>
        </p:nvSpPr>
        <p:spPr>
          <a:xfrm>
            <a:off x="1333195" y="2018995"/>
            <a:ext cx="1904695" cy="75895"/>
          </a:xfrm>
          <a:prstGeom prst="rect">
            <a:avLst/>
          </a:prstGeom>
          <a:solidFill>
            <a:srgbClr val="90D4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2" name="Shape 10">
            <a:extLst>
              <a:ext uri="{FF2B5EF4-FFF2-40B4-BE49-F238E27FC236}">
                <a16:creationId xmlns:a16="http://schemas.microsoft.com/office/drawing/2014/main" id="{DEBA2710-B960-3381-4913-B7C81670AFCE}"/>
              </a:ext>
            </a:extLst>
          </p:cNvPr>
          <p:cNvSpPr/>
          <p:nvPr/>
        </p:nvSpPr>
        <p:spPr>
          <a:xfrm>
            <a:off x="1333195" y="323698"/>
            <a:ext cx="1438351" cy="437998"/>
          </a:xfrm>
          <a:prstGeom prst="roundRect">
            <a:avLst>
              <a:gd name="adj" fmla="val 36307"/>
            </a:avLst>
          </a:prstGeom>
          <a:solidFill>
            <a:srgbClr val="90D4FF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4" name="Text 12">
            <a:extLst>
              <a:ext uri="{FF2B5EF4-FFF2-40B4-BE49-F238E27FC236}">
                <a16:creationId xmlns:a16="http://schemas.microsoft.com/office/drawing/2014/main" id="{0DA3BC7F-6B97-83C9-9E5F-D9914F2A7F6D}"/>
              </a:ext>
            </a:extLst>
          </p:cNvPr>
          <p:cNvSpPr txBox="1"/>
          <p:nvPr/>
        </p:nvSpPr>
        <p:spPr>
          <a:xfrm>
            <a:off x="2906878" y="342900"/>
            <a:ext cx="11404208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2000" dirty="0">
                <a:solidFill>
                  <a:schemeClr val="bg1"/>
                </a:solidFill>
                <a:latin typeface="Inter" pitchFamily="34" charset="0"/>
              </a:rPr>
              <a:t>LLM</a:t>
            </a:r>
            <a:r>
              <a:rPr lang="ko-KR" altLang="en-US" sz="2000" dirty="0">
                <a:solidFill>
                  <a:schemeClr val="bg1"/>
                </a:solidFill>
                <a:latin typeface="Inter" pitchFamily="34" charset="0"/>
              </a:rPr>
              <a:t> 활용 패션 트렌드 조기 탐지 및 </a:t>
            </a:r>
            <a:r>
              <a:rPr lang="ko-KR" altLang="en-US" sz="2000" dirty="0" err="1">
                <a:solidFill>
                  <a:schemeClr val="bg1"/>
                </a:solidFill>
                <a:latin typeface="Inter" pitchFamily="34" charset="0"/>
              </a:rPr>
              <a:t>사입</a:t>
            </a:r>
            <a:r>
              <a:rPr lang="ko-KR" altLang="en-US" sz="2000" dirty="0">
                <a:solidFill>
                  <a:schemeClr val="bg1"/>
                </a:solidFill>
                <a:latin typeface="Inter" pitchFamily="34" charset="0"/>
              </a:rPr>
              <a:t> 후보 추천 시스템</a:t>
            </a:r>
            <a:endParaRPr lang="en-US" altLang="ko-KR" sz="2000" dirty="0">
              <a:solidFill>
                <a:schemeClr val="bg1"/>
              </a:solidFill>
            </a:endParaRPr>
          </a:p>
        </p:txBody>
      </p:sp>
      <p:sp>
        <p:nvSpPr>
          <p:cNvPr id="55" name="Text 13">
            <a:extLst>
              <a:ext uri="{FF2B5EF4-FFF2-40B4-BE49-F238E27FC236}">
                <a16:creationId xmlns:a16="http://schemas.microsoft.com/office/drawing/2014/main" id="{07885B52-0637-22F6-E7BD-53B87692FEAF}"/>
              </a:ext>
            </a:extLst>
          </p:cNvPr>
          <p:cNvSpPr txBox="1"/>
          <p:nvPr/>
        </p:nvSpPr>
        <p:spPr>
          <a:xfrm>
            <a:off x="1333195" y="856793"/>
            <a:ext cx="1645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4700" b="1" kern="0" spc="-96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</a:rPr>
              <a:t>② 후보는 이렇게 만듭니다</a:t>
            </a:r>
            <a:endParaRPr lang="en-US" sz="4700" dirty="0"/>
          </a:p>
        </p:txBody>
      </p:sp>
      <p:sp>
        <p:nvSpPr>
          <p:cNvPr id="57" name="Text 41">
            <a:extLst>
              <a:ext uri="{FF2B5EF4-FFF2-40B4-BE49-F238E27FC236}">
                <a16:creationId xmlns:a16="http://schemas.microsoft.com/office/drawing/2014/main" id="{ABF9C041-4324-12CF-40A9-D963D90E09C2}"/>
              </a:ext>
            </a:extLst>
          </p:cNvPr>
          <p:cNvSpPr txBox="1"/>
          <p:nvPr/>
        </p:nvSpPr>
        <p:spPr>
          <a:xfrm>
            <a:off x="22047199" y="13181234"/>
            <a:ext cx="2620569" cy="322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9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Lim Chaewon Portfolio</a:t>
            </a:r>
            <a:endParaRPr lang="en-US" sz="1700" dirty="0"/>
          </a:p>
        </p:txBody>
      </p:sp>
      <p:sp>
        <p:nvSpPr>
          <p:cNvPr id="2" name="Text 11">
            <a:extLst>
              <a:ext uri="{FF2B5EF4-FFF2-40B4-BE49-F238E27FC236}">
                <a16:creationId xmlns:a16="http://schemas.microsoft.com/office/drawing/2014/main" id="{B9320369-5863-693D-95A7-271981211969}"/>
              </a:ext>
            </a:extLst>
          </p:cNvPr>
          <p:cNvSpPr txBox="1"/>
          <p:nvPr/>
        </p:nvSpPr>
        <p:spPr>
          <a:xfrm>
            <a:off x="1518810" y="312725"/>
            <a:ext cx="1515161" cy="4389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39700" tIns="50800" rIns="139700" bIns="5080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90D4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Project 1</a:t>
            </a:r>
            <a:endParaRPr lang="en-US" sz="1700" dirty="0"/>
          </a:p>
        </p:txBody>
      </p:sp>
      <p:sp>
        <p:nvSpPr>
          <p:cNvPr id="58" name="TextBox 57"/>
          <p:cNvSpPr txBox="1"/>
          <p:nvPr/>
        </p:nvSpPr>
        <p:spPr>
          <a:xfrm>
            <a:off x="1333195" y="2697480"/>
            <a:ext cx="21718828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002C5F"/>
                </a:solidFill>
                <a:latin typeface="Noto Sans KR"/>
              </a:rPr>
              <a:t>조합을 저희가 지어내지 않습니다. 사람들이 실제로 검색한 말만 씁니다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1333195" y="4023360"/>
            <a:ext cx="4206240" cy="6766560"/>
          </a:xfrm>
          <a:prstGeom prst="roundRect">
            <a:avLst>
              <a:gd name="adj" fmla="val 4500"/>
            </a:avLst>
          </a:prstGeom>
          <a:solidFill>
            <a:srgbClr val="EA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0" name="TextBox 59"/>
          <p:cNvSpPr txBox="1"/>
          <p:nvPr/>
        </p:nvSpPr>
        <p:spPr>
          <a:xfrm>
            <a:off x="1881835" y="4663440"/>
            <a:ext cx="3108959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F6FB2"/>
                </a:solidFill>
                <a:latin typeface="Noto Sans KR"/>
              </a:rPr>
              <a:t>① 시드 하나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333195" y="6675120"/>
            <a:ext cx="42062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002C5F"/>
                </a:solidFill>
                <a:latin typeface="Noto Sans KR"/>
              </a:rPr>
              <a:t>가디건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881835" y="8778240"/>
            <a:ext cx="3108959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6B7280"/>
                </a:solidFill>
                <a:latin typeface="Noto Sans KR"/>
              </a:rPr>
              <a:t>26개 중 하나를</a:t>
            </a:r>
          </a:p>
          <a:p>
            <a:pPr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6B7280"/>
                </a:solidFill>
                <a:latin typeface="Noto Sans KR"/>
              </a:rPr>
              <a:t>네이버에 넣습니다</a:t>
            </a:r>
          </a:p>
        </p:txBody>
      </p:sp>
      <p:sp>
        <p:nvSpPr>
          <p:cNvPr id="63" name="Right Arrow 62"/>
          <p:cNvSpPr/>
          <p:nvPr/>
        </p:nvSpPr>
        <p:spPr>
          <a:xfrm>
            <a:off x="5859475" y="7132320"/>
            <a:ext cx="731520" cy="548640"/>
          </a:xfrm>
          <a:prstGeom prst="rightArrow">
            <a:avLst/>
          </a:prstGeom>
          <a:solidFill>
            <a:srgbClr val="9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ounded Rectangle 63"/>
          <p:cNvSpPr/>
          <p:nvPr/>
        </p:nvSpPr>
        <p:spPr>
          <a:xfrm>
            <a:off x="6911035" y="4023360"/>
            <a:ext cx="8595360" cy="6766560"/>
          </a:xfrm>
          <a:prstGeom prst="roundRect">
            <a:avLst>
              <a:gd name="adj" fmla="val 4500"/>
            </a:avLst>
          </a:prstGeom>
          <a:solidFill>
            <a:srgbClr val="F5F7FA"/>
          </a:solidFill>
          <a:ln w="12700">
            <a:solidFill>
              <a:srgbClr val="C9D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5" name="TextBox 64"/>
          <p:cNvSpPr txBox="1"/>
          <p:nvPr/>
        </p:nvSpPr>
        <p:spPr>
          <a:xfrm>
            <a:off x="7551115" y="4663440"/>
            <a:ext cx="73152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F6FB2"/>
                </a:solidFill>
                <a:latin typeface="Noto Sans KR"/>
              </a:rPr>
              <a:t>② 같이 검색되는 말이 딸려 옵니다</a:t>
            </a:r>
          </a:p>
          <a:p>
            <a:pPr>
              <a:lnSpc>
                <a:spcPct val="135000"/>
              </a:lnSpc>
              <a:spcBef>
                <a:spcPts val="600"/>
              </a:spcBef>
              <a:spcAft>
                <a:spcPts val="0"/>
              </a:spcAft>
            </a:pPr>
            <a:r>
              <a:rPr sz="1700" b="0">
                <a:solidFill>
                  <a:srgbClr val="6B7280"/>
                </a:solidFill>
                <a:latin typeface="Noto Sans KR"/>
              </a:rPr>
              <a:t>네이버 검색광고가 월간 검색수와 함께 알려줍니다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733995" y="6126480"/>
            <a:ext cx="4206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A1A1A"/>
                </a:solidFill>
                <a:latin typeface="Noto Sans KR"/>
              </a:rPr>
              <a:t>니트 가디건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2031675" y="6126480"/>
            <a:ext cx="17373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A1A1A"/>
                </a:solidFill>
                <a:latin typeface="Noto Sans KR"/>
              </a:rPr>
              <a:t>8,200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3951915" y="6126480"/>
            <a:ext cx="1371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F6FB2"/>
                </a:solidFill>
                <a:latin typeface="Noto Sans KR"/>
              </a:rPr>
              <a:t>채택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733995" y="6675120"/>
            <a:ext cx="4206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A1A1A"/>
                </a:solidFill>
                <a:latin typeface="Noto Sans KR"/>
              </a:rPr>
              <a:t>크롭 가디건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2031675" y="6675120"/>
            <a:ext cx="17373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A1A1A"/>
                </a:solidFill>
                <a:latin typeface="Noto Sans KR"/>
              </a:rPr>
              <a:t>3,400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3951915" y="6675120"/>
            <a:ext cx="1371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F6FB2"/>
                </a:solidFill>
                <a:latin typeface="Noto Sans KR"/>
              </a:rPr>
              <a:t>채택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733995" y="7223759"/>
            <a:ext cx="4206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A1A1A"/>
                </a:solidFill>
                <a:latin typeface="Noto Sans KR"/>
              </a:rPr>
              <a:t>버건디 가디건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2031675" y="7223759"/>
            <a:ext cx="17373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A1A1A"/>
                </a:solidFill>
                <a:latin typeface="Noto Sans KR"/>
              </a:rPr>
              <a:t>1,100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3951915" y="7223759"/>
            <a:ext cx="1371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F6FB2"/>
                </a:solidFill>
                <a:latin typeface="Noto Sans KR"/>
              </a:rPr>
              <a:t>채택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733995" y="7772400"/>
            <a:ext cx="4206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B0B6BE"/>
                </a:solidFill>
                <a:latin typeface="Noto Sans KR"/>
              </a:rPr>
              <a:t>숄 가디건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2031675" y="7772400"/>
            <a:ext cx="17373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B0B6BE"/>
                </a:solidFill>
                <a:latin typeface="Noto Sans KR"/>
              </a:rPr>
              <a:t>260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3951915" y="7772400"/>
            <a:ext cx="1371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B0B6BE"/>
                </a:solidFill>
                <a:latin typeface="Noto Sans KR"/>
              </a:rPr>
              <a:t>제외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733995" y="8321040"/>
            <a:ext cx="4206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B0B6BE"/>
                </a:solidFill>
                <a:latin typeface="Noto Sans KR"/>
              </a:rPr>
              <a:t>가디건 코디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2031675" y="8321040"/>
            <a:ext cx="17373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B0B6BE"/>
                </a:solidFill>
                <a:latin typeface="Noto Sans KR"/>
              </a:rPr>
              <a:t>22,000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3951915" y="8321040"/>
            <a:ext cx="1371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B0B6BE"/>
                </a:solidFill>
                <a:latin typeface="Noto Sans KR"/>
              </a:rPr>
              <a:t>제외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7733995" y="8869680"/>
            <a:ext cx="4206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B0B6BE"/>
                </a:solidFill>
                <a:latin typeface="Noto Sans KR"/>
              </a:rPr>
              <a:t>가디건 도매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2031675" y="8869680"/>
            <a:ext cx="17373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B0B6BE"/>
                </a:solidFill>
                <a:latin typeface="Noto Sans KR"/>
              </a:rPr>
              <a:t>1,900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3951915" y="8869680"/>
            <a:ext cx="1371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B0B6BE"/>
                </a:solidFill>
                <a:latin typeface="Noto Sans KR"/>
              </a:rPr>
              <a:t>제외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551115" y="9601200"/>
            <a:ext cx="73152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6B7280"/>
                </a:solidFill>
                <a:latin typeface="Noto Sans KR"/>
              </a:rPr>
              <a:t>월 100~1만 건만 남깁니다. 너무 크면 이미 다 아는 말이고,</a:t>
            </a:r>
          </a:p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6B7280"/>
                </a:solidFill>
                <a:latin typeface="Noto Sans KR"/>
              </a:rPr>
              <a:t>너무 작으면 숫자가 흔들려 추세를 볼 수 없습니다.</a:t>
            </a:r>
          </a:p>
        </p:txBody>
      </p:sp>
      <p:sp>
        <p:nvSpPr>
          <p:cNvPr id="85" name="Right Arrow 84"/>
          <p:cNvSpPr/>
          <p:nvPr/>
        </p:nvSpPr>
        <p:spPr>
          <a:xfrm>
            <a:off x="15826435" y="7132320"/>
            <a:ext cx="731520" cy="548640"/>
          </a:xfrm>
          <a:prstGeom prst="rightArrow">
            <a:avLst/>
          </a:prstGeom>
          <a:solidFill>
            <a:srgbClr val="9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ounded Rectangle 85"/>
          <p:cNvSpPr/>
          <p:nvPr/>
        </p:nvSpPr>
        <p:spPr>
          <a:xfrm>
            <a:off x="16877995" y="4023360"/>
            <a:ext cx="6174028" cy="6766560"/>
          </a:xfrm>
          <a:prstGeom prst="roundRect">
            <a:avLst>
              <a:gd name="adj" fmla="val 4500"/>
            </a:avLst>
          </a:prstGeom>
          <a:solidFill>
            <a:srgbClr val="EA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7" name="TextBox 86"/>
          <p:cNvSpPr txBox="1"/>
          <p:nvPr/>
        </p:nvSpPr>
        <p:spPr>
          <a:xfrm>
            <a:off x="17518075" y="4663440"/>
            <a:ext cx="4893868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F6FB2"/>
                </a:solidFill>
                <a:latin typeface="Noto Sans KR"/>
              </a:rPr>
              <a:t>③ 매주 추이를 봅니다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7700955" y="6400800"/>
            <a:ext cx="4528108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002C5F"/>
                </a:solidFill>
                <a:latin typeface="Noto Sans KR"/>
              </a:rPr>
              <a:t>니트 가디건</a:t>
            </a:r>
          </a:p>
          <a:p>
            <a:pPr>
              <a:lnSpc>
                <a:spcPct val="135000"/>
              </a:lnSpc>
              <a:spcBef>
                <a:spcPts val="500"/>
              </a:spcBef>
              <a:spcAft>
                <a:spcPts val="0"/>
              </a:spcAft>
            </a:pPr>
            <a:r>
              <a:rPr sz="1900" b="1">
                <a:solidFill>
                  <a:srgbClr val="1F6FB2"/>
                </a:solidFill>
                <a:latin typeface="Noto Sans KR"/>
              </a:rPr>
              <a:t>▲ 꾸준히 상승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7700955" y="7635240"/>
            <a:ext cx="4528108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002C5F"/>
                </a:solidFill>
                <a:latin typeface="Noto Sans KR"/>
              </a:rPr>
              <a:t>버건디 가디건</a:t>
            </a:r>
          </a:p>
          <a:p>
            <a:pPr>
              <a:lnSpc>
                <a:spcPct val="135000"/>
              </a:lnSpc>
              <a:spcBef>
                <a:spcPts val="500"/>
              </a:spcBef>
              <a:spcAft>
                <a:spcPts val="0"/>
              </a:spcAft>
            </a:pPr>
            <a:r>
              <a:rPr sz="1900" b="1">
                <a:solidFill>
                  <a:srgbClr val="1F6FB2"/>
                </a:solidFill>
                <a:latin typeface="Noto Sans KR"/>
              </a:rPr>
              <a:t>▲ 최근 급가속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17700955" y="8869680"/>
            <a:ext cx="4528108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002C5F"/>
                </a:solidFill>
                <a:latin typeface="Noto Sans KR"/>
              </a:rPr>
              <a:t>크롭 가디건</a:t>
            </a:r>
          </a:p>
          <a:p>
            <a:pPr>
              <a:lnSpc>
                <a:spcPct val="135000"/>
              </a:lnSpc>
              <a:spcBef>
                <a:spcPts val="500"/>
              </a:spcBef>
              <a:spcAft>
                <a:spcPts val="0"/>
              </a:spcAft>
            </a:pPr>
            <a:r>
              <a:rPr sz="1900" b="1">
                <a:solidFill>
                  <a:srgbClr val="6B7280"/>
                </a:solidFill>
                <a:latin typeface="Noto Sans KR"/>
              </a:rPr>
              <a:t>— 변화 없음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1333195" y="11338560"/>
            <a:ext cx="21718828" cy="1280160"/>
          </a:xfrm>
          <a:prstGeom prst="roundRect">
            <a:avLst>
              <a:gd name="adj" fmla="val 4500"/>
            </a:avLst>
          </a:prstGeom>
          <a:solidFill>
            <a:srgbClr val="002C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2" name="TextBox 91"/>
          <p:cNvSpPr txBox="1"/>
          <p:nvPr/>
        </p:nvSpPr>
        <p:spPr>
          <a:xfrm>
            <a:off x="1790395" y="11338560"/>
            <a:ext cx="20804428" cy="1280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sz="2300" b="1">
                <a:solidFill>
                  <a:srgbClr val="FFFFFF"/>
                </a:solidFill>
                <a:latin typeface="Noto Sans KR"/>
              </a:rPr>
              <a:t>시드 26개가 후보 수백 개로 늘어납니다.  </a:t>
            </a:r>
            <a:r>
              <a:rPr sz="2300" b="0">
                <a:solidFill>
                  <a:srgbClr val="90D4FF"/>
                </a:solidFill>
                <a:latin typeface="Noto Sans KR"/>
              </a:rPr>
              <a:t>그중 오르는 것과 꺾이는 것을 매주 추려 드립니다.</a:t>
            </a:r>
          </a:p>
        </p:txBody>
      </p:sp>
    </p:spTree>
    <p:extLst>
      <p:ext uri="{BB962C8B-B14F-4D97-AF65-F5344CB8AC3E}">
        <p14:creationId xmlns:p14="http://schemas.microsoft.com/office/powerpoint/2010/main" val="39089900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AA197B-C0A8-3A4F-1A78-18ABF53F12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Shape 8">
            <a:extLst>
              <a:ext uri="{FF2B5EF4-FFF2-40B4-BE49-F238E27FC236}">
                <a16:creationId xmlns:a16="http://schemas.microsoft.com/office/drawing/2014/main" id="{7E31590F-9ACB-2707-6CFC-62E93400304F}"/>
              </a:ext>
            </a:extLst>
          </p:cNvPr>
          <p:cNvSpPr/>
          <p:nvPr/>
        </p:nvSpPr>
        <p:spPr>
          <a:xfrm>
            <a:off x="0" y="0"/>
            <a:ext cx="24383390" cy="2095805"/>
          </a:xfrm>
          <a:prstGeom prst="rect">
            <a:avLst/>
          </a:prstGeom>
          <a:solidFill>
            <a:srgbClr val="002C5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1" name="Shape 9">
            <a:extLst>
              <a:ext uri="{FF2B5EF4-FFF2-40B4-BE49-F238E27FC236}">
                <a16:creationId xmlns:a16="http://schemas.microsoft.com/office/drawing/2014/main" id="{56A76E70-5D53-2B6B-7F15-D9D36C5A112C}"/>
              </a:ext>
            </a:extLst>
          </p:cNvPr>
          <p:cNvSpPr/>
          <p:nvPr/>
        </p:nvSpPr>
        <p:spPr>
          <a:xfrm>
            <a:off x="1333195" y="2018995"/>
            <a:ext cx="1904695" cy="75895"/>
          </a:xfrm>
          <a:prstGeom prst="rect">
            <a:avLst/>
          </a:prstGeom>
          <a:solidFill>
            <a:srgbClr val="90D4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2" name="Shape 10">
            <a:extLst>
              <a:ext uri="{FF2B5EF4-FFF2-40B4-BE49-F238E27FC236}">
                <a16:creationId xmlns:a16="http://schemas.microsoft.com/office/drawing/2014/main" id="{DEBA2710-B960-3381-4913-B7C81670AFCE}"/>
              </a:ext>
            </a:extLst>
          </p:cNvPr>
          <p:cNvSpPr/>
          <p:nvPr/>
        </p:nvSpPr>
        <p:spPr>
          <a:xfrm>
            <a:off x="1333195" y="323698"/>
            <a:ext cx="1438351" cy="437998"/>
          </a:xfrm>
          <a:prstGeom prst="roundRect">
            <a:avLst>
              <a:gd name="adj" fmla="val 36307"/>
            </a:avLst>
          </a:prstGeom>
          <a:solidFill>
            <a:srgbClr val="90D4FF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4" name="Text 12">
            <a:extLst>
              <a:ext uri="{FF2B5EF4-FFF2-40B4-BE49-F238E27FC236}">
                <a16:creationId xmlns:a16="http://schemas.microsoft.com/office/drawing/2014/main" id="{0DA3BC7F-6B97-83C9-9E5F-D9914F2A7F6D}"/>
              </a:ext>
            </a:extLst>
          </p:cNvPr>
          <p:cNvSpPr txBox="1"/>
          <p:nvPr/>
        </p:nvSpPr>
        <p:spPr>
          <a:xfrm>
            <a:off x="2906878" y="342900"/>
            <a:ext cx="11404208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2000" dirty="0">
                <a:solidFill>
                  <a:schemeClr val="bg1"/>
                </a:solidFill>
                <a:latin typeface="Inter" pitchFamily="34" charset="0"/>
              </a:rPr>
              <a:t>LLM</a:t>
            </a:r>
            <a:r>
              <a:rPr lang="ko-KR" altLang="en-US" sz="2000" dirty="0">
                <a:solidFill>
                  <a:schemeClr val="bg1"/>
                </a:solidFill>
                <a:latin typeface="Inter" pitchFamily="34" charset="0"/>
              </a:rPr>
              <a:t> 활용 패션 트렌드 조기 탐지 및 </a:t>
            </a:r>
            <a:r>
              <a:rPr lang="ko-KR" altLang="en-US" sz="2000" dirty="0" err="1">
                <a:solidFill>
                  <a:schemeClr val="bg1"/>
                </a:solidFill>
                <a:latin typeface="Inter" pitchFamily="34" charset="0"/>
              </a:rPr>
              <a:t>사입</a:t>
            </a:r>
            <a:r>
              <a:rPr lang="ko-KR" altLang="en-US" sz="2000" dirty="0">
                <a:solidFill>
                  <a:schemeClr val="bg1"/>
                </a:solidFill>
                <a:latin typeface="Inter" pitchFamily="34" charset="0"/>
              </a:rPr>
              <a:t> 후보 추천 시스템</a:t>
            </a:r>
            <a:endParaRPr lang="en-US" altLang="ko-KR" sz="2000" dirty="0">
              <a:solidFill>
                <a:schemeClr val="bg1"/>
              </a:solidFill>
            </a:endParaRPr>
          </a:p>
        </p:txBody>
      </p:sp>
      <p:sp>
        <p:nvSpPr>
          <p:cNvPr id="55" name="Text 13">
            <a:extLst>
              <a:ext uri="{FF2B5EF4-FFF2-40B4-BE49-F238E27FC236}">
                <a16:creationId xmlns:a16="http://schemas.microsoft.com/office/drawing/2014/main" id="{07885B52-0637-22F6-E7BD-53B87692FEAF}"/>
              </a:ext>
            </a:extLst>
          </p:cNvPr>
          <p:cNvSpPr txBox="1"/>
          <p:nvPr/>
        </p:nvSpPr>
        <p:spPr>
          <a:xfrm>
            <a:off x="1333195" y="856793"/>
            <a:ext cx="1645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4700" b="1" kern="0" spc="-96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</a:rPr>
              <a:t>③ 옷을 설명하는 11가지 기준</a:t>
            </a:r>
            <a:endParaRPr lang="en-US" sz="4700" dirty="0"/>
          </a:p>
        </p:txBody>
      </p:sp>
      <p:sp>
        <p:nvSpPr>
          <p:cNvPr id="57" name="Text 41">
            <a:extLst>
              <a:ext uri="{FF2B5EF4-FFF2-40B4-BE49-F238E27FC236}">
                <a16:creationId xmlns:a16="http://schemas.microsoft.com/office/drawing/2014/main" id="{ABF9C041-4324-12CF-40A9-D963D90E09C2}"/>
              </a:ext>
            </a:extLst>
          </p:cNvPr>
          <p:cNvSpPr txBox="1"/>
          <p:nvPr/>
        </p:nvSpPr>
        <p:spPr>
          <a:xfrm>
            <a:off x="22047199" y="13181234"/>
            <a:ext cx="2620569" cy="322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9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Lim Chaewon Portfolio</a:t>
            </a:r>
            <a:endParaRPr lang="en-US" sz="1700" dirty="0"/>
          </a:p>
        </p:txBody>
      </p:sp>
      <p:sp>
        <p:nvSpPr>
          <p:cNvPr id="2" name="Text 11">
            <a:extLst>
              <a:ext uri="{FF2B5EF4-FFF2-40B4-BE49-F238E27FC236}">
                <a16:creationId xmlns:a16="http://schemas.microsoft.com/office/drawing/2014/main" id="{B9320369-5863-693D-95A7-271981211969}"/>
              </a:ext>
            </a:extLst>
          </p:cNvPr>
          <p:cNvSpPr txBox="1"/>
          <p:nvPr/>
        </p:nvSpPr>
        <p:spPr>
          <a:xfrm>
            <a:off x="1518810" y="312725"/>
            <a:ext cx="1515161" cy="4389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39700" tIns="50800" rIns="139700" bIns="5080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90D4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Project 1</a:t>
            </a:r>
            <a:endParaRPr lang="en-US" sz="1700" dirty="0"/>
          </a:p>
        </p:txBody>
      </p:sp>
      <p:sp>
        <p:nvSpPr>
          <p:cNvPr id="58" name="TextBox 57"/>
          <p:cNvSpPr txBox="1"/>
          <p:nvPr/>
        </p:nvSpPr>
        <p:spPr>
          <a:xfrm>
            <a:off x="1333195" y="2697480"/>
            <a:ext cx="21718828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002C5F"/>
                </a:solidFill>
                <a:latin typeface="Noto Sans KR"/>
              </a:rPr>
              <a:t>'버건디 니트 가디건'을 색·소재·품목으로 쪼개야 무엇이 뜨는지 보입니다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1333195" y="3977639"/>
            <a:ext cx="5086807" cy="1572768"/>
          </a:xfrm>
          <a:prstGeom prst="roundRect">
            <a:avLst>
              <a:gd name="adj" fmla="val 4500"/>
            </a:avLst>
          </a:prstGeom>
          <a:solidFill>
            <a:srgbClr val="F5F7FA"/>
          </a:solidFill>
          <a:ln w="12700">
            <a:solidFill>
              <a:srgbClr val="C9D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0" name="TextBox 59"/>
          <p:cNvSpPr txBox="1"/>
          <p:nvPr/>
        </p:nvSpPr>
        <p:spPr>
          <a:xfrm>
            <a:off x="1881835" y="4297679"/>
            <a:ext cx="3989527" cy="932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02C5F"/>
                </a:solidFill>
                <a:latin typeface="Noto Sans KR"/>
              </a:rPr>
              <a:t>아이템</a:t>
            </a:r>
          </a:p>
          <a:p>
            <a:pPr>
              <a:lnSpc>
                <a:spcPct val="135000"/>
              </a:lnSpc>
              <a:spcBef>
                <a:spcPts val="800"/>
              </a:spcBef>
              <a:spcAft>
                <a:spcPts val="0"/>
              </a:spcAft>
            </a:pPr>
            <a:r>
              <a:rPr sz="1800" b="0">
                <a:solidFill>
                  <a:srgbClr val="6B7280"/>
                </a:solidFill>
                <a:latin typeface="Noto Sans KR"/>
              </a:rPr>
              <a:t>가디건 · 자켓 · 스커트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6877202" y="3977639"/>
            <a:ext cx="5086807" cy="1572768"/>
          </a:xfrm>
          <a:prstGeom prst="roundRect">
            <a:avLst>
              <a:gd name="adj" fmla="val 4500"/>
            </a:avLst>
          </a:prstGeom>
          <a:solidFill>
            <a:srgbClr val="F5F7FA"/>
          </a:solidFill>
          <a:ln w="12700">
            <a:solidFill>
              <a:srgbClr val="C9D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2" name="TextBox 61"/>
          <p:cNvSpPr txBox="1"/>
          <p:nvPr/>
        </p:nvSpPr>
        <p:spPr>
          <a:xfrm>
            <a:off x="7425842" y="4297679"/>
            <a:ext cx="3989527" cy="932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02C5F"/>
                </a:solidFill>
                <a:latin typeface="Noto Sans KR"/>
              </a:rPr>
              <a:t>실루엣</a:t>
            </a:r>
          </a:p>
          <a:p>
            <a:pPr>
              <a:lnSpc>
                <a:spcPct val="135000"/>
              </a:lnSpc>
              <a:spcBef>
                <a:spcPts val="800"/>
              </a:spcBef>
              <a:spcAft>
                <a:spcPts val="0"/>
              </a:spcAft>
            </a:pPr>
            <a:r>
              <a:rPr sz="1800" b="0">
                <a:solidFill>
                  <a:srgbClr val="6B7280"/>
                </a:solidFill>
                <a:latin typeface="Noto Sans KR"/>
              </a:rPr>
              <a:t>오버사이즈 · A라인 · 벌룬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12421209" y="3977639"/>
            <a:ext cx="5086807" cy="1572768"/>
          </a:xfrm>
          <a:prstGeom prst="roundRect">
            <a:avLst>
              <a:gd name="adj" fmla="val 4500"/>
            </a:avLst>
          </a:prstGeom>
          <a:solidFill>
            <a:srgbClr val="F5F7FA"/>
          </a:solidFill>
          <a:ln w="12700">
            <a:solidFill>
              <a:srgbClr val="C9D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4" name="TextBox 63"/>
          <p:cNvSpPr txBox="1"/>
          <p:nvPr/>
        </p:nvSpPr>
        <p:spPr>
          <a:xfrm>
            <a:off x="12969849" y="4297679"/>
            <a:ext cx="3989527" cy="932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02C5F"/>
                </a:solidFill>
                <a:latin typeface="Noto Sans KR"/>
              </a:rPr>
              <a:t>핏</a:t>
            </a:r>
          </a:p>
          <a:p>
            <a:pPr>
              <a:lnSpc>
                <a:spcPct val="135000"/>
              </a:lnSpc>
              <a:spcBef>
                <a:spcPts val="800"/>
              </a:spcBef>
              <a:spcAft>
                <a:spcPts val="0"/>
              </a:spcAft>
            </a:pPr>
            <a:r>
              <a:rPr sz="1800" b="0">
                <a:solidFill>
                  <a:srgbClr val="6B7280"/>
                </a:solidFill>
                <a:latin typeface="Noto Sans KR"/>
              </a:rPr>
              <a:t>크롭 · 루즈 · 레귤러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17965216" y="3977639"/>
            <a:ext cx="5086807" cy="1572768"/>
          </a:xfrm>
          <a:prstGeom prst="roundRect">
            <a:avLst>
              <a:gd name="adj" fmla="val 4500"/>
            </a:avLst>
          </a:prstGeom>
          <a:solidFill>
            <a:srgbClr val="F5F7FA"/>
          </a:solidFill>
          <a:ln w="12700">
            <a:solidFill>
              <a:srgbClr val="C9D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6" name="TextBox 65"/>
          <p:cNvSpPr txBox="1"/>
          <p:nvPr/>
        </p:nvSpPr>
        <p:spPr>
          <a:xfrm>
            <a:off x="18513856" y="4297679"/>
            <a:ext cx="3989527" cy="932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02C5F"/>
                </a:solidFill>
                <a:latin typeface="Noto Sans KR"/>
              </a:rPr>
              <a:t>기장</a:t>
            </a:r>
          </a:p>
          <a:p>
            <a:pPr>
              <a:lnSpc>
                <a:spcPct val="135000"/>
              </a:lnSpc>
              <a:spcBef>
                <a:spcPts val="800"/>
              </a:spcBef>
              <a:spcAft>
                <a:spcPts val="0"/>
              </a:spcAft>
            </a:pPr>
            <a:r>
              <a:rPr sz="1800" b="0">
                <a:solidFill>
                  <a:srgbClr val="6B7280"/>
                </a:solidFill>
                <a:latin typeface="Noto Sans KR"/>
              </a:rPr>
              <a:t>미니 · 미디 · 롱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1333195" y="5961888"/>
            <a:ext cx="5086807" cy="1572768"/>
          </a:xfrm>
          <a:prstGeom prst="roundRect">
            <a:avLst>
              <a:gd name="adj" fmla="val 4500"/>
            </a:avLst>
          </a:prstGeom>
          <a:solidFill>
            <a:srgbClr val="F5F7FA"/>
          </a:solidFill>
          <a:ln w="12700">
            <a:solidFill>
              <a:srgbClr val="C9D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8" name="TextBox 67"/>
          <p:cNvSpPr txBox="1"/>
          <p:nvPr/>
        </p:nvSpPr>
        <p:spPr>
          <a:xfrm>
            <a:off x="1881835" y="6281927"/>
            <a:ext cx="3989527" cy="932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02C5F"/>
                </a:solidFill>
                <a:latin typeface="Noto Sans KR"/>
              </a:rPr>
              <a:t>색상</a:t>
            </a:r>
          </a:p>
          <a:p>
            <a:pPr>
              <a:lnSpc>
                <a:spcPct val="135000"/>
              </a:lnSpc>
              <a:spcBef>
                <a:spcPts val="800"/>
              </a:spcBef>
              <a:spcAft>
                <a:spcPts val="0"/>
              </a:spcAft>
            </a:pPr>
            <a:r>
              <a:rPr sz="1800" b="0">
                <a:solidFill>
                  <a:srgbClr val="6B7280"/>
                </a:solidFill>
                <a:latin typeface="Noto Sans KR"/>
              </a:rPr>
              <a:t>버건디 · 올리브 · 파스텔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6877202" y="5961888"/>
            <a:ext cx="5086807" cy="1572768"/>
          </a:xfrm>
          <a:prstGeom prst="roundRect">
            <a:avLst>
              <a:gd name="adj" fmla="val 4500"/>
            </a:avLst>
          </a:prstGeom>
          <a:solidFill>
            <a:srgbClr val="F5F7FA"/>
          </a:solidFill>
          <a:ln w="12700">
            <a:solidFill>
              <a:srgbClr val="C9D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0" name="TextBox 69"/>
          <p:cNvSpPr txBox="1"/>
          <p:nvPr/>
        </p:nvSpPr>
        <p:spPr>
          <a:xfrm>
            <a:off x="7425842" y="6281927"/>
            <a:ext cx="3989527" cy="932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02C5F"/>
                </a:solidFill>
                <a:latin typeface="Noto Sans KR"/>
              </a:rPr>
              <a:t>소재</a:t>
            </a:r>
          </a:p>
          <a:p>
            <a:pPr>
              <a:lnSpc>
                <a:spcPct val="135000"/>
              </a:lnSpc>
              <a:spcBef>
                <a:spcPts val="800"/>
              </a:spcBef>
              <a:spcAft>
                <a:spcPts val="0"/>
              </a:spcAft>
            </a:pPr>
            <a:r>
              <a:rPr sz="1800" b="0">
                <a:solidFill>
                  <a:srgbClr val="6B7280"/>
                </a:solidFill>
                <a:latin typeface="Noto Sans KR"/>
              </a:rPr>
              <a:t>니트 · 코듀로이 · 트위드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12421209" y="5961888"/>
            <a:ext cx="5086807" cy="1572768"/>
          </a:xfrm>
          <a:prstGeom prst="roundRect">
            <a:avLst>
              <a:gd name="adj" fmla="val 4500"/>
            </a:avLst>
          </a:prstGeom>
          <a:solidFill>
            <a:srgbClr val="F5F7FA"/>
          </a:solidFill>
          <a:ln w="12700">
            <a:solidFill>
              <a:srgbClr val="C9D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2" name="TextBox 71"/>
          <p:cNvSpPr txBox="1"/>
          <p:nvPr/>
        </p:nvSpPr>
        <p:spPr>
          <a:xfrm>
            <a:off x="12969849" y="6281927"/>
            <a:ext cx="3989527" cy="932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02C5F"/>
                </a:solidFill>
                <a:latin typeface="Noto Sans KR"/>
              </a:rPr>
              <a:t>패턴</a:t>
            </a:r>
          </a:p>
          <a:p>
            <a:pPr>
              <a:lnSpc>
                <a:spcPct val="135000"/>
              </a:lnSpc>
              <a:spcBef>
                <a:spcPts val="800"/>
              </a:spcBef>
              <a:spcAft>
                <a:spcPts val="0"/>
              </a:spcAft>
            </a:pPr>
            <a:r>
              <a:rPr sz="1800" b="0">
                <a:solidFill>
                  <a:srgbClr val="6B7280"/>
                </a:solidFill>
                <a:latin typeface="Noto Sans KR"/>
              </a:rPr>
              <a:t>체크 · 스트라이프 · 플로럴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17965216" y="5961888"/>
            <a:ext cx="5086807" cy="1572768"/>
          </a:xfrm>
          <a:prstGeom prst="roundRect">
            <a:avLst>
              <a:gd name="adj" fmla="val 4500"/>
            </a:avLst>
          </a:prstGeom>
          <a:solidFill>
            <a:srgbClr val="F5F7FA"/>
          </a:solidFill>
          <a:ln w="12700">
            <a:solidFill>
              <a:srgbClr val="C9D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4" name="TextBox 73"/>
          <p:cNvSpPr txBox="1"/>
          <p:nvPr/>
        </p:nvSpPr>
        <p:spPr>
          <a:xfrm>
            <a:off x="18513856" y="6281927"/>
            <a:ext cx="3989527" cy="932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02C5F"/>
                </a:solidFill>
                <a:latin typeface="Noto Sans KR"/>
              </a:rPr>
              <a:t>디테일</a:t>
            </a:r>
          </a:p>
          <a:p>
            <a:pPr>
              <a:lnSpc>
                <a:spcPct val="135000"/>
              </a:lnSpc>
              <a:spcBef>
                <a:spcPts val="800"/>
              </a:spcBef>
              <a:spcAft>
                <a:spcPts val="0"/>
              </a:spcAft>
            </a:pPr>
            <a:r>
              <a:rPr sz="1800" b="0">
                <a:solidFill>
                  <a:srgbClr val="6B7280"/>
                </a:solidFill>
                <a:latin typeface="Noto Sans KR"/>
              </a:rPr>
              <a:t>퍼 · 퀼팅 · 시스루 · 러플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1333195" y="7946136"/>
            <a:ext cx="5086807" cy="1572768"/>
          </a:xfrm>
          <a:prstGeom prst="roundRect">
            <a:avLst>
              <a:gd name="adj" fmla="val 4500"/>
            </a:avLst>
          </a:prstGeom>
          <a:solidFill>
            <a:srgbClr val="F5F7FA"/>
          </a:solidFill>
          <a:ln w="12700">
            <a:solidFill>
              <a:srgbClr val="C9D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6" name="TextBox 75"/>
          <p:cNvSpPr txBox="1"/>
          <p:nvPr/>
        </p:nvSpPr>
        <p:spPr>
          <a:xfrm>
            <a:off x="1881835" y="8266175"/>
            <a:ext cx="3989527" cy="932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02C5F"/>
                </a:solidFill>
                <a:latin typeface="Noto Sans KR"/>
              </a:rPr>
              <a:t>무드</a:t>
            </a:r>
          </a:p>
          <a:p>
            <a:pPr>
              <a:lnSpc>
                <a:spcPct val="135000"/>
              </a:lnSpc>
              <a:spcBef>
                <a:spcPts val="800"/>
              </a:spcBef>
              <a:spcAft>
                <a:spcPts val="0"/>
              </a:spcAft>
            </a:pPr>
            <a:r>
              <a:rPr sz="1800" b="0">
                <a:solidFill>
                  <a:srgbClr val="6B7280"/>
                </a:solidFill>
                <a:latin typeface="Noto Sans KR"/>
              </a:rPr>
              <a:t>Y2K · 고프코어 · 올드머니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6877202" y="7946136"/>
            <a:ext cx="5086807" cy="1572768"/>
          </a:xfrm>
          <a:prstGeom prst="roundRect">
            <a:avLst>
              <a:gd name="adj" fmla="val 4500"/>
            </a:avLst>
          </a:prstGeom>
          <a:solidFill>
            <a:srgbClr val="F5F7FA"/>
          </a:solidFill>
          <a:ln w="12700">
            <a:solidFill>
              <a:srgbClr val="C9D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8" name="TextBox 77"/>
          <p:cNvSpPr txBox="1"/>
          <p:nvPr/>
        </p:nvSpPr>
        <p:spPr>
          <a:xfrm>
            <a:off x="7425842" y="8266175"/>
            <a:ext cx="3989527" cy="932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02C5F"/>
                </a:solidFill>
                <a:latin typeface="Noto Sans KR"/>
              </a:rPr>
              <a:t>상황</a:t>
            </a:r>
          </a:p>
          <a:p>
            <a:pPr>
              <a:lnSpc>
                <a:spcPct val="135000"/>
              </a:lnSpc>
              <a:spcBef>
                <a:spcPts val="800"/>
              </a:spcBef>
              <a:spcAft>
                <a:spcPts val="0"/>
              </a:spcAft>
            </a:pPr>
            <a:r>
              <a:rPr sz="1800" b="0">
                <a:solidFill>
                  <a:srgbClr val="6B7280"/>
                </a:solidFill>
                <a:latin typeface="Noto Sans KR"/>
              </a:rPr>
              <a:t>데일리 · 출근 · 하객 · 여행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12421209" y="7946136"/>
            <a:ext cx="5086807" cy="1572768"/>
          </a:xfrm>
          <a:prstGeom prst="roundRect">
            <a:avLst>
              <a:gd name="adj" fmla="val 4500"/>
            </a:avLst>
          </a:prstGeom>
          <a:solidFill>
            <a:srgbClr val="F5F7FA"/>
          </a:solidFill>
          <a:ln w="12700">
            <a:solidFill>
              <a:srgbClr val="C9D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0" name="TextBox 79"/>
          <p:cNvSpPr txBox="1"/>
          <p:nvPr/>
        </p:nvSpPr>
        <p:spPr>
          <a:xfrm>
            <a:off x="12969849" y="8266175"/>
            <a:ext cx="3989527" cy="932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02C5F"/>
                </a:solidFill>
                <a:latin typeface="Noto Sans KR"/>
              </a:rPr>
              <a:t>시대</a:t>
            </a:r>
          </a:p>
          <a:p>
            <a:pPr>
              <a:lnSpc>
                <a:spcPct val="135000"/>
              </a:lnSpc>
              <a:spcBef>
                <a:spcPts val="800"/>
              </a:spcBef>
              <a:spcAft>
                <a:spcPts val="0"/>
              </a:spcAft>
            </a:pPr>
            <a:r>
              <a:rPr sz="1800" b="0">
                <a:solidFill>
                  <a:srgbClr val="6B7280"/>
                </a:solidFill>
                <a:latin typeface="Noto Sans KR"/>
              </a:rPr>
              <a:t>90년대 · 2000년대 · 70년대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1333195" y="10341863"/>
            <a:ext cx="21718828" cy="2286000"/>
          </a:xfrm>
          <a:prstGeom prst="roundRect">
            <a:avLst>
              <a:gd name="adj" fmla="val 4500"/>
            </a:avLst>
          </a:prstGeom>
          <a:solidFill>
            <a:srgbClr val="FBF4E8"/>
          </a:solidFill>
          <a:ln w="12700">
            <a:solidFill>
              <a:srgbClr val="E8D4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2" name="TextBox 81"/>
          <p:cNvSpPr txBox="1"/>
          <p:nvPr/>
        </p:nvSpPr>
        <p:spPr>
          <a:xfrm>
            <a:off x="2156155" y="10341863"/>
            <a:ext cx="20072908" cy="228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sz="2400" b="1">
                <a:solidFill>
                  <a:srgbClr val="8A5E10"/>
                </a:solidFill>
                <a:latin typeface="Noto Sans KR"/>
              </a:rPr>
              <a:t>여쭙고 싶은 것</a:t>
            </a:r>
          </a:p>
          <a:p>
            <a:pPr>
              <a:lnSpc>
                <a:spcPct val="140000"/>
              </a:lnSpc>
              <a:spcBef>
                <a:spcPts val="1200"/>
              </a:spcBef>
              <a:spcAft>
                <a:spcPts val="0"/>
              </a:spcAft>
            </a:pPr>
            <a:r>
              <a:rPr sz="2100" b="0">
                <a:solidFill>
                  <a:srgbClr val="1A1A1A"/>
                </a:solidFill>
                <a:latin typeface="Noto Sans KR"/>
              </a:rPr>
              <a:t>실제로 떼오실 때 보시는 기준 중에, 이 11개로 설명이 안 되는 게 있나요?</a:t>
            </a:r>
          </a:p>
          <a:p>
            <a:pPr>
              <a:lnSpc>
                <a:spcPct val="140000"/>
              </a:lnSpc>
              <a:spcBef>
                <a:spcPts val="600"/>
              </a:spcBef>
              <a:spcAft>
                <a:spcPts val="0"/>
              </a:spcAft>
            </a:pPr>
            <a:r>
              <a:rPr sz="1900" b="0">
                <a:solidFill>
                  <a:srgbClr val="6B7280"/>
                </a:solidFill>
                <a:latin typeface="Noto Sans KR"/>
              </a:rPr>
              <a:t>저희끼리는 '계절'과 '가격대'를 더 넣을지 고민 중입니다. 반대로 안 쓰실 것 같은 축이 있으면 빼겠습니다.</a:t>
            </a:r>
          </a:p>
        </p:txBody>
      </p:sp>
    </p:spTree>
    <p:extLst>
      <p:ext uri="{BB962C8B-B14F-4D97-AF65-F5344CB8AC3E}">
        <p14:creationId xmlns:p14="http://schemas.microsoft.com/office/powerpoint/2010/main" val="39089900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AA197B-C0A8-3A4F-1A78-18ABF53F12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Shape 8">
            <a:extLst>
              <a:ext uri="{FF2B5EF4-FFF2-40B4-BE49-F238E27FC236}">
                <a16:creationId xmlns:a16="http://schemas.microsoft.com/office/drawing/2014/main" id="{7E31590F-9ACB-2707-6CFC-62E93400304F}"/>
              </a:ext>
            </a:extLst>
          </p:cNvPr>
          <p:cNvSpPr/>
          <p:nvPr/>
        </p:nvSpPr>
        <p:spPr>
          <a:xfrm>
            <a:off x="0" y="0"/>
            <a:ext cx="24383390" cy="2095805"/>
          </a:xfrm>
          <a:prstGeom prst="rect">
            <a:avLst/>
          </a:prstGeom>
          <a:solidFill>
            <a:srgbClr val="002C5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1" name="Shape 9">
            <a:extLst>
              <a:ext uri="{FF2B5EF4-FFF2-40B4-BE49-F238E27FC236}">
                <a16:creationId xmlns:a16="http://schemas.microsoft.com/office/drawing/2014/main" id="{56A76E70-5D53-2B6B-7F15-D9D36C5A112C}"/>
              </a:ext>
            </a:extLst>
          </p:cNvPr>
          <p:cNvSpPr/>
          <p:nvPr/>
        </p:nvSpPr>
        <p:spPr>
          <a:xfrm>
            <a:off x="1333195" y="2018995"/>
            <a:ext cx="1904695" cy="75895"/>
          </a:xfrm>
          <a:prstGeom prst="rect">
            <a:avLst/>
          </a:prstGeom>
          <a:solidFill>
            <a:srgbClr val="90D4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2" name="Shape 10">
            <a:extLst>
              <a:ext uri="{FF2B5EF4-FFF2-40B4-BE49-F238E27FC236}">
                <a16:creationId xmlns:a16="http://schemas.microsoft.com/office/drawing/2014/main" id="{DEBA2710-B960-3381-4913-B7C81670AFCE}"/>
              </a:ext>
            </a:extLst>
          </p:cNvPr>
          <p:cNvSpPr/>
          <p:nvPr/>
        </p:nvSpPr>
        <p:spPr>
          <a:xfrm>
            <a:off x="1333195" y="323698"/>
            <a:ext cx="1438351" cy="437998"/>
          </a:xfrm>
          <a:prstGeom prst="roundRect">
            <a:avLst>
              <a:gd name="adj" fmla="val 36307"/>
            </a:avLst>
          </a:prstGeom>
          <a:solidFill>
            <a:srgbClr val="90D4FF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4" name="Text 12">
            <a:extLst>
              <a:ext uri="{FF2B5EF4-FFF2-40B4-BE49-F238E27FC236}">
                <a16:creationId xmlns:a16="http://schemas.microsoft.com/office/drawing/2014/main" id="{0DA3BC7F-6B97-83C9-9E5F-D9914F2A7F6D}"/>
              </a:ext>
            </a:extLst>
          </p:cNvPr>
          <p:cNvSpPr txBox="1"/>
          <p:nvPr/>
        </p:nvSpPr>
        <p:spPr>
          <a:xfrm>
            <a:off x="2906878" y="342900"/>
            <a:ext cx="11404208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2000" dirty="0">
                <a:solidFill>
                  <a:schemeClr val="bg1"/>
                </a:solidFill>
                <a:latin typeface="Inter" pitchFamily="34" charset="0"/>
              </a:rPr>
              <a:t>LLM</a:t>
            </a:r>
            <a:r>
              <a:rPr lang="ko-KR" altLang="en-US" sz="2000" dirty="0">
                <a:solidFill>
                  <a:schemeClr val="bg1"/>
                </a:solidFill>
                <a:latin typeface="Inter" pitchFamily="34" charset="0"/>
              </a:rPr>
              <a:t> 활용 패션 트렌드 조기 탐지 및 </a:t>
            </a:r>
            <a:r>
              <a:rPr lang="ko-KR" altLang="en-US" sz="2000" dirty="0" err="1">
                <a:solidFill>
                  <a:schemeClr val="bg1"/>
                </a:solidFill>
                <a:latin typeface="Inter" pitchFamily="34" charset="0"/>
              </a:rPr>
              <a:t>사입</a:t>
            </a:r>
            <a:r>
              <a:rPr lang="ko-KR" altLang="en-US" sz="2000" dirty="0">
                <a:solidFill>
                  <a:schemeClr val="bg1"/>
                </a:solidFill>
                <a:latin typeface="Inter" pitchFamily="34" charset="0"/>
              </a:rPr>
              <a:t> 후보 추천 시스템</a:t>
            </a:r>
            <a:endParaRPr lang="en-US" altLang="ko-KR" sz="2000" dirty="0">
              <a:solidFill>
                <a:schemeClr val="bg1"/>
              </a:solidFill>
            </a:endParaRPr>
          </a:p>
        </p:txBody>
      </p:sp>
      <p:sp>
        <p:nvSpPr>
          <p:cNvPr id="55" name="Text 13">
            <a:extLst>
              <a:ext uri="{FF2B5EF4-FFF2-40B4-BE49-F238E27FC236}">
                <a16:creationId xmlns:a16="http://schemas.microsoft.com/office/drawing/2014/main" id="{07885B52-0637-22F6-E7BD-53B87692FEAF}"/>
              </a:ext>
            </a:extLst>
          </p:cNvPr>
          <p:cNvSpPr txBox="1"/>
          <p:nvPr/>
        </p:nvSpPr>
        <p:spPr>
          <a:xfrm>
            <a:off x="1333195" y="856793"/>
            <a:ext cx="1645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4700" b="1" kern="0" spc="-96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</a:rPr>
              <a:t>④ 부탁드릴 데이터</a:t>
            </a:r>
            <a:endParaRPr lang="en-US" sz="4700" dirty="0"/>
          </a:p>
        </p:txBody>
      </p:sp>
      <p:sp>
        <p:nvSpPr>
          <p:cNvPr id="57" name="Text 41">
            <a:extLst>
              <a:ext uri="{FF2B5EF4-FFF2-40B4-BE49-F238E27FC236}">
                <a16:creationId xmlns:a16="http://schemas.microsoft.com/office/drawing/2014/main" id="{ABF9C041-4324-12CF-40A9-D963D90E09C2}"/>
              </a:ext>
            </a:extLst>
          </p:cNvPr>
          <p:cNvSpPr txBox="1"/>
          <p:nvPr/>
        </p:nvSpPr>
        <p:spPr>
          <a:xfrm>
            <a:off x="22047199" y="13181234"/>
            <a:ext cx="2620569" cy="322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9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Lim Chaewon Portfolio</a:t>
            </a:r>
            <a:endParaRPr lang="en-US" sz="1700" dirty="0"/>
          </a:p>
        </p:txBody>
      </p:sp>
      <p:sp>
        <p:nvSpPr>
          <p:cNvPr id="2" name="Text 11">
            <a:extLst>
              <a:ext uri="{FF2B5EF4-FFF2-40B4-BE49-F238E27FC236}">
                <a16:creationId xmlns:a16="http://schemas.microsoft.com/office/drawing/2014/main" id="{B9320369-5863-693D-95A7-271981211969}"/>
              </a:ext>
            </a:extLst>
          </p:cNvPr>
          <p:cNvSpPr txBox="1"/>
          <p:nvPr/>
        </p:nvSpPr>
        <p:spPr>
          <a:xfrm>
            <a:off x="1518810" y="312725"/>
            <a:ext cx="1515161" cy="4389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39700" tIns="50800" rIns="139700" bIns="5080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90D4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Project 1</a:t>
            </a:r>
            <a:endParaRPr lang="en-US" sz="1700" dirty="0"/>
          </a:p>
        </p:txBody>
      </p:sp>
      <p:sp>
        <p:nvSpPr>
          <p:cNvPr id="58" name="TextBox 57"/>
          <p:cNvSpPr txBox="1"/>
          <p:nvPr/>
        </p:nvSpPr>
        <p:spPr>
          <a:xfrm>
            <a:off x="1333195" y="2697480"/>
            <a:ext cx="21718828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002C5F"/>
                </a:solidFill>
                <a:latin typeface="Noto Sans KR"/>
              </a:rPr>
              <a:t>없어도 추천은 나갑니다. 다만 '몇 개를 떼올지'는 이게 있어야 답할 수 있습니다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1333195" y="3977639"/>
            <a:ext cx="10539374" cy="6309360"/>
          </a:xfrm>
          <a:prstGeom prst="roundRect">
            <a:avLst>
              <a:gd name="adj" fmla="val 4500"/>
            </a:avLst>
          </a:prstGeom>
          <a:solidFill>
            <a:srgbClr val="F5F7FA"/>
          </a:solidFill>
          <a:ln w="12700">
            <a:solidFill>
              <a:srgbClr val="C9D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0" name="TextBox 59"/>
          <p:cNvSpPr txBox="1"/>
          <p:nvPr/>
        </p:nvSpPr>
        <p:spPr>
          <a:xfrm>
            <a:off x="2156155" y="4617720"/>
            <a:ext cx="8893454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sz="2500" b="1">
                <a:solidFill>
                  <a:srgbClr val="002C5F"/>
                </a:solidFill>
                <a:latin typeface="Noto Sans KR"/>
              </a:rPr>
              <a:t>① 에이블리 판매자센터</a:t>
            </a:r>
          </a:p>
          <a:p>
            <a:pPr>
              <a:lnSpc>
                <a:spcPct val="135000"/>
              </a:lnSpc>
              <a:spcBef>
                <a:spcPts val="800"/>
              </a:spcBef>
              <a:spcAft>
                <a:spcPts val="0"/>
              </a:spcAft>
            </a:pPr>
            <a:r>
              <a:rPr sz="1800" b="0">
                <a:solidFill>
                  <a:srgbClr val="6B7280"/>
                </a:solidFill>
                <a:latin typeface="Noto Sans KR"/>
              </a:rPr>
              <a:t>통계 메뉴에 엑셀 다운로드 버튼이 있는지부터 봐 주세요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156155" y="6080759"/>
            <a:ext cx="8893454" cy="15240"/>
          </a:xfrm>
          <a:prstGeom prst="rect">
            <a:avLst/>
          </a:prstGeom>
          <a:solidFill>
            <a:srgbClr val="C9D6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2156155" y="6492240"/>
            <a:ext cx="724753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1A1A1A"/>
                </a:solidFill>
                <a:latin typeface="Noto Sans KR"/>
              </a:rPr>
              <a:t>·  상품별 주간 판매수량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495129" y="6492240"/>
            <a:ext cx="1554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F6FB2"/>
                </a:solidFill>
                <a:latin typeface="Noto Sans KR"/>
              </a:rPr>
              <a:t>꼭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156155" y="7114031"/>
            <a:ext cx="724753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1A1A1A"/>
                </a:solidFill>
                <a:latin typeface="Noto Sans KR"/>
              </a:rPr>
              <a:t>·  상품별 조회수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495129" y="7114031"/>
            <a:ext cx="1554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F6FB2"/>
                </a:solidFill>
                <a:latin typeface="Noto Sans KR"/>
              </a:rPr>
              <a:t>꼭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156155" y="7735823"/>
            <a:ext cx="724753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1A1A1A"/>
                </a:solidFill>
                <a:latin typeface="Noto Sans KR"/>
              </a:rPr>
              <a:t>·  옵션명 (색상 · 사이즈)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495129" y="7735823"/>
            <a:ext cx="1554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F6FB2"/>
                </a:solidFill>
                <a:latin typeface="Noto Sans KR"/>
              </a:rPr>
              <a:t>꼭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156155" y="8357615"/>
            <a:ext cx="724753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1A1A1A"/>
                </a:solidFill>
                <a:latin typeface="Noto Sans KR"/>
              </a:rPr>
              <a:t>·  찜 수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495129" y="8357615"/>
            <a:ext cx="1554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6B7280"/>
                </a:solidFill>
                <a:latin typeface="Noto Sans KR"/>
              </a:rPr>
              <a:t>되면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156155" y="8979407"/>
            <a:ext cx="724753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1A1A1A"/>
                </a:solidFill>
                <a:latin typeface="Noto Sans KR"/>
              </a:rPr>
              <a:t>·  상품명 · 등록일 · 가격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495129" y="8979407"/>
            <a:ext cx="1554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6B7280"/>
                </a:solidFill>
                <a:latin typeface="Noto Sans KR"/>
              </a:rPr>
              <a:t>되면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156155" y="9601199"/>
            <a:ext cx="724753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1A1A1A"/>
                </a:solidFill>
                <a:latin typeface="Noto Sans KR"/>
              </a:rPr>
              <a:t>·  몇 개월치까지 보이는지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495129" y="9601199"/>
            <a:ext cx="1554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6B7280"/>
                </a:solidFill>
                <a:latin typeface="Noto Sans KR"/>
              </a:rPr>
              <a:t>확인만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12512649" y="3977639"/>
            <a:ext cx="10539374" cy="6309360"/>
          </a:xfrm>
          <a:prstGeom prst="roundRect">
            <a:avLst>
              <a:gd name="adj" fmla="val 4500"/>
            </a:avLst>
          </a:prstGeom>
          <a:solidFill>
            <a:srgbClr val="EA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5" name="TextBox 74"/>
          <p:cNvSpPr txBox="1"/>
          <p:nvPr/>
        </p:nvSpPr>
        <p:spPr>
          <a:xfrm>
            <a:off x="13335609" y="4617720"/>
            <a:ext cx="8893454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sz="2500" b="1">
                <a:solidFill>
                  <a:srgbClr val="002C5F"/>
                </a:solidFill>
                <a:latin typeface="Noto Sans KR"/>
              </a:rPr>
              <a:t>② 기억으로 알려주실 것</a:t>
            </a:r>
          </a:p>
          <a:p>
            <a:pPr>
              <a:lnSpc>
                <a:spcPct val="135000"/>
              </a:lnSpc>
              <a:spcBef>
                <a:spcPts val="800"/>
              </a:spcBef>
              <a:spcAft>
                <a:spcPts val="0"/>
              </a:spcAft>
            </a:pPr>
            <a:r>
              <a:rPr sz="1800" b="0">
                <a:solidFill>
                  <a:srgbClr val="6B7280"/>
                </a:solidFill>
                <a:latin typeface="Noto Sans KR"/>
              </a:rPr>
              <a:t>다운로드가 안 되더라도 이것만으로 검증이 됩니다</a:t>
            </a:r>
          </a:p>
        </p:txBody>
      </p:sp>
      <p:sp>
        <p:nvSpPr>
          <p:cNvPr id="76" name="Rectangle 75"/>
          <p:cNvSpPr/>
          <p:nvPr/>
        </p:nvSpPr>
        <p:spPr>
          <a:xfrm>
            <a:off x="13335609" y="6080759"/>
            <a:ext cx="8893454" cy="15240"/>
          </a:xfrm>
          <a:prstGeom prst="rect">
            <a:avLst/>
          </a:prstGeom>
          <a:solidFill>
            <a:srgbClr val="C9D6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13335609" y="6492240"/>
            <a:ext cx="8893454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02C5F"/>
                </a:solidFill>
                <a:latin typeface="Noto Sans KR"/>
              </a:rPr>
              <a:t>최근 1년 크게 터진 상품 5~10개</a:t>
            </a:r>
          </a:p>
          <a:p>
            <a:pPr>
              <a:lnSpc>
                <a:spcPct val="135000"/>
              </a:lnSpc>
              <a:spcBef>
                <a:spcPts val="700"/>
              </a:spcBef>
              <a:spcAft>
                <a:spcPts val="0"/>
              </a:spcAft>
            </a:pPr>
            <a:r>
              <a:rPr sz="1900" b="0">
                <a:solidFill>
                  <a:srgbClr val="6B7280"/>
                </a:solidFill>
                <a:latin typeface="Noto Sans KR"/>
              </a:rPr>
              <a:t>품목 · 색상 · 떼온 시점 · 왜 샀는지</a:t>
            </a:r>
          </a:p>
          <a:p>
            <a:pPr>
              <a:lnSpc>
                <a:spcPct val="135000"/>
              </a:lnSpc>
              <a:spcBef>
                <a:spcPts val="2200"/>
              </a:spcBef>
              <a:spcAft>
                <a:spcPts val="0"/>
              </a:spcAft>
            </a:pPr>
            <a:r>
              <a:rPr sz="2200" b="1">
                <a:solidFill>
                  <a:srgbClr val="002C5F"/>
                </a:solidFill>
                <a:latin typeface="Noto Sans KR"/>
              </a:rPr>
              <a:t>거의 안 팔린 상품 5~10개</a:t>
            </a:r>
          </a:p>
          <a:p>
            <a:pPr>
              <a:lnSpc>
                <a:spcPct val="135000"/>
              </a:lnSpc>
              <a:spcBef>
                <a:spcPts val="700"/>
              </a:spcBef>
              <a:spcAft>
                <a:spcPts val="0"/>
              </a:spcAft>
            </a:pPr>
            <a:r>
              <a:rPr sz="1900" b="0">
                <a:solidFill>
                  <a:srgbClr val="6B7280"/>
                </a:solidFill>
                <a:latin typeface="Noto Sans KR"/>
              </a:rPr>
              <a:t>품목 · 색상 · 떼온 시점 · 왜 안 됐다고 보시는지</a:t>
            </a:r>
          </a:p>
          <a:p>
            <a:pPr>
              <a:lnSpc>
                <a:spcPct val="140000"/>
              </a:lnSpc>
              <a:spcBef>
                <a:spcPts val="2600"/>
              </a:spcBef>
              <a:spcAft>
                <a:spcPts val="0"/>
              </a:spcAft>
            </a:pPr>
            <a:r>
              <a:rPr sz="1900" b="0">
                <a:solidFill>
                  <a:srgbClr val="1A1A1A"/>
                </a:solidFill>
                <a:latin typeface="Noto Sans KR"/>
              </a:rPr>
              <a:t>'그때 우리 시스템이 이걸 미리 잡았을까'를 맞춰 보는 유일한 답지입니다.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1333195" y="10927080"/>
            <a:ext cx="21718828" cy="1828800"/>
          </a:xfrm>
          <a:prstGeom prst="roundRect">
            <a:avLst>
              <a:gd name="adj" fmla="val 4500"/>
            </a:avLst>
          </a:prstGeom>
          <a:solidFill>
            <a:srgbClr val="FBF4E8"/>
          </a:solidFill>
          <a:ln w="12700">
            <a:solidFill>
              <a:srgbClr val="E8D4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9" name="TextBox 78"/>
          <p:cNvSpPr txBox="1"/>
          <p:nvPr/>
        </p:nvSpPr>
        <p:spPr>
          <a:xfrm>
            <a:off x="2156155" y="10927080"/>
            <a:ext cx="20072908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sz="2300" b="1">
                <a:solidFill>
                  <a:srgbClr val="8A5E10"/>
                </a:solidFill>
                <a:latin typeface="Noto Sans KR"/>
              </a:rPr>
              <a:t>색상은 꼭 따로 적어 주세요</a:t>
            </a:r>
          </a:p>
          <a:p>
            <a:pPr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</a:pPr>
            <a:r>
              <a:rPr sz="2000" b="0">
                <a:solidFill>
                  <a:srgbClr val="1A1A1A"/>
                </a:solidFill>
                <a:latin typeface="Noto Sans KR"/>
              </a:rPr>
              <a:t>상품명에 '(3color)'로만 적혀 있으면, 버건디가 떴는지 저희 쪽에서 확인할 방법이 없습니다. 색상은 트렌드의 절반입니다.</a:t>
            </a:r>
          </a:p>
        </p:txBody>
      </p:sp>
    </p:spTree>
    <p:extLst>
      <p:ext uri="{BB962C8B-B14F-4D97-AF65-F5344CB8AC3E}">
        <p14:creationId xmlns:p14="http://schemas.microsoft.com/office/powerpoint/2010/main" val="39089900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57EC0C-27F4-A338-8E8B-A9AA52CF95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hape 0">
            <a:extLst>
              <a:ext uri="{FF2B5EF4-FFF2-40B4-BE49-F238E27FC236}">
                <a16:creationId xmlns:a16="http://schemas.microsoft.com/office/drawing/2014/main" id="{678F2DEC-9A09-B4A5-2A13-C7AE8312CA7D}"/>
              </a:ext>
            </a:extLst>
          </p:cNvPr>
          <p:cNvSpPr/>
          <p:nvPr/>
        </p:nvSpPr>
        <p:spPr>
          <a:xfrm>
            <a:off x="0" y="0"/>
            <a:ext cx="24383390" cy="13716000"/>
          </a:xfrm>
          <a:prstGeom prst="rect">
            <a:avLst/>
          </a:prstGeom>
          <a:solidFill>
            <a:srgbClr val="33333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">
            <a:extLst>
              <a:ext uri="{FF2B5EF4-FFF2-40B4-BE49-F238E27FC236}">
                <a16:creationId xmlns:a16="http://schemas.microsoft.com/office/drawing/2014/main" id="{D88EC6E6-AFF4-EEA5-1EEE-0C6F1975DCDB}"/>
              </a:ext>
            </a:extLst>
          </p:cNvPr>
          <p:cNvSpPr/>
          <p:nvPr/>
        </p:nvSpPr>
        <p:spPr>
          <a:xfrm>
            <a:off x="0" y="0"/>
            <a:ext cx="24383390" cy="13716000"/>
          </a:xfrm>
          <a:prstGeom prst="rect">
            <a:avLst/>
          </a:prstGeom>
          <a:solidFill>
            <a:srgbClr val="002C5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2">
            <a:extLst>
              <a:ext uri="{FF2B5EF4-FFF2-40B4-BE49-F238E27FC236}">
                <a16:creationId xmlns:a16="http://schemas.microsoft.com/office/drawing/2014/main" id="{00B02CA3-F3B3-AA99-2BFC-388172B7340E}"/>
              </a:ext>
            </a:extLst>
          </p:cNvPr>
          <p:cNvSpPr/>
          <p:nvPr/>
        </p:nvSpPr>
        <p:spPr>
          <a:xfrm>
            <a:off x="17716500" y="-952805"/>
            <a:ext cx="7619695" cy="7619695"/>
          </a:xfrm>
          <a:prstGeom prst="ellipse">
            <a:avLst/>
          </a:prstGeom>
          <a:solidFill>
            <a:srgbClr val="90D4FF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3">
            <a:extLst>
              <a:ext uri="{FF2B5EF4-FFF2-40B4-BE49-F238E27FC236}">
                <a16:creationId xmlns:a16="http://schemas.microsoft.com/office/drawing/2014/main" id="{743B4B24-9439-AE49-00AA-3F0056B1A027}"/>
              </a:ext>
            </a:extLst>
          </p:cNvPr>
          <p:cNvSpPr/>
          <p:nvPr/>
        </p:nvSpPr>
        <p:spPr>
          <a:xfrm>
            <a:off x="-1904695" y="6096305"/>
            <a:ext cx="9525305" cy="9525305"/>
          </a:xfrm>
          <a:prstGeom prst="ellipse">
            <a:avLst/>
          </a:prstGeom>
          <a:solidFill>
            <a:srgbClr val="000000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8" name="Image 0" descr="preencoded.png">
            <a:extLst>
              <a:ext uri="{FF2B5EF4-FFF2-40B4-BE49-F238E27FC236}">
                <a16:creationId xmlns:a16="http://schemas.microsoft.com/office/drawing/2014/main" id="{790FC5ED-703F-DD77-447C-85A169940A8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-8" b="-8"/>
          <a:stretch/>
        </p:blipFill>
        <p:spPr>
          <a:xfrm>
            <a:off x="1333195" y="3640226"/>
            <a:ext cx="1904695" cy="114300"/>
          </a:xfrm>
          <a:prstGeom prst="rect">
            <a:avLst/>
          </a:prstGeom>
        </p:spPr>
      </p:pic>
      <p:sp>
        <p:nvSpPr>
          <p:cNvPr id="19" name="Text 4">
            <a:extLst>
              <a:ext uri="{FF2B5EF4-FFF2-40B4-BE49-F238E27FC236}">
                <a16:creationId xmlns:a16="http://schemas.microsoft.com/office/drawing/2014/main" id="{8180FA7B-0D19-DAC3-E481-A9932CD28A44}"/>
              </a:ext>
            </a:extLst>
          </p:cNvPr>
          <p:cNvSpPr txBox="1"/>
          <p:nvPr/>
        </p:nvSpPr>
        <p:spPr>
          <a:xfrm>
            <a:off x="1333195" y="4326026"/>
            <a:ext cx="22022410" cy="1467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0" b="1" kern="0" spc="-210" dirty="0" err="1">
                <a:solidFill>
                  <a:srgbClr val="90D4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임채원</a:t>
            </a:r>
            <a:endParaRPr lang="en-US" sz="6600" dirty="0"/>
          </a:p>
        </p:txBody>
      </p:sp>
      <p:sp>
        <p:nvSpPr>
          <p:cNvPr id="20" name="Text 5">
            <a:extLst>
              <a:ext uri="{FF2B5EF4-FFF2-40B4-BE49-F238E27FC236}">
                <a16:creationId xmlns:a16="http://schemas.microsoft.com/office/drawing/2014/main" id="{5D512820-AF0B-CA0D-64D2-506792FB9D74}"/>
              </a:ext>
            </a:extLst>
          </p:cNvPr>
          <p:cNvSpPr txBox="1"/>
          <p:nvPr/>
        </p:nvSpPr>
        <p:spPr>
          <a:xfrm>
            <a:off x="7468773" y="8160977"/>
            <a:ext cx="1240128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4400" b="1" kern="0" spc="120" dirty="0">
                <a:solidFill>
                  <a:srgbClr val="AACA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귀중한 시간을 내어 </a:t>
            </a:r>
            <a:r>
              <a:rPr lang="ko-KR" altLang="en-US" sz="4400" b="1" kern="0" spc="120" dirty="0" err="1">
                <a:solidFill>
                  <a:srgbClr val="AACA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읽어주심에</a:t>
            </a:r>
            <a:r>
              <a:rPr lang="ko-KR" altLang="en-US" sz="4400" b="1" kern="0" spc="120" dirty="0">
                <a:solidFill>
                  <a:srgbClr val="AACA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감사드립니다</a:t>
            </a:r>
            <a:endParaRPr lang="en-US" sz="4400" dirty="0"/>
          </a:p>
        </p:txBody>
      </p:sp>
      <p:sp>
        <p:nvSpPr>
          <p:cNvPr id="25" name="Text 10">
            <a:extLst>
              <a:ext uri="{FF2B5EF4-FFF2-40B4-BE49-F238E27FC236}">
                <a16:creationId xmlns:a16="http://schemas.microsoft.com/office/drawing/2014/main" id="{0557969C-D9C5-55A5-EA0A-D54F9A399C10}"/>
              </a:ext>
            </a:extLst>
          </p:cNvPr>
          <p:cNvSpPr txBox="1"/>
          <p:nvPr/>
        </p:nvSpPr>
        <p:spPr>
          <a:xfrm>
            <a:off x="1333195" y="6174029"/>
            <a:ext cx="8696176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300" dirty="0" err="1">
                <a:solidFill>
                  <a:srgbClr val="FFFFFF">
                    <a:alpha val="9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연구·프로젝트</a:t>
            </a:r>
            <a:r>
              <a:rPr lang="en-US" sz="5300" dirty="0">
                <a:solidFill>
                  <a:srgbClr val="FFFFFF">
                    <a:alpha val="9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5300" dirty="0" err="1">
                <a:solidFill>
                  <a:srgbClr val="FFFFFF">
                    <a:alpha val="9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포트폴리오</a:t>
            </a:r>
            <a:endParaRPr lang="en-US" sz="5300" dirty="0"/>
          </a:p>
        </p:txBody>
      </p:sp>
    </p:spTree>
    <p:extLst>
      <p:ext uri="{BB962C8B-B14F-4D97-AF65-F5344CB8AC3E}">
        <p14:creationId xmlns:p14="http://schemas.microsoft.com/office/powerpoint/2010/main" val="39189225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1390</TotalTime>
  <Words>1100</Words>
  <Application>Microsoft Office PowerPoint</Application>
  <PresentationFormat>사용자 지정</PresentationFormat>
  <Paragraphs>200</Paragraphs>
  <Slides>10</Slides>
  <Notes>10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6" baseType="lpstr">
      <vt:lpstr>Inter</vt:lpstr>
      <vt:lpstr>Noto Sans KR</vt:lpstr>
      <vt:lpstr>Pretendard</vt:lpstr>
      <vt:lpstr>Arial</vt:lpstr>
      <vt:lpstr>Pridi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Chae Won Lim</cp:lastModifiedBy>
  <cp:revision>817</cp:revision>
  <dcterms:created xsi:type="dcterms:W3CDTF">2026-03-20T12:52:30Z</dcterms:created>
  <dcterms:modified xsi:type="dcterms:W3CDTF">2026-10-23T05:48:08Z</dcterms:modified>
</cp:coreProperties>
</file>